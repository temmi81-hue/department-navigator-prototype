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8104b88254363" /><Relationship Type="http://schemas.openxmlformats.org/officeDocument/2006/relationships/extended-properties" Target="/docProps/app.xml" Id="R61cfe16ec3cf4a59" /><Relationship Type="http://schemas.openxmlformats.org/officeDocument/2006/relationships/officeDocument" Target="/ppt/presentation.xml" Id="R75570ae1445747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408dba57994930"/>
  </p:sldMasterIdLst>
  <p:notesMasterIdLst>
    <p:notesMasterId xmlns:r="http://schemas.openxmlformats.org/officeDocument/2006/relationships" r:id="R2e2c9d9f63fd4894"/>
  </p:notesMasterIdLst>
  <p:sldIdLst>
    <p:sldId xmlns:r="http://schemas.openxmlformats.org/officeDocument/2006/relationships" id="256" r:id="R5502597c82de4b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95c2279f734d17" /><Relationship Type="http://schemas.openxmlformats.org/officeDocument/2006/relationships/slideMaster" Target="/ppt/slideMasters/slideMaster1.xml" Id="Rb4408dba57994930" /><Relationship Type="http://schemas.openxmlformats.org/officeDocument/2006/relationships/notesMaster" Target="/ppt/notesMasters/notesMaster1.xml" Id="R2e2c9d9f63fd4894" /><Relationship Type="http://schemas.openxmlformats.org/officeDocument/2006/relationships/presProps" Target="/ppt/presProps.xml" Id="R00ff481d8a024aa7" /><Relationship Type="http://schemas.openxmlformats.org/officeDocument/2006/relationships/tableStyles" Target="/ppt/tableStyles.xml" Id="Ra35a9acc87a548d8" /><Relationship Type="http://schemas.openxmlformats.org/officeDocument/2006/relationships/slide" Target="/ppt/slides/slide1.xml" Id="R5502597c82de4b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af33ed7f0142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cff163f6b143c1" /><Relationship Type="http://schemas.openxmlformats.org/officeDocument/2006/relationships/notesMaster" Target="/ppt/notesMasters/notesMaster1.xml" Id="R981dc32ed3b146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검토배경 문구와 화면 레퍼런스를 바탕으로 구성한 슬라이드입니다.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ebd0e724542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9dd0fd929444c7" /><Relationship Type="http://schemas.openxmlformats.org/officeDocument/2006/relationships/slideLayout" Target="/ppt/slideLayouts/slideLayout1.xml" Id="Rff000ea955644a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000ea955644a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c29c54be14530" /><Relationship Type="http://schemas.openxmlformats.org/officeDocument/2006/relationships/notesSlide" Target="/ppt/notesSlides/notesSlide1.xml" Id="Rb4093ad41f8846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BAE976-33E1-43E6-8CB4-9943BB13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CE811-4F70-48D9-8D36-14532647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rPr>
              <a:t>검토 배경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E64A1-A54E-45B8-8A2D-D35BAF2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누구나 필요한 업무 절차를 쉽게 이해하고, 일관되게 이행할 수 있도록 지원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C76E1-6FCA-4D2F-983A-6C7B148D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B97A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B97A8"/>
                </a:solidFill>
                <a:latin typeface="Malgun Gothic"/>
                <a:ea typeface="Malgun Gothic"/>
                <a:cs typeface="Malgun Gothic"/>
              </a:rPr>
              <a:t>01 프로젝트 배경 · 3 /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0E78A-4849-472C-A1A9-B150AD0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1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9E0DF-E2D6-4CE2-BD0B-71839714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59398-70B0-4FC4-945B-119C0191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287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85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A8C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A8C8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8ECC1-5530-4C59-9AB4-ACFD97A2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478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rPr>
              <a:t>정해진 업무 프로세스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A3278-FBDF-4E47-A30F-030EB155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288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rPr>
              <a:t>필수 절차 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5A247-A4F3-40AF-85CA-BEB68A27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지침과 기준에 따라 업무를 처리해</a:t>
            </a:r>
          </a:p>
          <a:p xmlns:a="http://schemas.openxmlformats.org/drawingml/2006/main">
            <a:pPr>
              <a:defRPr sz="97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누락 없이 결과물을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2A2A7-C8F7-448F-B502-A4810F1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9E1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AA55B-22E5-4B5D-A4B4-93A13DD9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00B34-D35A-4471-84D0-314108CB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525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05252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FC93B-01F7-42D8-B439-CA9BEE2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67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rPr>
              <a:t>현황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C07F5-F031-46F1-89FF-B8463E6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rPr>
              <a:t>탐색 시간과 편차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B0772-BE64-4D4C-94C1-CB63B3F3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필요한 지침과 절차를 찾는 데 시간이 걸리고</a:t>
            </a:r>
          </a:p>
          <a:p xmlns:a="http://schemas.openxmlformats.org/drawingml/2006/main">
            <a:pPr>
              <a:defRPr sz="97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담당자마다 접근 방식이 상이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3DB17-9A94-4D11-BF95-B49C74E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34766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1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947BA-3C0C-4113-8F5E-97F6C7A6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8F67A-843B-45E6-A403-84C2778B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478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3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FD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E7FD4"/>
                </a:solidFill>
                <a:latin typeface="Malgun Gothic"/>
                <a:ea typeface="Malgun Gothic"/>
                <a:cs typeface="Malgun Gothic"/>
              </a:rPr>
              <a:t>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254AF-34AE-46E0-A21D-27BD5C89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049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rPr>
              <a:t>업무 수행 과정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3B4A0-85ED-411C-A4C3-F87B7C3E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rPr>
              <a:t>지침과 절차를 찾는 과정이</a:t>
            </a:r>
          </a:p>
          <a:p xmlns:a="http://schemas.openxmlformats.org/drawingml/2006/main">
            <a:pPr>
              <a:defRPr sz="1650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rPr>
              <a:t>업무 시작의 부담이 됩니다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357FF-493E-4C57-8E6A-9A085259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0375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4EA13-9697-4DC2-A8B3-1A655339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8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담당자가 바뀌어도 같은 기준으로</a:t>
            </a:r>
          </a:p>
          <a:p xmlns:a="http://schemas.openxmlformats.org/drawingml/2006/main">
            <a:pPr>
              <a:defRPr sz="112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업무를 판단하고 실행할 수 있어야 합니다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ECFF0-557C-487C-9C9A-FB48944E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86200"/>
            <a:ext cx="13811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F2B7A-DEF4-4CD1-80F7-24E49125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8620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267B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267B2"/>
                </a:solidFill>
                <a:latin typeface="Malgun Gothic"/>
                <a:ea typeface="Malgun Gothic"/>
                <a:cs typeface="Malgun Gothic"/>
              </a:rPr>
              <a:t>업무 표준화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E5C69-8BFB-4A43-AF09-991C2131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86200"/>
            <a:ext cx="128587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7AAECD-67FB-43ED-85CA-D25FD65A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862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9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896E"/>
                </a:solidFill>
                <a:latin typeface="Malgun Gothic"/>
                <a:ea typeface="Malgun Gothic"/>
                <a:cs typeface="Malgun Gothic"/>
              </a:rPr>
              <a:t>절차 준수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54C94-4AB3-4C8F-AB86-0777D4E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395287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2F7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C5AD9F-99E7-42CC-BC54-63FF29FA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859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2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E1A45B-E904-4252-9EA8-B6D92B3F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988A9D-2C59-4444-A6A4-FAE947CE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수행하려는 업무를 입력하면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지침과 처리 절차를 쉽게 안내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CA93BD-A2A9-42E3-A7E5-646DA66A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3333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83F83"/>
          </a:solidFill>
          <a:ln xmlns:a="http://schemas.openxmlformats.org/drawingml/2006/main" w="9525">
            <a:solidFill>
              <a:srgbClr val="40629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2DDADF-CF8B-4C0E-966A-21A2AD74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업무 지침 네비게이터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EE7C52-6689-4F9B-839F-94840B00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2914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25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6E5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6E5FF"/>
                </a:solidFill>
                <a:latin typeface="Malgun Gothic"/>
                <a:ea typeface="Malgun Gothic"/>
                <a:cs typeface="Malgun Gothic"/>
              </a:rPr>
              <a:t>업무 상황 기반 지침 · 절차 · 협의 부서 안내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5F0E40-E341-4D38-A8BE-1328F97D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8D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3E6033-4530-4921-B3FE-EDD121A4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6E5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6E5FF"/>
                </a:solidFill>
                <a:latin typeface="Malgun Gothic"/>
                <a:ea typeface="Malgun Gothic"/>
                <a:cs typeface="Malgun Gothic"/>
              </a:rPr>
              <a:t>입력한 업무 상황에 맞춰 필요한 절차와</a:t>
            </a:r>
          </a:p>
          <a:p xmlns:a="http://schemas.openxmlformats.org/drawingml/2006/main">
            <a:pPr>
              <a:defRPr sz="975" b="0">
                <a:solidFill>
                  <a:srgbClr val="D6E5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6E5FF"/>
                </a:solidFill>
                <a:latin typeface="Malgun Gothic"/>
                <a:ea typeface="Malgun Gothic"/>
                <a:cs typeface="Malgun Gothic"/>
              </a:rPr>
              <a:t>다음 행동을 안내하는 현업 지원 도구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E2B580-1664-4572-B8BC-3736CFD0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7ED3D9-B971-4592-88EB-89E86294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9BE3CE-4389-4831-B08C-D26D038A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FD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E7FD4"/>
                </a:solidFill>
                <a:latin typeface="Malgun Gothic"/>
                <a:ea typeface="Malgun Gothic"/>
                <a:cs typeface="Malgun Gothic"/>
              </a:rPr>
              <a:t>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721CDD-4DF6-4748-BE47-2B4EC2FA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8632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5AC819-0832-45F6-8CE7-6D1D6117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1492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현업 절차 탐색의 어려움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8EEE2D-A3D0-49B3-8049-0390F2A9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E450E3-13CD-4472-BBBA-DCF843F4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244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FABA67-9B69-4BA5-B952-7C74B270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14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45D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7045D4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82008F-9196-4A60-A5FB-A77E300B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8632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EB81CC-7A1F-43FA-9815-6EA1C2E4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1492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지침과 절차의 쉬운 안내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EEEE6D-899C-4FAD-BD1D-AF3E9C5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F3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40F587-1DB2-42D9-90EB-522DAFA5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244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5CCF3D-E00F-449D-BDD6-05A7D777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A8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8A87A"/>
                </a:solidFill>
                <a:latin typeface="Malgun Gothic"/>
                <a:ea typeface="Malgun Gothic"/>
                <a:cs typeface="Malgun Gothic"/>
              </a:rPr>
              <a:t>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F8D713-271F-4BD9-9A69-D4388FF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8632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rPr>
              <a:t>서비스 설계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A65904-623D-4DEF-92AC-1990735C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1492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업무 지침 네비게이터 구축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157413-235B-4AE8-985F-FC861E37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3BE1CA-4C6B-4EA0-A363-9369599A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244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901267-F653-4563-BF0F-09048CDB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14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782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0782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76AEE2-BBF8-439C-A459-2026D4FC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86325"/>
            <a:ext cx="228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4213A"/>
                </a:solidFill>
                <a:latin typeface="Malgun Gothic"/>
                <a:ea typeface="Malgun Gothic"/>
                <a:cs typeface="Malgun Gothic"/>
              </a:rPr>
              <a:t>파일럿 검증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1D831D-E907-433C-9B8B-60466FFA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14925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단일 업무 시나리오 시연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286632-0B95-44F4-8199-E4543F37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03F109-2CA0-4267-8B6D-F84CB578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DA3B40-2C40-489F-B9DD-F553778C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B2A68"/>
                </a:solidFill>
                <a:latin typeface="Malgun Gothic"/>
                <a:ea typeface="Malgun Gothic"/>
                <a:cs typeface="Malgun Gothic"/>
              </a:rPr>
              <a:t>검토 배경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4B2857-7B36-4D67-9BB8-C6601403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B8E"/>
                </a:solidFill>
                <a:latin typeface="Malgun Gothic"/>
                <a:ea typeface="Malgun Gothic"/>
                <a:cs typeface="Malgun Gothic"/>
              </a:rPr>
              <a:t>누구나 필요한 업무 절차를 쉽게 이해하고, 일관되게 이행할 수 있도록 지원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C08BEB-F222-4A5C-BC0B-5D2C9634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B97A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B97A8"/>
                </a:solidFill>
                <a:latin typeface="Malgun Gothic"/>
                <a:ea typeface="Malgun Gothic"/>
                <a:cs typeface="Malgun Gothic"/>
              </a:rPr>
              <a:t>01 프로젝트 배경 · 3 / 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C19174-8B25-4965-87C3-B5ADE53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476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7A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B97A8"/>
                </a:solidFill>
                <a:latin typeface="Malgun Gothic"/>
                <a:ea typeface="Malgun Gothic"/>
                <a:cs typeface="Malgun Gothic"/>
              </a:rPr>
              <a:t>※ 현황 수치는 실제 운영 데이터 확보 후 보완</a:t>
            </a:r>
          </a:p>
        </p:txBody>
      </p:sp>
    </p:spTree>
    <p:extLst>
      <p:ext uri="{BB962C8B-B14F-4D97-AF65-F5344CB8AC3E}">
        <p14:creationId xmlns:p14="http://schemas.microsoft.com/office/powerpoint/2010/main" val="1565805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2026-09-08T07:30:10.4650000Z</dcterms:created>
  <dcterms:modified xsi:type="dcterms:W3CDTF">2026-09-08T07:30:10.4650000Z</dcterms:modified>
</coreProperties>
</file>