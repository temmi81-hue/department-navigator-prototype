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0" r:id="rId1"/>
  </p:sldMasterIdLst>
  <p:notesMasterIdLst>
    <p:notesMasterId r:id="rId5"/>
  </p:notesMasterIdLst>
  <p:sldIdLst>
    <p:sldId id="263" r:id="rId2"/>
    <p:sldId id="265" r:id="rId3"/>
    <p:sldId id="267" r:id="rId4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56A20"/>
    <a:srgbClr val="238B72"/>
    <a:srgbClr val="0F64C0"/>
    <a:srgbClr val="0000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138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0260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028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5447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1439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2026-09-06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3743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2026-09-06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11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2026-09-06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973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5122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0552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3808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0116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C0F0B2-DC44-4D7F-B9BC-23EB46679998}" type="datetimeFigureOut">
              <a:rPr lang="ko-KR" altLang="en-US" smtClean="0"/>
              <a:t>2026-09-06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Picture 1" descr="PPT-A3.jpg">
            <a:extLst>
              <a:ext uri="{FF2B5EF4-FFF2-40B4-BE49-F238E27FC236}">
                <a16:creationId xmlns:a16="http://schemas.microsoft.com/office/drawing/2014/main" id="{DE8B8C1A-8256-4308-B61E-14996DBA52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88495"/>
          <a:stretch/>
        </p:blipFill>
        <p:spPr>
          <a:xfrm>
            <a:off x="0" y="0"/>
            <a:ext cx="9906000" cy="618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320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hyperlink" Target="&#50937;&#49436;&#48708;&#49828;%20&#44396;&#54788;%20&#46041;&#50689;&#49345;.mp4" TargetMode="External"/><Relationship Id="rId4" Type="http://schemas.openxmlformats.org/officeDocument/2006/relationships/image" Target="../media/image1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70BA70C2-B07D-4FB2-8044-D17828F175C1}"/>
              </a:ext>
            </a:extLst>
          </p:cNvPr>
          <p:cNvSpPr>
            <a:spLocks noGrp="1"/>
          </p:cNvSpPr>
          <p:nvPr/>
        </p:nvSpPr>
        <p:spPr>
          <a:xfrm>
            <a:off x="7283733" y="3037577"/>
            <a:ext cx="2386148" cy="478467"/>
          </a:xfrm>
          <a:prstGeom prst="roundRect">
            <a:avLst>
              <a:gd name="adj" fmla="val 19218"/>
            </a:avLst>
          </a:prstGeom>
          <a:solidFill>
            <a:schemeClr val="bg1">
              <a:lumMod val="95000"/>
            </a:schemeClr>
          </a:solidFill>
          <a:ln w="9525">
            <a:solidFill>
              <a:srgbClr val="E4DAF0"/>
            </a:solidFill>
            <a:prstDash val="solid"/>
          </a:ln>
        </p:spPr>
        <p:txBody>
          <a:bodyPr anchor="ctr" anchorCtr="0"/>
          <a:lstStyle/>
          <a:p>
            <a:pPr algn="ctr"/>
            <a:r>
              <a:rPr lang="ko-KR" altLang="en-US" sz="1400" b="1"/>
              <a:t>           내용 확인</a:t>
            </a:r>
            <a:r>
              <a:rPr lang="en-US" altLang="ko-KR" sz="1400" b="1"/>
              <a:t>, </a:t>
            </a:r>
            <a:r>
              <a:rPr lang="ko-KR" altLang="en-US" sz="1400" b="1"/>
              <a:t>업무 처리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65F164-0C45-4D87-8583-266FB8891880}"/>
              </a:ext>
            </a:extLst>
          </p:cNvPr>
          <p:cNvSpPr txBox="1"/>
          <p:nvPr/>
        </p:nvSpPr>
        <p:spPr>
          <a:xfrm>
            <a:off x="181848" y="118834"/>
            <a:ext cx="8281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입력만으로 필요 절차와 지침을 한 번에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『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업무 지침 네비게이터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』</a:t>
            </a:r>
            <a:endParaRPr kumimoji="0" lang="ko-KR" altLang="en-US" sz="20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2B0CE51-5E0D-4D3B-A979-2D472BDF38F1}"/>
              </a:ext>
            </a:extLst>
          </p:cNvPr>
          <p:cNvSpPr/>
          <p:nvPr/>
        </p:nvSpPr>
        <p:spPr>
          <a:xfrm>
            <a:off x="8828644" y="141814"/>
            <a:ext cx="1031052" cy="46935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1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’26.9.16.</a:t>
            </a:r>
          </a:p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1" kern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포스코퓨처엠</a:t>
            </a:r>
            <a:endParaRPr kumimoji="1" lang="en-US" altLang="ko-KR" sz="11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8989D12-EF7E-4B26-A8A4-47703D404C10}"/>
              </a:ext>
            </a:extLst>
          </p:cNvPr>
          <p:cNvSpPr/>
          <p:nvPr/>
        </p:nvSpPr>
        <p:spPr>
          <a:xfrm>
            <a:off x="556286" y="709192"/>
            <a:ext cx="7886103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검토 배경</a:t>
            </a:r>
            <a:endParaRPr kumimoji="0" lang="en-US" altLang="ko-KR" sz="1400" b="0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  <a:sym typeface="Wingdings" pitchFamily="2" charset="2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26A7927B-1FC5-4002-88D0-9247A5AECD7B}"/>
              </a:ext>
            </a:extLst>
          </p:cNvPr>
          <p:cNvGrpSpPr/>
          <p:nvPr/>
        </p:nvGrpSpPr>
        <p:grpSpPr>
          <a:xfrm>
            <a:off x="310399" y="819181"/>
            <a:ext cx="194324" cy="180020"/>
            <a:chOff x="416496" y="3577457"/>
            <a:chExt cx="194324" cy="180020"/>
          </a:xfrm>
        </p:grpSpPr>
        <p:sp>
          <p:nvSpPr>
            <p:cNvPr id="9" name="모서리가 둥근 직사각형 320">
              <a:extLst>
                <a:ext uri="{FF2B5EF4-FFF2-40B4-BE49-F238E27FC236}">
                  <a16:creationId xmlns:a16="http://schemas.microsoft.com/office/drawing/2014/main" id="{64991931-304B-4A79-8ABF-F87172C315CC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10" name="그림 9" descr="7.png">
              <a:extLst>
                <a:ext uri="{FF2B5EF4-FFF2-40B4-BE49-F238E27FC236}">
                  <a16:creationId xmlns:a16="http://schemas.microsoft.com/office/drawing/2014/main" id="{0EFF1F02-3E3B-4082-8B1A-A822DE53A21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EBEE609-C434-4349-8901-D531366F8FD3}"/>
              </a:ext>
            </a:extLst>
          </p:cNvPr>
          <p:cNvSpPr/>
          <p:nvPr/>
        </p:nvSpPr>
        <p:spPr>
          <a:xfrm>
            <a:off x="398363" y="1051801"/>
            <a:ext cx="9507637" cy="1153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-4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○ 누구나 필요한 </a:t>
            </a:r>
            <a:r>
              <a:rPr kumimoji="0" lang="ko-KR" altLang="en-US" sz="1300" b="0" i="0" u="none" strike="noStrike" kern="1200" cap="none" spc="-4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rPr>
              <a:t>업무 프로세스를 쉽게 이해하고</a:t>
            </a:r>
            <a:r>
              <a:rPr kumimoji="0" lang="en-US" altLang="ko-KR" sz="1300" b="0" i="0" u="none" strike="noStrike" kern="1200" cap="none" spc="-4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rPr>
              <a:t>, </a:t>
            </a:r>
            <a:r>
              <a:rPr lang="ko-KR" altLang="en-US" sz="1300" spc="-4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안정적으로 이행할 수 있도록</a:t>
            </a:r>
            <a:r>
              <a:rPr kumimoji="0" lang="ko-KR" altLang="en-US" sz="1300" b="0" i="0" u="none" strike="noStrike" kern="1200" cap="none" spc="-4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rPr>
              <a:t> </a:t>
            </a:r>
            <a:r>
              <a:rPr lang="ko-KR" altLang="en-US" sz="1300" spc="-4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지원 필요</a:t>
            </a:r>
            <a:endParaRPr kumimoji="0" lang="en-US" altLang="ko-KR" sz="1300" b="0" i="0" u="none" strike="noStrike" kern="1200" cap="none" spc="-4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  <a:sym typeface="Wingdings" pitchFamily="2" charset="2"/>
            </a:endParaRPr>
          </a:p>
          <a:p>
            <a:pPr marL="0" marR="0" lvl="0" indent="0" algn="l" defTabSz="914400" rtl="0" eaLnBrk="1" fontAlgn="auto" latinLnBrk="1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1" i="0" u="none" strike="noStrike" kern="1200" cap="none" spc="-4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   </a:t>
            </a:r>
            <a:r>
              <a:rPr lang="en-US" altLang="ko-KR" sz="1300" spc="-4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(</a:t>
            </a:r>
            <a:r>
              <a:rPr lang="ko-KR" altLang="en-US" sz="1300" spc="-4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회사 업무</a:t>
            </a:r>
            <a:r>
              <a:rPr lang="en-US" altLang="ko-KR" sz="1300" spc="-4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) </a:t>
            </a:r>
            <a:r>
              <a:rPr lang="ko-KR" altLang="en-US" sz="1300"/>
              <a:t>정해진 프로세스와 지침에 따라 업무를 처리하고</a:t>
            </a:r>
            <a:r>
              <a:rPr lang="en-US" altLang="ko-KR" sz="1300"/>
              <a:t>,  </a:t>
            </a:r>
            <a:r>
              <a:rPr lang="ko-KR" altLang="en-US" sz="1300"/>
              <a:t>담당자가 바뀌어도 필수 절차를 준수해</a:t>
            </a:r>
            <a:r>
              <a:rPr lang="en-US" altLang="ko-KR" sz="1300"/>
              <a:t>, </a:t>
            </a:r>
            <a:r>
              <a:rPr lang="ko-KR" altLang="en-US" sz="1300"/>
              <a:t>일관된 결과물 확보 要</a:t>
            </a:r>
            <a:endParaRPr lang="en-US" altLang="ko-KR" sz="1300" spc="-40">
              <a:solidFill>
                <a:prstClr val="black"/>
              </a:solidFill>
              <a:latin typeface="맑은 고딕"/>
              <a:ea typeface="맑은 고딕" panose="020B0503020000020004" pitchFamily="50" charset="-127"/>
              <a:sym typeface="Wingdings" pitchFamily="2" charset="2"/>
            </a:endParaRPr>
          </a:p>
          <a:p>
            <a:pPr marL="0" marR="0" lvl="0" indent="0" algn="l" defTabSz="914400" rtl="0" eaLnBrk="1" fontAlgn="auto" latinLnBrk="1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0" i="0" u="none" strike="noStrike" kern="1200" cap="none" spc="-4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   </a:t>
            </a:r>
            <a:r>
              <a:rPr lang="en-US" altLang="ko-KR" sz="1300" spc="-4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(</a:t>
            </a:r>
            <a:r>
              <a:rPr lang="ko-KR" altLang="en-US" sz="1300" spc="-4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현황</a:t>
            </a:r>
            <a:r>
              <a:rPr lang="en-US" altLang="ko-KR" sz="1300" spc="-4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) </a:t>
            </a:r>
            <a:r>
              <a:rPr lang="ko-KR" altLang="en-US" sz="1300" spc="-4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필요한 절차와 지침을 찾는 데 오랜 시간 소요</a:t>
            </a:r>
            <a:r>
              <a:rPr lang="en-US" altLang="ko-KR" sz="1300" spc="-4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, </a:t>
            </a:r>
            <a:r>
              <a:rPr lang="ko-KR" altLang="en-US" sz="1300" spc="-4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담당자마다 접근 방식 상이 </a:t>
            </a:r>
            <a:endParaRPr lang="en-US" altLang="ko-KR" sz="1300" spc="-40">
              <a:solidFill>
                <a:prstClr val="black"/>
              </a:solidFill>
              <a:latin typeface="맑은 고딕"/>
              <a:ea typeface="맑은 고딕" panose="020B0503020000020004" pitchFamily="50" charset="-127"/>
              <a:sym typeface="Wingdings" pitchFamily="2" charset="2"/>
            </a:endParaRPr>
          </a:p>
          <a:p>
            <a:pPr marL="0" marR="0" lvl="0" indent="0" algn="l" defTabSz="914400" rtl="0" eaLnBrk="1" fontAlgn="auto" latinLnBrk="1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300" spc="-4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   (</a:t>
            </a:r>
            <a:r>
              <a:rPr lang="ko-KR" altLang="en-US" sz="1300" spc="-4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개선방안</a:t>
            </a:r>
            <a:r>
              <a:rPr lang="en-US" altLang="ko-KR" sz="1300" spc="-4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)</a:t>
            </a:r>
            <a:r>
              <a:rPr lang="ko-KR" altLang="en-US" sz="1300" spc="-4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 수행하려는 업무를 </a:t>
            </a:r>
            <a:r>
              <a:rPr lang="ko-KR" altLang="en-US" sz="1300"/>
              <a:t>입력하면 관련 </a:t>
            </a:r>
            <a:r>
              <a:rPr lang="ko-KR" altLang="en-US" sz="1300" b="1"/>
              <a:t>지침과 처리 절차를 쉽게 안내하는 </a:t>
            </a:r>
            <a:r>
              <a:rPr lang="en-US" altLang="ko-KR" sz="1300" b="1"/>
              <a:t>『</a:t>
            </a:r>
            <a:r>
              <a:rPr lang="ko-KR" altLang="en-US" sz="1300" b="1"/>
              <a:t>업무 지침 네비게이터</a:t>
            </a:r>
            <a:r>
              <a:rPr lang="en-US" altLang="ko-KR" sz="1300" b="1"/>
              <a:t>』 </a:t>
            </a:r>
            <a:r>
              <a:rPr lang="ko-KR" altLang="en-US" sz="1300" b="1"/>
              <a:t>구축</a:t>
            </a:r>
            <a:r>
              <a:rPr lang="ko-KR" altLang="en-US" sz="1300" b="1" spc="-4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 </a:t>
            </a:r>
            <a:endParaRPr lang="en-US" altLang="ko-KR" sz="1300" b="1" spc="-40">
              <a:solidFill>
                <a:prstClr val="black"/>
              </a:solidFill>
              <a:latin typeface="맑은 고딕"/>
              <a:ea typeface="맑은 고딕" panose="020B0503020000020004" pitchFamily="50" charset="-127"/>
              <a:sym typeface="Wingdings" pitchFamily="2" charset="2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656DA0D-7D8A-4307-854A-0B0967B6A766}"/>
              </a:ext>
            </a:extLst>
          </p:cNvPr>
          <p:cNvSpPr/>
          <p:nvPr/>
        </p:nvSpPr>
        <p:spPr>
          <a:xfrm>
            <a:off x="556286" y="2280294"/>
            <a:ext cx="9218275" cy="4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  <a:sym typeface="Wingdings" pitchFamily="2" charset="2"/>
              </a:rPr>
              <a:t>추진 방향</a:t>
            </a:r>
            <a:r>
              <a:rPr kumimoji="0" lang="en-US" altLang="ko-KR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  <a:sym typeface="Wingdings" pitchFamily="2" charset="2"/>
              </a:rPr>
              <a:t>: </a:t>
            </a:r>
            <a:r>
              <a:rPr lang="ko-KR" altLang="en-US" sz="1400">
                <a:latin typeface="+mn-ea"/>
              </a:rPr>
              <a:t>담당자의 경험과 개별 탐색 방식에서 </a:t>
            </a:r>
            <a:r>
              <a:rPr lang="ko-KR" altLang="en-US" sz="1400" b="1">
                <a:solidFill>
                  <a:srgbClr val="0000FF"/>
                </a:solidFill>
                <a:latin typeface="+mn-ea"/>
              </a:rPr>
              <a:t>업무별 처리 절차와 지침을 한 번에 안내하는 방식으로 전환</a:t>
            </a:r>
            <a:endParaRPr kumimoji="0" lang="en-US" altLang="ko-KR" sz="1400" b="1" i="0" u="none" strike="noStrike" kern="1200" cap="none" spc="-2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ea"/>
              <a:cs typeface="+mn-cs"/>
              <a:sym typeface="Wingdings" pitchFamily="2" charset="2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1A108875-0952-48E3-AB80-BF0F0F01D762}"/>
              </a:ext>
            </a:extLst>
          </p:cNvPr>
          <p:cNvGrpSpPr/>
          <p:nvPr/>
        </p:nvGrpSpPr>
        <p:grpSpPr>
          <a:xfrm>
            <a:off x="310399" y="2390283"/>
            <a:ext cx="194324" cy="180020"/>
            <a:chOff x="416496" y="3577457"/>
            <a:chExt cx="194324" cy="180020"/>
          </a:xfrm>
        </p:grpSpPr>
        <p:sp>
          <p:nvSpPr>
            <p:cNvPr id="20" name="모서리가 둥근 직사각형 320">
              <a:extLst>
                <a:ext uri="{FF2B5EF4-FFF2-40B4-BE49-F238E27FC236}">
                  <a16:creationId xmlns:a16="http://schemas.microsoft.com/office/drawing/2014/main" id="{C8058689-94E4-446F-AA2A-B4307B03BD15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21" name="그림 20" descr="7.png">
              <a:extLst>
                <a:ext uri="{FF2B5EF4-FFF2-40B4-BE49-F238E27FC236}">
                  <a16:creationId xmlns:a16="http://schemas.microsoft.com/office/drawing/2014/main" id="{79B5018E-A44B-4CB4-A228-3DB8F42FC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F2049F6D-52F7-4288-9113-D28B84A81059}"/>
              </a:ext>
            </a:extLst>
          </p:cNvPr>
          <p:cNvSpPr>
            <a:spLocks noGrp="1"/>
          </p:cNvSpPr>
          <p:nvPr/>
        </p:nvSpPr>
        <p:spPr>
          <a:xfrm>
            <a:off x="462512" y="3037577"/>
            <a:ext cx="2252113" cy="478467"/>
          </a:xfrm>
          <a:prstGeom prst="roundRect">
            <a:avLst>
              <a:gd name="adj" fmla="val 19218"/>
            </a:avLst>
          </a:prstGeom>
          <a:solidFill>
            <a:schemeClr val="bg1">
              <a:lumMod val="95000"/>
            </a:schemeClr>
          </a:solidFill>
          <a:ln w="9525">
            <a:solidFill>
              <a:srgbClr val="E4DAF0"/>
            </a:solidFill>
            <a:prstDash val="solid"/>
          </a:ln>
        </p:spPr>
        <p:txBody>
          <a:bodyPr anchor="ctr" anchorCtr="0"/>
          <a:lstStyle/>
          <a:p>
            <a:pPr algn="ctr"/>
            <a:r>
              <a:rPr lang="ko-KR" altLang="en-US" sz="1400" b="1"/>
              <a:t>            업무 입력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3B59CCF-E875-4AEA-AAD6-272EB49A1CBF}"/>
              </a:ext>
            </a:extLst>
          </p:cNvPr>
          <p:cNvSpPr/>
          <p:nvPr/>
        </p:nvSpPr>
        <p:spPr>
          <a:xfrm>
            <a:off x="469592" y="2861018"/>
            <a:ext cx="647700" cy="2286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b="1">
                <a:solidFill>
                  <a:schemeClr val="tx1"/>
                </a:solidFill>
              </a:rPr>
              <a:t>사용자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4BBD58B2-2387-4964-99E8-F34766B9469C}"/>
              </a:ext>
            </a:extLst>
          </p:cNvPr>
          <p:cNvSpPr>
            <a:spLocks noGrp="1"/>
          </p:cNvSpPr>
          <p:nvPr/>
        </p:nvSpPr>
        <p:spPr>
          <a:xfrm>
            <a:off x="2904110" y="3037577"/>
            <a:ext cx="4192537" cy="478467"/>
          </a:xfrm>
          <a:prstGeom prst="roundRect">
            <a:avLst>
              <a:gd name="adj" fmla="val 15236"/>
            </a:avLst>
          </a:prstGeom>
          <a:solidFill>
            <a:srgbClr val="F1ECF8"/>
          </a:solidFill>
          <a:ln w="9525">
            <a:solidFill>
              <a:srgbClr val="E4DAF0"/>
            </a:solidFill>
            <a:prstDash val="solid"/>
          </a:ln>
        </p:spPr>
        <p:txBody>
          <a:bodyPr anchor="ctr" anchorCtr="0"/>
          <a:lstStyle/>
          <a:p>
            <a:r>
              <a:rPr lang="ko-KR" altLang="en-US" sz="1400" b="1"/>
              <a:t>             키워드</a:t>
            </a:r>
            <a:r>
              <a:rPr lang="en-US" altLang="ko-KR" sz="1400" b="1"/>
              <a:t>, </a:t>
            </a:r>
            <a:r>
              <a:rPr lang="ko-KR" altLang="en-US" sz="1400" b="1"/>
              <a:t>업무 유형 분석            절차</a:t>
            </a:r>
            <a:r>
              <a:rPr lang="en-US" altLang="ko-KR" sz="1400" b="1"/>
              <a:t>, </a:t>
            </a:r>
            <a:r>
              <a:rPr lang="ko-KR" altLang="en-US" sz="1400" b="1"/>
              <a:t>지침 안내                   </a:t>
            </a:r>
            <a:r>
              <a:rPr lang="en-US" altLang="ko-KR" sz="1400" b="1"/>
              <a:t> </a:t>
            </a:r>
            <a:endParaRPr lang="ko-KR" altLang="en-US" sz="1400" b="1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C5240A7-1ADF-4299-96E9-D69490812910}"/>
              </a:ext>
            </a:extLst>
          </p:cNvPr>
          <p:cNvSpPr/>
          <p:nvPr/>
        </p:nvSpPr>
        <p:spPr>
          <a:xfrm>
            <a:off x="2904111" y="2861018"/>
            <a:ext cx="647700" cy="2286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b="1"/>
              <a:t>서비스</a:t>
            </a:r>
          </a:p>
        </p:txBody>
      </p:sp>
      <p:pic>
        <p:nvPicPr>
          <p:cNvPr id="5" name="그래픽 4" descr="아이디어를 가진 사람 단색으로 채워진">
            <a:extLst>
              <a:ext uri="{FF2B5EF4-FFF2-40B4-BE49-F238E27FC236}">
                <a16:creationId xmlns:a16="http://schemas.microsoft.com/office/drawing/2014/main" id="{603765C0-89CB-44A9-A623-57C762AFB6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32478" y="3065815"/>
            <a:ext cx="525332" cy="443544"/>
          </a:xfrm>
          <a:prstGeom prst="rect">
            <a:avLst/>
          </a:prstGeom>
        </p:spPr>
      </p:pic>
      <p:pic>
        <p:nvPicPr>
          <p:cNvPr id="24" name="그래픽 23" descr="사용자 단색으로 채워진">
            <a:extLst>
              <a:ext uri="{FF2B5EF4-FFF2-40B4-BE49-F238E27FC236}">
                <a16:creationId xmlns:a16="http://schemas.microsoft.com/office/drawing/2014/main" id="{7C222A63-90C8-4CC3-A48C-632244EF6FB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4664" y="2991526"/>
            <a:ext cx="597557" cy="597557"/>
          </a:xfrm>
          <a:prstGeom prst="rect">
            <a:avLst/>
          </a:prstGeom>
        </p:spPr>
      </p:pic>
      <p:pic>
        <p:nvPicPr>
          <p:cNvPr id="29" name="그래픽 28" descr="갈매기형 화살표 단색으로 채워진">
            <a:extLst>
              <a:ext uri="{FF2B5EF4-FFF2-40B4-BE49-F238E27FC236}">
                <a16:creationId xmlns:a16="http://schemas.microsoft.com/office/drawing/2014/main" id="{AB8D90E4-C1C8-41F3-BEBC-5093CF686F5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05030" y="3057026"/>
            <a:ext cx="425550" cy="425550"/>
          </a:xfrm>
          <a:prstGeom prst="rect">
            <a:avLst/>
          </a:prstGeom>
        </p:spPr>
      </p:pic>
      <p:pic>
        <p:nvPicPr>
          <p:cNvPr id="31" name="그래픽 30" descr="클라우드 컴퓨팅 단색으로 채워진">
            <a:extLst>
              <a:ext uri="{FF2B5EF4-FFF2-40B4-BE49-F238E27FC236}">
                <a16:creationId xmlns:a16="http://schemas.microsoft.com/office/drawing/2014/main" id="{A9EBA402-CA77-49DE-9FC9-B6F93C20927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015186" y="3085911"/>
            <a:ext cx="425550" cy="425550"/>
          </a:xfrm>
          <a:prstGeom prst="rect">
            <a:avLst/>
          </a:prstGeom>
        </p:spPr>
      </p:pic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405EFF4C-9138-4C0F-8DE4-9B72063D888C}"/>
              </a:ext>
            </a:extLst>
          </p:cNvPr>
          <p:cNvSpPr/>
          <p:nvPr/>
        </p:nvSpPr>
        <p:spPr>
          <a:xfrm>
            <a:off x="7290813" y="2861018"/>
            <a:ext cx="647700" cy="2286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b="1">
                <a:solidFill>
                  <a:schemeClr val="tx1"/>
                </a:solidFill>
              </a:rPr>
              <a:t>사용자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DD66CEA-C3F9-4B7E-B7A8-3932C855279C}"/>
              </a:ext>
            </a:extLst>
          </p:cNvPr>
          <p:cNvSpPr/>
          <p:nvPr/>
        </p:nvSpPr>
        <p:spPr>
          <a:xfrm>
            <a:off x="358024" y="4937510"/>
            <a:ext cx="9409457" cy="1801656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A65F65E2-5821-4B06-A2A3-09E6B588F80E}"/>
              </a:ext>
            </a:extLst>
          </p:cNvPr>
          <p:cNvSpPr/>
          <p:nvPr/>
        </p:nvSpPr>
        <p:spPr>
          <a:xfrm>
            <a:off x="380299" y="3857884"/>
            <a:ext cx="9289581" cy="505290"/>
          </a:xfrm>
          <a:prstGeom prst="rect">
            <a:avLst/>
          </a:prstGeom>
          <a:pattFill prst="pct2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>
                <a:solidFill>
                  <a:schemeClr val="tx1"/>
                </a:solidFill>
                <a:latin typeface="+mn-ea"/>
              </a:rPr>
              <a:t>필요한 지침을 빠르게 찾아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시작부터 완료까지 정확하게 업무를 처리하도록 체계적으로 지원</a:t>
            </a: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D707C160-1EC8-44FC-B4D0-7B733975BF70}"/>
              </a:ext>
            </a:extLst>
          </p:cNvPr>
          <p:cNvGrpSpPr/>
          <p:nvPr/>
        </p:nvGrpSpPr>
        <p:grpSpPr>
          <a:xfrm>
            <a:off x="388532" y="3894803"/>
            <a:ext cx="511817" cy="431452"/>
            <a:chOff x="-895525" y="3274733"/>
            <a:chExt cx="619300" cy="474597"/>
          </a:xfrm>
        </p:grpSpPr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DA20131F-F70E-4A56-981E-03309AF0D12C}"/>
                </a:ext>
              </a:extLst>
            </p:cNvPr>
            <p:cNvSpPr/>
            <p:nvPr/>
          </p:nvSpPr>
          <p:spPr>
            <a:xfrm>
              <a:off x="-781050" y="3274733"/>
              <a:ext cx="504825" cy="47459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화살표: 오른쪽 40">
              <a:extLst>
                <a:ext uri="{FF2B5EF4-FFF2-40B4-BE49-F238E27FC236}">
                  <a16:creationId xmlns:a16="http://schemas.microsoft.com/office/drawing/2014/main" id="{82487A50-08B9-4EF0-9A7E-A9A654CF1493}"/>
                </a:ext>
              </a:extLst>
            </p:cNvPr>
            <p:cNvSpPr/>
            <p:nvPr/>
          </p:nvSpPr>
          <p:spPr>
            <a:xfrm>
              <a:off x="-895525" y="3297066"/>
              <a:ext cx="616600" cy="429929"/>
            </a:xfrm>
            <a:prstGeom prst="rightArrow">
              <a:avLst/>
            </a:prstGeom>
            <a:pattFill prst="pct25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8559FD55-5C88-41D3-91EE-5E42C474487B}"/>
              </a:ext>
            </a:extLst>
          </p:cNvPr>
          <p:cNvSpPr>
            <a:spLocks noGrp="1"/>
          </p:cNvSpPr>
          <p:nvPr/>
        </p:nvSpPr>
        <p:spPr>
          <a:xfrm>
            <a:off x="462512" y="5015554"/>
            <a:ext cx="1575551" cy="399999"/>
          </a:xfrm>
          <a:prstGeom prst="roundRect">
            <a:avLst>
              <a:gd name="adj" fmla="val 5283"/>
            </a:avLst>
          </a:pr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txBody>
          <a:bodyPr anchor="ctr" anchorCtr="0"/>
          <a:lstStyle/>
          <a:p>
            <a:pPr algn="ctr"/>
            <a:r>
              <a:rPr lang="ko-KR" altLang="en-US" sz="1400" b="1"/>
              <a:t>이용 대상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AF15DD7A-DA56-4E27-B8B9-99D16B1EAAD7}"/>
              </a:ext>
            </a:extLst>
          </p:cNvPr>
          <p:cNvSpPr/>
          <p:nvPr/>
        </p:nvSpPr>
        <p:spPr>
          <a:xfrm>
            <a:off x="556287" y="4520869"/>
            <a:ext cx="5271758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과제 주요 내용 및 기대 효과</a:t>
            </a:r>
            <a:endParaRPr kumimoji="0" lang="en-US" altLang="ko-KR" sz="1400" b="1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  <a:sym typeface="Wingdings" pitchFamily="2" charset="2"/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29476FCD-9DE7-46DD-B543-6C57D2954689}"/>
              </a:ext>
            </a:extLst>
          </p:cNvPr>
          <p:cNvGrpSpPr/>
          <p:nvPr/>
        </p:nvGrpSpPr>
        <p:grpSpPr>
          <a:xfrm>
            <a:off x="310399" y="4630858"/>
            <a:ext cx="194324" cy="180020"/>
            <a:chOff x="416496" y="3577457"/>
            <a:chExt cx="194324" cy="180020"/>
          </a:xfrm>
        </p:grpSpPr>
        <p:sp>
          <p:nvSpPr>
            <p:cNvPr id="49" name="모서리가 둥근 직사각형 320">
              <a:extLst>
                <a:ext uri="{FF2B5EF4-FFF2-40B4-BE49-F238E27FC236}">
                  <a16:creationId xmlns:a16="http://schemas.microsoft.com/office/drawing/2014/main" id="{E9BE25AB-1104-4DD5-AC3E-6DDBF8D648F9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51" name="그림 50" descr="7.png">
              <a:extLst>
                <a:ext uri="{FF2B5EF4-FFF2-40B4-BE49-F238E27FC236}">
                  <a16:creationId xmlns:a16="http://schemas.microsoft.com/office/drawing/2014/main" id="{555C5E72-6381-4E1B-BA5E-ACD3D13B77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F16F6F52-C207-4B80-AC5D-BD1CA44DCD4A}"/>
              </a:ext>
            </a:extLst>
          </p:cNvPr>
          <p:cNvSpPr txBox="1"/>
          <p:nvPr/>
        </p:nvSpPr>
        <p:spPr>
          <a:xfrm>
            <a:off x="2204340" y="5069359"/>
            <a:ext cx="661035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ko-KR" altLang="en-US" sz="1300"/>
              <a:t>업무 절차나 관련 지침을 확인하려는 임직원 </a:t>
            </a: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AEC36C50-54B1-4380-81C3-58E9F1DE2A3C}"/>
              </a:ext>
            </a:extLst>
          </p:cNvPr>
          <p:cNvSpPr>
            <a:spLocks noGrp="1"/>
          </p:cNvSpPr>
          <p:nvPr/>
        </p:nvSpPr>
        <p:spPr>
          <a:xfrm>
            <a:off x="462512" y="5499550"/>
            <a:ext cx="1575551" cy="412966"/>
          </a:xfrm>
          <a:prstGeom prst="roundRect">
            <a:avLst>
              <a:gd name="adj" fmla="val 5283"/>
            </a:avLst>
          </a:pr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txBody>
          <a:bodyPr anchor="ctr" anchorCtr="0"/>
          <a:lstStyle/>
          <a:p>
            <a:pPr algn="ctr"/>
            <a:r>
              <a:rPr lang="ko-KR" altLang="en-US" sz="1400" b="1"/>
              <a:t>주요 정보 제공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1FC4B79-5D6D-40F2-96FF-7B6BBD4E6ECC}"/>
              </a:ext>
            </a:extLst>
          </p:cNvPr>
          <p:cNvSpPr txBox="1"/>
          <p:nvPr/>
        </p:nvSpPr>
        <p:spPr>
          <a:xfrm>
            <a:off x="2204340" y="5559839"/>
            <a:ext cx="661035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ko-KR" altLang="en-US" sz="1300"/>
              <a:t>업무별 처리 절차</a:t>
            </a:r>
            <a:r>
              <a:rPr lang="en-US" altLang="ko-KR" sz="1300"/>
              <a:t>, </a:t>
            </a:r>
            <a:r>
              <a:rPr lang="ko-KR" altLang="en-US" sz="1300"/>
              <a:t>관련 지침</a:t>
            </a:r>
            <a:r>
              <a:rPr lang="en-US" altLang="ko-KR" sz="1300"/>
              <a:t>, </a:t>
            </a:r>
            <a:r>
              <a:rPr lang="ko-KR" altLang="en-US" sz="1300"/>
              <a:t>필수 확인사항</a:t>
            </a:r>
            <a:r>
              <a:rPr lang="en-US" altLang="ko-KR" sz="1300"/>
              <a:t>, </a:t>
            </a:r>
            <a:r>
              <a:rPr lang="ko-KR" altLang="en-US" sz="1300"/>
              <a:t>담당 부서</a:t>
            </a:r>
            <a:r>
              <a:rPr lang="en-US" altLang="ko-KR" sz="1300"/>
              <a:t>(</a:t>
            </a:r>
            <a:r>
              <a:rPr lang="ko-KR" altLang="en-US" sz="1300"/>
              <a:t>주관</a:t>
            </a:r>
            <a:r>
              <a:rPr lang="en-US" altLang="ko-KR" sz="1300"/>
              <a:t>, </a:t>
            </a:r>
            <a:r>
              <a:rPr lang="ko-KR" altLang="en-US" sz="1300"/>
              <a:t>협업</a:t>
            </a:r>
            <a:r>
              <a:rPr lang="en-US" altLang="ko-KR" sz="1300"/>
              <a:t>) </a:t>
            </a:r>
            <a:r>
              <a:rPr lang="ko-KR" altLang="en-US" sz="1300"/>
              <a:t>안내</a:t>
            </a:r>
            <a:r>
              <a:rPr lang="en-US" altLang="ko-KR" sz="1300"/>
              <a:t> </a:t>
            </a:r>
            <a:endParaRPr lang="ko-KR" altLang="en-US" sz="1300"/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A637B37C-8E3C-478E-BF8C-39348605030D}"/>
              </a:ext>
            </a:extLst>
          </p:cNvPr>
          <p:cNvSpPr>
            <a:spLocks noGrp="1"/>
          </p:cNvSpPr>
          <p:nvPr/>
        </p:nvSpPr>
        <p:spPr>
          <a:xfrm>
            <a:off x="462512" y="5996514"/>
            <a:ext cx="1575551" cy="642502"/>
          </a:xfrm>
          <a:prstGeom prst="roundRect">
            <a:avLst>
              <a:gd name="adj" fmla="val 5283"/>
            </a:avLst>
          </a:pr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txBody>
          <a:bodyPr anchor="ctr" anchorCtr="0"/>
          <a:lstStyle/>
          <a:p>
            <a:pPr algn="ctr"/>
            <a:r>
              <a:rPr lang="ko-KR" altLang="en-US" sz="1400" b="1"/>
              <a:t>기대 효과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5A8F0B2-8FFE-4270-840B-F4EAD32923C6}"/>
              </a:ext>
            </a:extLst>
          </p:cNvPr>
          <p:cNvSpPr txBox="1"/>
          <p:nvPr/>
        </p:nvSpPr>
        <p:spPr>
          <a:xfrm>
            <a:off x="2206015" y="5975295"/>
            <a:ext cx="6610350" cy="7437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en-US" altLang="ko-KR" sz="1300"/>
              <a:t> (</a:t>
            </a:r>
            <a:r>
              <a:rPr lang="ko-KR" altLang="en-US" sz="1300"/>
              <a:t>탐색 시간 단축</a:t>
            </a:r>
            <a:r>
              <a:rPr lang="en-US" altLang="ko-KR" sz="1300"/>
              <a:t>) </a:t>
            </a:r>
            <a:r>
              <a:rPr lang="ko-KR" altLang="en-US" sz="1300"/>
              <a:t>업무 전반의 절차와 필요한 지침을 한 번에 확인</a:t>
            </a:r>
            <a:endParaRPr lang="en-US" altLang="ko-KR" sz="1300"/>
          </a:p>
          <a:p>
            <a:pPr marL="90488" indent="-90488"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en-US" altLang="ko-KR" sz="1300"/>
              <a:t> (</a:t>
            </a:r>
            <a:r>
              <a:rPr lang="ko-KR" altLang="en-US" sz="1300"/>
              <a:t>정확한 처리</a:t>
            </a:r>
            <a:r>
              <a:rPr lang="en-US" altLang="ko-KR" sz="1300"/>
              <a:t>) </a:t>
            </a:r>
            <a:r>
              <a:rPr lang="ko-KR" altLang="en-US" sz="1300"/>
              <a:t>필수 절차와 확인사항 누락 방지</a:t>
            </a:r>
            <a:endParaRPr lang="en-US" altLang="ko-KR" sz="1300"/>
          </a:p>
          <a:p>
            <a:pPr marL="90488" indent="-90488"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en-US" altLang="ko-KR" sz="1300"/>
              <a:t> (</a:t>
            </a:r>
            <a:r>
              <a:rPr lang="ko-KR" altLang="en-US" sz="1300"/>
              <a:t>업무 일관성 확보</a:t>
            </a:r>
            <a:r>
              <a:rPr lang="en-US" altLang="ko-KR" sz="1300"/>
              <a:t>) </a:t>
            </a:r>
            <a:r>
              <a:rPr lang="ko-KR" altLang="en-US" sz="1300"/>
              <a:t>담당자가 바뀌어도 같은 기준으로 처리</a:t>
            </a:r>
          </a:p>
        </p:txBody>
      </p: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69419DB7-D5C5-4C3E-B20B-A3D46F574EF9}"/>
              </a:ext>
            </a:extLst>
          </p:cNvPr>
          <p:cNvCxnSpPr>
            <a:cxnSpLocks/>
          </p:cNvCxnSpPr>
          <p:nvPr/>
        </p:nvCxnSpPr>
        <p:spPr>
          <a:xfrm flipV="1">
            <a:off x="2289746" y="5391891"/>
            <a:ext cx="6002887" cy="53806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F136B79D-09EC-4B50-B2C9-E9944DC88BA7}"/>
              </a:ext>
            </a:extLst>
          </p:cNvPr>
          <p:cNvCxnSpPr>
            <a:cxnSpLocks/>
          </p:cNvCxnSpPr>
          <p:nvPr/>
        </p:nvCxnSpPr>
        <p:spPr>
          <a:xfrm flipV="1">
            <a:off x="2289746" y="5875883"/>
            <a:ext cx="6002887" cy="53806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BFB32620-BF19-4B11-B076-46885445DCD3}"/>
              </a:ext>
            </a:extLst>
          </p:cNvPr>
          <p:cNvSpPr>
            <a:spLocks noGrp="1"/>
          </p:cNvSpPr>
          <p:nvPr/>
        </p:nvSpPr>
        <p:spPr>
          <a:xfrm>
            <a:off x="330495" y="2707595"/>
            <a:ext cx="9409457" cy="999163"/>
          </a:xfrm>
          <a:prstGeom prst="roundRect">
            <a:avLst>
              <a:gd name="adj" fmla="val 5139"/>
            </a:avLst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64" name="이등변 삼각형 63">
            <a:extLst>
              <a:ext uri="{FF2B5EF4-FFF2-40B4-BE49-F238E27FC236}">
                <a16:creationId xmlns:a16="http://schemas.microsoft.com/office/drawing/2014/main" id="{CBE0F7A1-7FBC-4044-82C1-997A319E3071}"/>
              </a:ext>
            </a:extLst>
          </p:cNvPr>
          <p:cNvSpPr/>
          <p:nvPr/>
        </p:nvSpPr>
        <p:spPr>
          <a:xfrm rot="5400000">
            <a:off x="2730899" y="3218194"/>
            <a:ext cx="166088" cy="120792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이등변 삼각형 64">
            <a:extLst>
              <a:ext uri="{FF2B5EF4-FFF2-40B4-BE49-F238E27FC236}">
                <a16:creationId xmlns:a16="http://schemas.microsoft.com/office/drawing/2014/main" id="{2EDC7E73-7337-42B2-928F-D70EB47D31EC}"/>
              </a:ext>
            </a:extLst>
          </p:cNvPr>
          <p:cNvSpPr/>
          <p:nvPr/>
        </p:nvSpPr>
        <p:spPr>
          <a:xfrm rot="5400000">
            <a:off x="7103619" y="3219872"/>
            <a:ext cx="166088" cy="120792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1628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565F164-0C45-4D87-8583-266FB8891880}"/>
              </a:ext>
            </a:extLst>
          </p:cNvPr>
          <p:cNvSpPr txBox="1"/>
          <p:nvPr/>
        </p:nvSpPr>
        <p:spPr>
          <a:xfrm>
            <a:off x="181848" y="118834"/>
            <a:ext cx="8281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웹서비스 구축 과정 및 구현 현황</a:t>
            </a:r>
            <a:endParaRPr kumimoji="0" lang="ko-KR" altLang="en-US" sz="20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8989D12-EF7E-4B26-A8A4-47703D404C10}"/>
              </a:ext>
            </a:extLst>
          </p:cNvPr>
          <p:cNvSpPr/>
          <p:nvPr/>
        </p:nvSpPr>
        <p:spPr>
          <a:xfrm>
            <a:off x="556286" y="709192"/>
            <a:ext cx="7886103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사규 앱 내 </a:t>
            </a:r>
            <a:r>
              <a:rPr kumimoji="0" lang="en-US" altLang="ko-KR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3,450</a:t>
            </a:r>
            <a:r>
              <a:rPr kumimoji="0" lang="ko-KR" altLang="en-US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개 문서와 </a:t>
            </a:r>
            <a:r>
              <a:rPr kumimoji="0" lang="en-US" altLang="ko-KR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126</a:t>
            </a:r>
            <a:r>
              <a:rPr lang="ko-KR" altLang="en-US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개 조직</a:t>
            </a:r>
            <a:r>
              <a:rPr lang="en-US" altLang="ko-KR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ko-KR" altLang="en-US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확인</a:t>
            </a:r>
            <a:r>
              <a:rPr kumimoji="0" lang="en-US" altLang="ko-KR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, </a:t>
            </a:r>
            <a:r>
              <a:rPr kumimoji="0" lang="ko-KR" altLang="en-US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대표 </a:t>
            </a:r>
            <a:r>
              <a:rPr kumimoji="0" lang="en-US" altLang="ko-KR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35</a:t>
            </a:r>
            <a:r>
              <a:rPr kumimoji="0" lang="ko-KR" altLang="en-US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개 부서부터 단계적으로 검증</a:t>
            </a:r>
            <a:endParaRPr kumimoji="0" lang="en-US" altLang="ko-KR" sz="1400" b="0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  <a:sym typeface="Wingdings" pitchFamily="2" charset="2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26A7927B-1FC5-4002-88D0-9247A5AECD7B}"/>
              </a:ext>
            </a:extLst>
          </p:cNvPr>
          <p:cNvGrpSpPr/>
          <p:nvPr/>
        </p:nvGrpSpPr>
        <p:grpSpPr>
          <a:xfrm>
            <a:off x="310399" y="819181"/>
            <a:ext cx="194324" cy="180020"/>
            <a:chOff x="416496" y="3577457"/>
            <a:chExt cx="194324" cy="180020"/>
          </a:xfrm>
        </p:grpSpPr>
        <p:sp>
          <p:nvSpPr>
            <p:cNvPr id="9" name="모서리가 둥근 직사각형 320">
              <a:extLst>
                <a:ext uri="{FF2B5EF4-FFF2-40B4-BE49-F238E27FC236}">
                  <a16:creationId xmlns:a16="http://schemas.microsoft.com/office/drawing/2014/main" id="{64991931-304B-4A79-8ABF-F87172C315CC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10" name="그림 9" descr="7.png">
              <a:extLst>
                <a:ext uri="{FF2B5EF4-FFF2-40B4-BE49-F238E27FC236}">
                  <a16:creationId xmlns:a16="http://schemas.microsoft.com/office/drawing/2014/main" id="{0EFF1F02-3E3B-4082-8B1A-A822DE53A21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EBEE609-C434-4349-8901-D531366F8FD3}"/>
              </a:ext>
            </a:extLst>
          </p:cNvPr>
          <p:cNvSpPr/>
          <p:nvPr/>
        </p:nvSpPr>
        <p:spPr>
          <a:xfrm>
            <a:off x="398363" y="1051801"/>
            <a:ext cx="9507637" cy="9678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i="0" u="none" strike="noStrike" kern="1200" cap="none" spc="-4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  <a:sym typeface="Wingdings" pitchFamily="2" charset="2"/>
              </a:rPr>
              <a:t>○ 구축 범위 설정 </a:t>
            </a:r>
            <a:r>
              <a:rPr kumimoji="0" lang="en-US" altLang="ko-KR" sz="1300" i="0" u="none" strike="noStrike" kern="1200" cap="none" spc="-4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  <a:sym typeface="Wingdings" pitchFamily="2" charset="2"/>
              </a:rPr>
              <a:t>: </a:t>
            </a:r>
            <a:r>
              <a:rPr kumimoji="0" lang="ko-KR" altLang="en-US" sz="1300" i="0" u="none" strike="noStrike" kern="1200" cap="none" spc="-4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  <a:sym typeface="Wingdings" pitchFamily="2" charset="2"/>
              </a:rPr>
              <a:t>핵심 기능 구현 가능성 확인 후</a:t>
            </a:r>
            <a:r>
              <a:rPr kumimoji="0" lang="en-US" altLang="ko-KR" sz="1300" i="0" u="none" strike="noStrike" kern="1200" cap="none" spc="-4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  <a:sym typeface="Wingdings" pitchFamily="2" charset="2"/>
              </a:rPr>
              <a:t>, </a:t>
            </a:r>
            <a:r>
              <a:rPr kumimoji="0" lang="ko-KR" altLang="en-US" sz="1300" i="0" u="none" strike="noStrike" kern="1200" cap="none" spc="-4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  <a:sym typeface="Wingdings" pitchFamily="2" charset="2"/>
              </a:rPr>
              <a:t>단계적 확대 방향</a:t>
            </a:r>
            <a:endParaRPr lang="en-US" altLang="ko-KR" sz="1300" spc="-40">
              <a:solidFill>
                <a:prstClr val="black"/>
              </a:solidFill>
              <a:latin typeface="+mn-ea"/>
              <a:sym typeface="Wingdings" pitchFamily="2" charset="2"/>
            </a:endParaRPr>
          </a:p>
          <a:p>
            <a:pPr marL="0" marR="0" lvl="0" indent="0" algn="l" defTabSz="914400" rtl="0" eaLnBrk="1" fontAlgn="auto" latinLnBrk="1" hangingPunct="1">
              <a:lnSpc>
                <a:spcPts val="2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i="0" u="none" strike="noStrike" kern="1200" cap="none" spc="-4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  <a:sym typeface="Wingdings" pitchFamily="2" charset="2"/>
              </a:rPr>
              <a:t>   - </a:t>
            </a:r>
            <a:r>
              <a:rPr lang="ko-KR" altLang="en-US" sz="1300">
                <a:latin typeface="+mn-ea"/>
              </a:rPr>
              <a:t>업무 특성과 협업 빈도를 고려해 대표 부서 선정 </a:t>
            </a:r>
            <a:r>
              <a:rPr lang="en-US" altLang="ko-KR" sz="1300">
                <a:latin typeface="+mn-ea"/>
              </a:rPr>
              <a:t>(10</a:t>
            </a:r>
            <a:r>
              <a:rPr lang="ko-KR" altLang="en-US" sz="1300">
                <a:latin typeface="+mn-ea"/>
              </a:rPr>
              <a:t>개 → </a:t>
            </a:r>
            <a:r>
              <a:rPr lang="en-US" altLang="ko-KR" sz="1300">
                <a:latin typeface="+mn-ea"/>
              </a:rPr>
              <a:t>20</a:t>
            </a:r>
            <a:r>
              <a:rPr lang="ko-KR" altLang="en-US" sz="1300">
                <a:latin typeface="+mn-ea"/>
              </a:rPr>
              <a:t>개 → </a:t>
            </a:r>
            <a:r>
              <a:rPr lang="en-US" altLang="ko-KR" sz="1300">
                <a:latin typeface="+mn-ea"/>
              </a:rPr>
              <a:t>35</a:t>
            </a:r>
            <a:r>
              <a:rPr lang="ko-KR" altLang="en-US" sz="1300">
                <a:latin typeface="+mn-ea"/>
              </a:rPr>
              <a:t>개 부서로 확장</a:t>
            </a:r>
            <a:r>
              <a:rPr lang="en-US" altLang="ko-KR" sz="1300">
                <a:latin typeface="+mn-ea"/>
              </a:rPr>
              <a:t>)</a:t>
            </a:r>
          </a:p>
          <a:p>
            <a:pPr marL="0" marR="0" lvl="0" indent="0" algn="l" defTabSz="914400" rtl="0" eaLnBrk="1" fontAlgn="auto" latinLnBrk="1" hangingPunct="1">
              <a:lnSpc>
                <a:spcPts val="2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i="0" u="none" strike="noStrike" kern="1200" cap="none" spc="-4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  <a:sym typeface="Wingdings" pitchFamily="2" charset="2"/>
              </a:rPr>
              <a:t>   - </a:t>
            </a:r>
            <a:r>
              <a:rPr lang="ko-KR" altLang="en-US" sz="1300" spc="-40">
                <a:solidFill>
                  <a:prstClr val="black"/>
                </a:solidFill>
                <a:latin typeface="+mn-ea"/>
                <a:sym typeface="Wingdings" pitchFamily="2" charset="2"/>
              </a:rPr>
              <a:t>선정 부서의 업무 절차</a:t>
            </a:r>
            <a:r>
              <a:rPr lang="en-US" altLang="ko-KR" sz="1300" spc="-40">
                <a:solidFill>
                  <a:prstClr val="black"/>
                </a:solidFill>
                <a:latin typeface="+mn-ea"/>
                <a:sym typeface="Wingdings" pitchFamily="2" charset="2"/>
              </a:rPr>
              <a:t>, </a:t>
            </a:r>
            <a:r>
              <a:rPr lang="ko-KR" altLang="en-US" sz="1300" spc="-40">
                <a:solidFill>
                  <a:prstClr val="black"/>
                </a:solidFill>
                <a:latin typeface="+mn-ea"/>
                <a:sym typeface="Wingdings" pitchFamily="2" charset="2"/>
              </a:rPr>
              <a:t>관련 지침</a:t>
            </a:r>
            <a:r>
              <a:rPr lang="en-US" altLang="ko-KR" sz="1300" spc="-40">
                <a:solidFill>
                  <a:prstClr val="black"/>
                </a:solidFill>
                <a:latin typeface="+mn-ea"/>
                <a:sym typeface="Wingdings" pitchFamily="2" charset="2"/>
              </a:rPr>
              <a:t> </a:t>
            </a:r>
            <a:r>
              <a:rPr lang="ko-KR" altLang="en-US" sz="1300" spc="-40">
                <a:solidFill>
                  <a:prstClr val="black"/>
                </a:solidFill>
                <a:latin typeface="+mn-ea"/>
                <a:sym typeface="Wingdings" pitchFamily="2" charset="2"/>
              </a:rPr>
              <a:t>및 담당 조직 데이터 확보 </a:t>
            </a:r>
            <a:r>
              <a:rPr lang="en-US" altLang="ko-KR" sz="1300" spc="-40">
                <a:solidFill>
                  <a:prstClr val="black"/>
                </a:solidFill>
                <a:latin typeface="+mn-ea"/>
                <a:sym typeface="Wingdings" pitchFamily="2" charset="2"/>
              </a:rPr>
              <a:t>(P-GPT </a:t>
            </a:r>
            <a:r>
              <a:rPr lang="ko-KR" altLang="en-US" sz="1300" spc="-40">
                <a:solidFill>
                  <a:prstClr val="black"/>
                </a:solidFill>
                <a:latin typeface="+mn-ea"/>
                <a:sym typeface="Wingdings" pitchFamily="2" charset="2"/>
              </a:rPr>
              <a:t>활용 더미 데이터 생성</a:t>
            </a:r>
            <a:r>
              <a:rPr lang="en-US" altLang="ko-KR" sz="1300" spc="-40">
                <a:solidFill>
                  <a:prstClr val="black"/>
                </a:solidFill>
                <a:latin typeface="+mn-ea"/>
                <a:sym typeface="Wingdings" pitchFamily="2" charset="2"/>
              </a:rPr>
              <a:t>)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656DA0D-7D8A-4307-854A-0B0967B6A766}"/>
              </a:ext>
            </a:extLst>
          </p:cNvPr>
          <p:cNvSpPr/>
          <p:nvPr/>
        </p:nvSpPr>
        <p:spPr>
          <a:xfrm>
            <a:off x="556286" y="1975488"/>
            <a:ext cx="9218275" cy="4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  <a:sym typeface="Wingdings" pitchFamily="2" charset="2"/>
              </a:rPr>
              <a:t>대표 질의 선정 → </a:t>
            </a:r>
            <a:r>
              <a:rPr lang="ko-KR" altLang="en-US" sz="1400" b="1" spc="-20">
                <a:solidFill>
                  <a:prstClr val="black"/>
                </a:solidFill>
                <a:latin typeface="+mn-ea"/>
                <a:sym typeface="Wingdings" pitchFamily="2" charset="2"/>
              </a:rPr>
              <a:t>웹서비스 </a:t>
            </a:r>
            <a:r>
              <a:rPr kumimoji="0" lang="ko-KR" altLang="en-US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  <a:sym typeface="Wingdings" pitchFamily="2" charset="2"/>
              </a:rPr>
              <a:t>검색 결과 검증 → 절차 및 지침 데이터 적정성 검토 → 데이터 보완  </a:t>
            </a:r>
            <a:endParaRPr kumimoji="0" lang="en-US" altLang="ko-KR" sz="1400" b="1" i="0" u="none" strike="noStrike" kern="1200" cap="none" spc="-2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ea"/>
              <a:cs typeface="+mn-cs"/>
              <a:sym typeface="Wingdings" pitchFamily="2" charset="2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1A108875-0952-48E3-AB80-BF0F0F01D762}"/>
              </a:ext>
            </a:extLst>
          </p:cNvPr>
          <p:cNvGrpSpPr/>
          <p:nvPr/>
        </p:nvGrpSpPr>
        <p:grpSpPr>
          <a:xfrm>
            <a:off x="310399" y="2085477"/>
            <a:ext cx="194324" cy="180020"/>
            <a:chOff x="416496" y="3577457"/>
            <a:chExt cx="194324" cy="180020"/>
          </a:xfrm>
        </p:grpSpPr>
        <p:sp>
          <p:nvSpPr>
            <p:cNvPr id="20" name="모서리가 둥근 직사각형 320">
              <a:extLst>
                <a:ext uri="{FF2B5EF4-FFF2-40B4-BE49-F238E27FC236}">
                  <a16:creationId xmlns:a16="http://schemas.microsoft.com/office/drawing/2014/main" id="{C8058689-94E4-446F-AA2A-B4307B03BD15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21" name="그림 20" descr="7.png">
              <a:extLst>
                <a:ext uri="{FF2B5EF4-FFF2-40B4-BE49-F238E27FC236}">
                  <a16:creationId xmlns:a16="http://schemas.microsoft.com/office/drawing/2014/main" id="{79B5018E-A44B-4CB4-A228-3DB8F42FC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AF15DD7A-DA56-4E27-B8B9-99D16B1EAAD7}"/>
              </a:ext>
            </a:extLst>
          </p:cNvPr>
          <p:cNvSpPr/>
          <p:nvPr/>
        </p:nvSpPr>
        <p:spPr>
          <a:xfrm>
            <a:off x="556286" y="3606464"/>
            <a:ext cx="8085296" cy="4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>
                <a:latin typeface="+mn-ea"/>
              </a:rPr>
              <a:t>AI </a:t>
            </a:r>
            <a:r>
              <a:rPr lang="ko-KR" altLang="en-US" sz="1400" b="1">
                <a:latin typeface="+mn-ea"/>
              </a:rPr>
              <a:t>활용 교육과 코칭을 바탕으로</a:t>
            </a:r>
            <a:r>
              <a:rPr lang="en-US" altLang="ko-KR" sz="1400" b="1">
                <a:latin typeface="+mn-ea"/>
              </a:rPr>
              <a:t>, </a:t>
            </a:r>
            <a:r>
              <a:rPr lang="ko-KR" altLang="en-US" sz="1400" b="1">
                <a:latin typeface="+mn-ea"/>
              </a:rPr>
              <a:t>문제를 해결하며 구현한 웹서비스</a:t>
            </a:r>
            <a:endParaRPr kumimoji="0" lang="en-US" altLang="ko-KR" sz="1400" b="1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  <a:sym typeface="Wingdings" pitchFamily="2" charset="2"/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29476FCD-9DE7-46DD-B543-6C57D2954689}"/>
              </a:ext>
            </a:extLst>
          </p:cNvPr>
          <p:cNvGrpSpPr/>
          <p:nvPr/>
        </p:nvGrpSpPr>
        <p:grpSpPr>
          <a:xfrm>
            <a:off x="310399" y="3716453"/>
            <a:ext cx="194324" cy="180020"/>
            <a:chOff x="416496" y="3577457"/>
            <a:chExt cx="194324" cy="180020"/>
          </a:xfrm>
        </p:grpSpPr>
        <p:sp>
          <p:nvSpPr>
            <p:cNvPr id="49" name="모서리가 둥근 직사각형 320">
              <a:extLst>
                <a:ext uri="{FF2B5EF4-FFF2-40B4-BE49-F238E27FC236}">
                  <a16:creationId xmlns:a16="http://schemas.microsoft.com/office/drawing/2014/main" id="{E9BE25AB-1104-4DD5-AC3E-6DDBF8D648F9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51" name="그림 50" descr="7.png">
              <a:extLst>
                <a:ext uri="{FF2B5EF4-FFF2-40B4-BE49-F238E27FC236}">
                  <a16:creationId xmlns:a16="http://schemas.microsoft.com/office/drawing/2014/main" id="{555C5E72-6381-4E1B-BA5E-ACD3D13B77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F16F6F52-C207-4B80-AC5D-BD1CA44DCD4A}"/>
              </a:ext>
            </a:extLst>
          </p:cNvPr>
          <p:cNvSpPr txBox="1"/>
          <p:nvPr/>
        </p:nvSpPr>
        <p:spPr>
          <a:xfrm>
            <a:off x="2219662" y="4424187"/>
            <a:ext cx="4986678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PRD.md </a:t>
            </a:r>
            <a:r>
              <a:rPr lang="ko-KR" altLang="en-US" sz="1300" spc="-40">
                <a:latin typeface="+mn-ea"/>
              </a:rPr>
              <a:t>초안 작성 후 데이터 보완</a:t>
            </a:r>
            <a:r>
              <a:rPr lang="en-US" altLang="ko-KR" sz="1300" spc="-40">
                <a:latin typeface="+mn-ea"/>
              </a:rPr>
              <a:t>,</a:t>
            </a:r>
            <a:r>
              <a:rPr lang="ko-KR" altLang="en-US" sz="1300" spc="-40">
                <a:latin typeface="+mn-ea"/>
              </a:rPr>
              <a:t> 기능 정의 지속 업데이트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그래프 등 교육내용을 반영해 요구사항과 구현 방향 지속 개선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3B9E35-C842-441D-B20A-3172A92BE66B}"/>
              </a:ext>
            </a:extLst>
          </p:cNvPr>
          <p:cNvSpPr txBox="1"/>
          <p:nvPr/>
        </p:nvSpPr>
        <p:spPr>
          <a:xfrm>
            <a:off x="8792918" y="283028"/>
            <a:ext cx="1091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chemeClr val="bg1"/>
                </a:solidFill>
                <a:latin typeface="+mj-ea"/>
                <a:ea typeface="+mj-ea"/>
              </a:rPr>
              <a:t>(2/3)</a:t>
            </a:r>
            <a:endParaRPr lang="ko-KR" altLang="en-US" sz="1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586198D4-A860-44F6-B729-A6BE3904A61A}"/>
              </a:ext>
            </a:extLst>
          </p:cNvPr>
          <p:cNvSpPr/>
          <p:nvPr/>
        </p:nvSpPr>
        <p:spPr>
          <a:xfrm>
            <a:off x="398363" y="2347201"/>
            <a:ext cx="9507637" cy="1233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i="0" u="none" strike="noStrike" kern="1200" cap="none" spc="-4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  <a:sym typeface="Wingdings" pitchFamily="2" charset="2"/>
              </a:rPr>
              <a:t>○ </a:t>
            </a:r>
            <a:r>
              <a:rPr lang="ko-KR" altLang="en-US" sz="1300">
                <a:latin typeface="+mn-ea"/>
              </a:rPr>
              <a:t>여러 부서의 협업이 필요하거나 판단하기 까다로운 질의를 선별하여 서비스 안내 결과를 반복적으로 확인</a:t>
            </a:r>
            <a:endParaRPr lang="en-US" altLang="ko-KR" sz="1300" spc="-40">
              <a:solidFill>
                <a:prstClr val="black"/>
              </a:solidFill>
              <a:latin typeface="+mn-ea"/>
              <a:sym typeface="Wingdings" pitchFamily="2" charset="2"/>
            </a:endParaRPr>
          </a:p>
          <a:p>
            <a:pPr marL="0" marR="0" lvl="0" indent="0" algn="l" defTabSz="914400" rtl="0" eaLnBrk="1" fontAlgn="auto" latinLnBrk="1" hangingPunct="1">
              <a:lnSpc>
                <a:spcPts val="2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i="0" u="none" strike="noStrike" kern="1200" cap="none" spc="-4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  <a:sym typeface="Wingdings" pitchFamily="2" charset="2"/>
              </a:rPr>
              <a:t>   - </a:t>
            </a:r>
            <a:r>
              <a:rPr lang="ko-KR" altLang="en-US" sz="1300">
                <a:latin typeface="+mn-ea"/>
              </a:rPr>
              <a:t>사용자가 실제로 질문할 만한 대표 질의 검토</a:t>
            </a:r>
            <a:endParaRPr lang="en-US" altLang="ko-KR" sz="1300">
              <a:latin typeface="+mn-ea"/>
            </a:endParaRPr>
          </a:p>
          <a:p>
            <a:pPr marL="0" marR="0" lvl="0" indent="0" algn="l" defTabSz="914400" rtl="0" eaLnBrk="1" fontAlgn="auto" latinLnBrk="1" hangingPunct="1">
              <a:lnSpc>
                <a:spcPts val="2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i="0" u="none" strike="noStrike" kern="1200" cap="none" spc="-4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  <a:sym typeface="Wingdings" pitchFamily="2" charset="2"/>
              </a:rPr>
              <a:t>   - </a:t>
            </a:r>
            <a:r>
              <a:rPr lang="ko-KR" altLang="en-US" sz="1300">
                <a:latin typeface="+mn-ea"/>
              </a:rPr>
              <a:t>질의에 적합한 절차와 관련 지침이 제공되는지 확인</a:t>
            </a:r>
            <a:endParaRPr lang="en-US" altLang="ko-KR" sz="1300">
              <a:latin typeface="+mn-ea"/>
            </a:endParaRPr>
          </a:p>
          <a:p>
            <a:pPr marL="0" marR="0" lvl="0" indent="0" algn="l" defTabSz="914400" rtl="0" eaLnBrk="1" fontAlgn="auto" latinLnBrk="1" hangingPunct="1">
              <a:lnSpc>
                <a:spcPts val="2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300" spc="-40">
                <a:solidFill>
                  <a:prstClr val="black"/>
                </a:solidFill>
                <a:latin typeface="+mn-ea"/>
                <a:sym typeface="Wingdings" pitchFamily="2" charset="2"/>
              </a:rPr>
              <a:t>   - </a:t>
            </a:r>
            <a:r>
              <a:rPr lang="ko-KR" altLang="en-US" sz="1300">
                <a:latin typeface="+mn-ea"/>
              </a:rPr>
              <a:t>질의</a:t>
            </a:r>
            <a:r>
              <a:rPr lang="en-US" altLang="ko-KR" sz="1300">
                <a:latin typeface="+mn-ea"/>
              </a:rPr>
              <a:t>, </a:t>
            </a:r>
            <a:r>
              <a:rPr lang="ko-KR" altLang="en-US" sz="1300">
                <a:latin typeface="+mn-ea"/>
              </a:rPr>
              <a:t>결과 확인</a:t>
            </a:r>
            <a:r>
              <a:rPr lang="en-US" altLang="ko-KR" sz="1300">
                <a:latin typeface="+mn-ea"/>
              </a:rPr>
              <a:t>, </a:t>
            </a:r>
            <a:r>
              <a:rPr lang="ko-KR" altLang="en-US" sz="1300">
                <a:latin typeface="+mn-ea"/>
              </a:rPr>
              <a:t>데이터 보완 과정을 반복하며 서비스 정확도 개선</a:t>
            </a:r>
            <a:endParaRPr lang="en-US" altLang="ko-KR" sz="1300" spc="-40">
              <a:solidFill>
                <a:prstClr val="black"/>
              </a:solidFill>
              <a:latin typeface="+mn-ea"/>
              <a:sym typeface="Wingdings" pitchFamily="2" charset="2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865FB259-F052-493A-AF0A-320E267E0258}"/>
              </a:ext>
            </a:extLst>
          </p:cNvPr>
          <p:cNvSpPr/>
          <p:nvPr/>
        </p:nvSpPr>
        <p:spPr>
          <a:xfrm>
            <a:off x="398363" y="3958282"/>
            <a:ext cx="9507637" cy="387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-4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  <a:sym typeface="Wingdings" pitchFamily="2" charset="2"/>
              </a:rPr>
              <a:t>○ </a:t>
            </a:r>
            <a:r>
              <a:rPr kumimoji="0" lang="en-US" altLang="ko-KR" sz="1300" b="0" i="0" u="none" strike="noStrike" kern="1200" cap="none" spc="-4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  <a:sym typeface="Wingdings" pitchFamily="2" charset="2"/>
              </a:rPr>
              <a:t>PRD </a:t>
            </a:r>
            <a:r>
              <a:rPr kumimoji="0" lang="ko-KR" altLang="en-US" sz="1300" b="0" i="0" u="none" strike="noStrike" kern="1200" cap="none" spc="-4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  <a:sym typeface="Wingdings" pitchFamily="2" charset="2"/>
              </a:rPr>
              <a:t>작성</a:t>
            </a:r>
            <a:r>
              <a:rPr kumimoji="0" lang="en-US" altLang="ko-KR" sz="1300" b="0" i="0" u="none" strike="noStrike" kern="1200" cap="none" spc="-4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  <a:sym typeface="Wingdings" pitchFamily="2" charset="2"/>
              </a:rPr>
              <a:t>, </a:t>
            </a:r>
            <a:r>
              <a:rPr lang="ko-KR" altLang="en-US" sz="1300">
                <a:latin typeface="+mn-ea"/>
              </a:rPr>
              <a:t>기능 구현</a:t>
            </a:r>
            <a:r>
              <a:rPr lang="en-US" altLang="ko-KR" sz="1300">
                <a:latin typeface="+mn-ea"/>
              </a:rPr>
              <a:t>, </a:t>
            </a:r>
            <a:r>
              <a:rPr lang="ko-KR" altLang="en-US" sz="1300">
                <a:latin typeface="+mn-ea"/>
              </a:rPr>
              <a:t>변경 이력 관리와 오류 해결을 반복하며 실제 웹서비스 개발 과정을 경험</a:t>
            </a:r>
            <a:endParaRPr lang="en-US" altLang="ko-KR" sz="1300" spc="-40">
              <a:solidFill>
                <a:prstClr val="black"/>
              </a:solidFill>
              <a:latin typeface="+mn-ea"/>
              <a:sym typeface="Wingdings" pitchFamily="2" charset="2"/>
            </a:endParaRP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6D9147BF-9859-4CDF-95B7-9D5BC0AB31E8}"/>
              </a:ext>
            </a:extLst>
          </p:cNvPr>
          <p:cNvSpPr>
            <a:spLocks noGrp="1"/>
          </p:cNvSpPr>
          <p:nvPr/>
        </p:nvSpPr>
        <p:spPr>
          <a:xfrm>
            <a:off x="556286" y="4377785"/>
            <a:ext cx="1600429" cy="639107"/>
          </a:xfrm>
          <a:prstGeom prst="roundRect">
            <a:avLst>
              <a:gd name="adj" fmla="val 18386"/>
            </a:avLst>
          </a:prstGeom>
          <a:noFill/>
          <a:ln w="12700">
            <a:solidFill>
              <a:srgbClr val="E4DAF0"/>
            </a:solidFill>
            <a:prstDash val="solid"/>
          </a:ln>
        </p:spPr>
        <p:txBody>
          <a:bodyPr anchor="ctr" anchorCtr="0"/>
          <a:lstStyle/>
          <a:p>
            <a:r>
              <a:rPr lang="en-US" altLang="ko-KR" sz="1400" b="1"/>
              <a:t>                 CODEX</a:t>
            </a:r>
            <a:endParaRPr lang="ko-KR" altLang="en-US" sz="1400" b="1"/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81E2B5B8-9023-42AE-9367-19533F1184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625" y="4462483"/>
            <a:ext cx="516037" cy="469710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12DDE7C9-BD9F-4B3F-8BEA-115F9F185C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0133" y="4401716"/>
            <a:ext cx="1350499" cy="808874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A5F1DE8C-052C-4FD3-94A6-E8E93D826F22}"/>
              </a:ext>
            </a:extLst>
          </p:cNvPr>
          <p:cNvSpPr txBox="1"/>
          <p:nvPr/>
        </p:nvSpPr>
        <p:spPr>
          <a:xfrm>
            <a:off x="2219662" y="5237422"/>
            <a:ext cx="4489402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VS</a:t>
            </a:r>
            <a:r>
              <a:rPr lang="ko-KR" altLang="en-US" sz="1300" spc="-40">
                <a:latin typeface="+mn-ea"/>
              </a:rPr>
              <a:t> </a:t>
            </a:r>
            <a:r>
              <a:rPr lang="en-US" altLang="ko-KR" sz="1300" spc="-40">
                <a:latin typeface="+mn-ea"/>
              </a:rPr>
              <a:t>Code</a:t>
            </a:r>
            <a:r>
              <a:rPr lang="ko-KR" altLang="en-US" sz="1300" spc="-40">
                <a:latin typeface="+mn-ea"/>
              </a:rPr>
              <a:t>에서 가상환경</a:t>
            </a:r>
            <a:r>
              <a:rPr lang="en-US" altLang="ko-KR" sz="1300" spc="-40">
                <a:latin typeface="+mn-ea"/>
              </a:rPr>
              <a:t>, </a:t>
            </a:r>
            <a:r>
              <a:rPr lang="ko-KR" altLang="en-US" sz="1300" spc="-40">
                <a:latin typeface="+mn-ea"/>
              </a:rPr>
              <a:t>환경변수</a:t>
            </a:r>
            <a:r>
              <a:rPr lang="en-US" altLang="ko-KR" sz="1300" spc="-40">
                <a:latin typeface="+mn-ea"/>
              </a:rPr>
              <a:t>(.env) </a:t>
            </a:r>
            <a:r>
              <a:rPr lang="ko-KR" altLang="en-US" sz="1300" spc="-40">
                <a:latin typeface="+mn-ea"/>
              </a:rPr>
              <a:t>반영 개발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라이브러리와 </a:t>
            </a:r>
            <a:r>
              <a:rPr lang="en-US" altLang="ko-KR" sz="1300" spc="-40">
                <a:latin typeface="+mn-ea"/>
              </a:rPr>
              <a:t>AI </a:t>
            </a:r>
            <a:r>
              <a:rPr lang="ko-KR" altLang="en-US" sz="1300" spc="-40">
                <a:latin typeface="+mn-ea"/>
              </a:rPr>
              <a:t>도구를 활용해</a:t>
            </a:r>
            <a:r>
              <a:rPr lang="en-US" altLang="ko-KR" sz="1300" spc="-40">
                <a:latin typeface="+mn-ea"/>
              </a:rPr>
              <a:t>, </a:t>
            </a:r>
            <a:r>
              <a:rPr lang="ko-KR" altLang="en-US" sz="1300" spc="-40">
                <a:latin typeface="+mn-ea"/>
              </a:rPr>
              <a:t>메일링 등 기능 확장</a:t>
            </a:r>
            <a:endParaRPr lang="en-US" altLang="ko-KR" sz="1300" spc="-40">
              <a:latin typeface="+mn-ea"/>
            </a:endParaRP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8277C910-F0F3-491C-AA78-346F8C5A4CE8}"/>
              </a:ext>
            </a:extLst>
          </p:cNvPr>
          <p:cNvSpPr>
            <a:spLocks noGrp="1"/>
          </p:cNvSpPr>
          <p:nvPr/>
        </p:nvSpPr>
        <p:spPr>
          <a:xfrm>
            <a:off x="556286" y="5183326"/>
            <a:ext cx="1600429" cy="639107"/>
          </a:xfrm>
          <a:prstGeom prst="roundRect">
            <a:avLst>
              <a:gd name="adj" fmla="val 18386"/>
            </a:avLst>
          </a:prstGeom>
          <a:noFill/>
          <a:ln w="12700">
            <a:solidFill>
              <a:srgbClr val="E4DAF0"/>
            </a:solidFill>
            <a:prstDash val="solid"/>
          </a:ln>
        </p:spPr>
        <p:txBody>
          <a:bodyPr anchor="ctr" anchorCtr="0"/>
          <a:lstStyle/>
          <a:p>
            <a:endParaRPr lang="ko-KR" altLang="en-US" sz="1400" b="1"/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FA76FEB8-6F4B-4BEE-97E3-3853CF77E5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830" y="5303790"/>
            <a:ext cx="1548366" cy="387239"/>
          </a:xfrm>
          <a:prstGeom prst="rect">
            <a:avLst/>
          </a:prstGeom>
        </p:spPr>
      </p:pic>
      <p:pic>
        <p:nvPicPr>
          <p:cNvPr id="69" name="그림 68">
            <a:extLst>
              <a:ext uri="{FF2B5EF4-FFF2-40B4-BE49-F238E27FC236}">
                <a16:creationId xmlns:a16="http://schemas.microsoft.com/office/drawing/2014/main" id="{32B0F490-66DB-49D6-901C-B03820A703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0133" y="5568813"/>
            <a:ext cx="2950029" cy="1138218"/>
          </a:xfrm>
          <a:prstGeom prst="rect">
            <a:avLst/>
          </a:prstGeom>
        </p:spPr>
      </p:pic>
      <p:pic>
        <p:nvPicPr>
          <p:cNvPr id="66" name="그림 65">
            <a:extLst>
              <a:ext uri="{FF2B5EF4-FFF2-40B4-BE49-F238E27FC236}">
                <a16:creationId xmlns:a16="http://schemas.microsoft.com/office/drawing/2014/main" id="{C5CCB510-31B3-4CAE-BEAF-3EEDDF2D72CA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b="25518"/>
          <a:stretch/>
        </p:blipFill>
        <p:spPr>
          <a:xfrm>
            <a:off x="8042874" y="4918963"/>
            <a:ext cx="1336503" cy="794758"/>
          </a:xfrm>
          <a:prstGeom prst="rect">
            <a:avLst/>
          </a:prstGeom>
        </p:spPr>
      </p:pic>
      <p:pic>
        <p:nvPicPr>
          <p:cNvPr id="71" name="그림 70">
            <a:extLst>
              <a:ext uri="{FF2B5EF4-FFF2-40B4-BE49-F238E27FC236}">
                <a16:creationId xmlns:a16="http://schemas.microsoft.com/office/drawing/2014/main" id="{1AC670EF-7932-41AC-912B-95890CCFBD70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18263" t="14117"/>
          <a:stretch/>
        </p:blipFill>
        <p:spPr>
          <a:xfrm>
            <a:off x="622348" y="5991525"/>
            <a:ext cx="602832" cy="611567"/>
          </a:xfrm>
          <a:prstGeom prst="rect">
            <a:avLst/>
          </a:prstGeom>
        </p:spPr>
      </p:pic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139D9BE0-CC05-4365-A6CD-2C70A42FD3C3}"/>
              </a:ext>
            </a:extLst>
          </p:cNvPr>
          <p:cNvSpPr>
            <a:spLocks noGrp="1"/>
          </p:cNvSpPr>
          <p:nvPr/>
        </p:nvSpPr>
        <p:spPr>
          <a:xfrm>
            <a:off x="556286" y="5979205"/>
            <a:ext cx="1600429" cy="639107"/>
          </a:xfrm>
          <a:prstGeom prst="roundRect">
            <a:avLst>
              <a:gd name="adj" fmla="val 18386"/>
            </a:avLst>
          </a:prstGeom>
          <a:noFill/>
          <a:ln w="12700">
            <a:solidFill>
              <a:srgbClr val="E4DAF0"/>
            </a:solidFill>
            <a:prstDash val="solid"/>
          </a:ln>
        </p:spPr>
        <p:txBody>
          <a:bodyPr anchor="ctr" anchorCtr="0"/>
          <a:lstStyle/>
          <a:p>
            <a:r>
              <a:rPr lang="en-US" altLang="ko-KR" sz="1400" b="1"/>
              <a:t>                 GitHub</a:t>
            </a:r>
            <a:endParaRPr lang="ko-KR" altLang="en-US" sz="1400" b="1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37BB53F-787D-422B-B012-A00483FC061C}"/>
              </a:ext>
            </a:extLst>
          </p:cNvPr>
          <p:cNvSpPr txBox="1"/>
          <p:nvPr/>
        </p:nvSpPr>
        <p:spPr>
          <a:xfrm>
            <a:off x="2242121" y="5941194"/>
            <a:ext cx="4728201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Git</a:t>
            </a:r>
            <a:r>
              <a:rPr lang="ko-KR" altLang="en-US" sz="1300" spc="-40">
                <a:latin typeface="+mn-ea"/>
              </a:rPr>
              <a:t>과 </a:t>
            </a:r>
            <a:r>
              <a:rPr lang="en-US" altLang="ko-KR" sz="1300" spc="-40">
                <a:latin typeface="+mn-ea"/>
              </a:rPr>
              <a:t>GitHub</a:t>
            </a:r>
            <a:r>
              <a:rPr lang="ko-KR" altLang="en-US" sz="1300" spc="-40">
                <a:latin typeface="+mn-ea"/>
              </a:rPr>
              <a:t>를 활용해 변경사항과 개발 이력 관리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구현 오류와 </a:t>
            </a:r>
            <a:r>
              <a:rPr lang="en-US" altLang="ko-KR" sz="1300" spc="-40">
                <a:latin typeface="+mn-ea"/>
              </a:rPr>
              <a:t>Git </a:t>
            </a:r>
            <a:r>
              <a:rPr lang="ko-KR" altLang="en-US" sz="1300" spc="-40">
                <a:latin typeface="+mn-ea"/>
              </a:rPr>
              <a:t>사용의 어려움을 해결하며 </a:t>
            </a:r>
            <a:endParaRPr lang="en-US" altLang="ko-KR" sz="1300" spc="-40">
              <a:latin typeface="+mn-ea"/>
            </a:endParaRPr>
          </a:p>
          <a:p>
            <a:pPr>
              <a:spcBef>
                <a:spcPts val="300"/>
              </a:spcBef>
            </a:pPr>
            <a:r>
              <a:rPr lang="en-US" altLang="ko-KR" sz="1300" spc="-40">
                <a:latin typeface="+mn-ea"/>
              </a:rPr>
              <a:t>  </a:t>
            </a:r>
            <a:r>
              <a:rPr lang="ko-KR" altLang="en-US" sz="1300" spc="-40">
                <a:latin typeface="+mn-ea"/>
              </a:rPr>
              <a:t>웹개발 방식과 개념 학습</a:t>
            </a:r>
            <a:endParaRPr lang="en-US" altLang="ko-KR" sz="1300" spc="-40">
              <a:latin typeface="+mn-ea"/>
            </a:endParaRPr>
          </a:p>
        </p:txBody>
      </p: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C87D8F54-4495-444B-9584-2D548D93089D}"/>
              </a:ext>
            </a:extLst>
          </p:cNvPr>
          <p:cNvCxnSpPr>
            <a:cxnSpLocks/>
          </p:cNvCxnSpPr>
          <p:nvPr/>
        </p:nvCxnSpPr>
        <p:spPr>
          <a:xfrm flipV="1">
            <a:off x="2261449" y="5055271"/>
            <a:ext cx="4100053" cy="53806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8B851282-F007-4492-BD3A-010961ABD1F2}"/>
              </a:ext>
            </a:extLst>
          </p:cNvPr>
          <p:cNvCxnSpPr>
            <a:cxnSpLocks/>
          </p:cNvCxnSpPr>
          <p:nvPr/>
        </p:nvCxnSpPr>
        <p:spPr>
          <a:xfrm flipV="1">
            <a:off x="2261449" y="5849088"/>
            <a:ext cx="4100053" cy="53806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99513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565F164-0C45-4D87-8583-266FB8891880}"/>
              </a:ext>
            </a:extLst>
          </p:cNvPr>
          <p:cNvSpPr txBox="1"/>
          <p:nvPr/>
        </p:nvSpPr>
        <p:spPr>
          <a:xfrm>
            <a:off x="181848" y="118834"/>
            <a:ext cx="8281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웹서비스 구현 결과 및 향후 계획</a:t>
            </a:r>
            <a:endParaRPr kumimoji="0" lang="ko-KR" altLang="en-US" sz="20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8989D12-EF7E-4B26-A8A4-47703D404C10}"/>
              </a:ext>
            </a:extLst>
          </p:cNvPr>
          <p:cNvSpPr/>
          <p:nvPr/>
        </p:nvSpPr>
        <p:spPr>
          <a:xfrm>
            <a:off x="556286" y="709192"/>
            <a:ext cx="7886103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『</a:t>
            </a:r>
            <a:r>
              <a:rPr lang="ko-KR" altLang="en-US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업무 지침 네비게이터</a:t>
            </a:r>
            <a:r>
              <a:rPr lang="en-US" altLang="ko-KR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』 </a:t>
            </a:r>
            <a:r>
              <a:rPr lang="ko-KR" altLang="en-US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주요 기능 구현 결과</a:t>
            </a:r>
            <a:endParaRPr kumimoji="0" lang="en-US" altLang="ko-KR" sz="1400" b="0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  <a:sym typeface="Wingdings" pitchFamily="2" charset="2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26A7927B-1FC5-4002-88D0-9247A5AECD7B}"/>
              </a:ext>
            </a:extLst>
          </p:cNvPr>
          <p:cNvGrpSpPr/>
          <p:nvPr/>
        </p:nvGrpSpPr>
        <p:grpSpPr>
          <a:xfrm>
            <a:off x="310399" y="819181"/>
            <a:ext cx="194324" cy="180020"/>
            <a:chOff x="416496" y="3577457"/>
            <a:chExt cx="194324" cy="180020"/>
          </a:xfrm>
        </p:grpSpPr>
        <p:sp>
          <p:nvSpPr>
            <p:cNvPr id="9" name="모서리가 둥근 직사각형 320">
              <a:extLst>
                <a:ext uri="{FF2B5EF4-FFF2-40B4-BE49-F238E27FC236}">
                  <a16:creationId xmlns:a16="http://schemas.microsoft.com/office/drawing/2014/main" id="{64991931-304B-4A79-8ABF-F87172C315CC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10" name="그림 9" descr="7.png">
              <a:extLst>
                <a:ext uri="{FF2B5EF4-FFF2-40B4-BE49-F238E27FC236}">
                  <a16:creationId xmlns:a16="http://schemas.microsoft.com/office/drawing/2014/main" id="{0EFF1F02-3E3B-4082-8B1A-A822DE53A21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AF15DD7A-DA56-4E27-B8B9-99D16B1EAAD7}"/>
              </a:ext>
            </a:extLst>
          </p:cNvPr>
          <p:cNvSpPr/>
          <p:nvPr/>
        </p:nvSpPr>
        <p:spPr>
          <a:xfrm>
            <a:off x="556286" y="3764791"/>
            <a:ext cx="9034370" cy="4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향후 계획</a:t>
            </a:r>
            <a:r>
              <a:rPr lang="en-US" altLang="ko-KR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:</a:t>
            </a:r>
            <a:r>
              <a:rPr lang="en-US" altLang="ko-KR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ko-KR" altLang="en-US" sz="1400"/>
              <a:t>데이터 보완과 현업 검증을 거쳐 적용 범위를 단계적으로 확대</a:t>
            </a:r>
            <a:endParaRPr kumimoji="0" lang="en-US" altLang="ko-KR" sz="1400" b="1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  <a:sym typeface="Wingdings" pitchFamily="2" charset="2"/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29476FCD-9DE7-46DD-B543-6C57D2954689}"/>
              </a:ext>
            </a:extLst>
          </p:cNvPr>
          <p:cNvGrpSpPr/>
          <p:nvPr/>
        </p:nvGrpSpPr>
        <p:grpSpPr>
          <a:xfrm>
            <a:off x="310399" y="3874780"/>
            <a:ext cx="194324" cy="180020"/>
            <a:chOff x="416496" y="3577457"/>
            <a:chExt cx="194324" cy="180020"/>
          </a:xfrm>
        </p:grpSpPr>
        <p:sp>
          <p:nvSpPr>
            <p:cNvPr id="49" name="모서리가 둥근 직사각형 320">
              <a:extLst>
                <a:ext uri="{FF2B5EF4-FFF2-40B4-BE49-F238E27FC236}">
                  <a16:creationId xmlns:a16="http://schemas.microsoft.com/office/drawing/2014/main" id="{E9BE25AB-1104-4DD5-AC3E-6DDBF8D648F9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51" name="그림 50" descr="7.png">
              <a:extLst>
                <a:ext uri="{FF2B5EF4-FFF2-40B4-BE49-F238E27FC236}">
                  <a16:creationId xmlns:a16="http://schemas.microsoft.com/office/drawing/2014/main" id="{555C5E72-6381-4E1B-BA5E-ACD3D13B77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A3B9E35-C842-441D-B20A-3172A92BE66B}"/>
              </a:ext>
            </a:extLst>
          </p:cNvPr>
          <p:cNvSpPr txBox="1"/>
          <p:nvPr/>
        </p:nvSpPr>
        <p:spPr>
          <a:xfrm>
            <a:off x="8792918" y="283028"/>
            <a:ext cx="1091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chemeClr val="bg1"/>
                </a:solidFill>
                <a:latin typeface="+mj-ea"/>
                <a:ea typeface="+mj-ea"/>
              </a:rPr>
              <a:t>(3/3)</a:t>
            </a:r>
            <a:endParaRPr lang="ko-KR" altLang="en-US" sz="1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C8F4C275-55DF-4DC5-852A-608F7DBE5745}"/>
              </a:ext>
            </a:extLst>
          </p:cNvPr>
          <p:cNvSpPr/>
          <p:nvPr/>
        </p:nvSpPr>
        <p:spPr>
          <a:xfrm>
            <a:off x="3955701" y="1357691"/>
            <a:ext cx="1657198" cy="406475"/>
          </a:xfrm>
          <a:prstGeom prst="roundRect">
            <a:avLst/>
          </a:prstGeom>
          <a:solidFill>
            <a:srgbClr val="0F64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latin typeface="+mn-ea"/>
              </a:rPr>
              <a:t>1.</a:t>
            </a:r>
            <a:r>
              <a:rPr lang="ko-KR" altLang="en-US" sz="1500" b="1">
                <a:latin typeface="+mn-ea"/>
              </a:rPr>
              <a:t>업무 입력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56A11B87-E0EF-4F75-85FD-7A41F04B0EE7}"/>
              </a:ext>
            </a:extLst>
          </p:cNvPr>
          <p:cNvSpPr/>
          <p:nvPr/>
        </p:nvSpPr>
        <p:spPr>
          <a:xfrm>
            <a:off x="3955701" y="2163234"/>
            <a:ext cx="1657198" cy="406475"/>
          </a:xfrm>
          <a:prstGeom prst="roundRect">
            <a:avLst/>
          </a:prstGeom>
          <a:solidFill>
            <a:srgbClr val="238B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latin typeface="+mn-ea"/>
              </a:rPr>
              <a:t>2.</a:t>
            </a:r>
            <a:r>
              <a:rPr lang="ko-KR" altLang="en-US" sz="1500" b="1">
                <a:latin typeface="+mn-ea"/>
              </a:rPr>
              <a:t>절차〮부서 확인</a:t>
            </a: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D78C5C1B-19F2-4986-8126-18574CDCA3B8}"/>
              </a:ext>
            </a:extLst>
          </p:cNvPr>
          <p:cNvSpPr/>
          <p:nvPr/>
        </p:nvSpPr>
        <p:spPr>
          <a:xfrm>
            <a:off x="3955702" y="3023829"/>
            <a:ext cx="1657197" cy="406475"/>
          </a:xfrm>
          <a:prstGeom prst="roundRect">
            <a:avLst/>
          </a:prstGeom>
          <a:solidFill>
            <a:srgbClr val="C56A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latin typeface="+mn-ea"/>
              </a:rPr>
              <a:t>3.</a:t>
            </a:r>
            <a:r>
              <a:rPr lang="ko-KR" altLang="en-US" sz="1500" b="1">
                <a:latin typeface="+mn-ea"/>
              </a:rPr>
              <a:t>협업 요청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A6396DB5-C4C0-4342-B110-E6F18BC28618}"/>
              </a:ext>
            </a:extLst>
          </p:cNvPr>
          <p:cNvSpPr/>
          <p:nvPr/>
        </p:nvSpPr>
        <p:spPr>
          <a:xfrm>
            <a:off x="380299" y="6132995"/>
            <a:ext cx="9289581" cy="505290"/>
          </a:xfrm>
          <a:prstGeom prst="rect">
            <a:avLst/>
          </a:prstGeom>
          <a:pattFill prst="pct2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500" b="1">
                <a:solidFill>
                  <a:schemeClr val="tx1"/>
                </a:solidFill>
              </a:rPr>
              <a:t>             </a:t>
            </a:r>
            <a:r>
              <a:rPr lang="ko-KR" altLang="en-US" sz="1500" b="1" spc="-40">
                <a:solidFill>
                  <a:schemeClr val="tx1"/>
                </a:solidFill>
              </a:rPr>
              <a:t>실제 업무 검증을 바탕으로 </a:t>
            </a:r>
            <a:r>
              <a:rPr lang="ko-KR" altLang="en-US" sz="1500" b="1">
                <a:solidFill>
                  <a:schemeClr val="tx1"/>
                </a:solidFill>
              </a:rPr>
              <a:t>서비스의 완성도를 높이고</a:t>
            </a:r>
            <a:r>
              <a:rPr lang="en-US" altLang="ko-KR" sz="1500" b="1">
                <a:solidFill>
                  <a:schemeClr val="tx1"/>
                </a:solidFill>
              </a:rPr>
              <a:t>, </a:t>
            </a:r>
            <a:r>
              <a:rPr lang="ko-KR" altLang="en-US" sz="1500" b="1">
                <a:solidFill>
                  <a:schemeClr val="tx1"/>
                </a:solidFill>
              </a:rPr>
              <a:t>효과가 확인된 업무부터 적용 범위를 확대</a:t>
            </a:r>
            <a:endParaRPr lang="ko-KR" altLang="en-US" sz="1500" b="1" spc="-4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F739FA52-0BC8-41ED-96A4-C21CDA0939AE}"/>
              </a:ext>
            </a:extLst>
          </p:cNvPr>
          <p:cNvGrpSpPr/>
          <p:nvPr/>
        </p:nvGrpSpPr>
        <p:grpSpPr>
          <a:xfrm>
            <a:off x="388532" y="6169914"/>
            <a:ext cx="511817" cy="431452"/>
            <a:chOff x="-895525" y="3274733"/>
            <a:chExt cx="619300" cy="474597"/>
          </a:xfrm>
        </p:grpSpPr>
        <p:sp>
          <p:nvSpPr>
            <p:cNvPr id="61" name="타원 60">
              <a:extLst>
                <a:ext uri="{FF2B5EF4-FFF2-40B4-BE49-F238E27FC236}">
                  <a16:creationId xmlns:a16="http://schemas.microsoft.com/office/drawing/2014/main" id="{FE250C78-B1EC-4C84-B61C-88D384CA99F2}"/>
                </a:ext>
              </a:extLst>
            </p:cNvPr>
            <p:cNvSpPr/>
            <p:nvPr/>
          </p:nvSpPr>
          <p:spPr>
            <a:xfrm>
              <a:off x="-781050" y="3274733"/>
              <a:ext cx="504825" cy="47459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화살표: 오른쪽 62">
              <a:extLst>
                <a:ext uri="{FF2B5EF4-FFF2-40B4-BE49-F238E27FC236}">
                  <a16:creationId xmlns:a16="http://schemas.microsoft.com/office/drawing/2014/main" id="{665DD529-1989-4A76-A5A4-B68BE9A4FCF2}"/>
                </a:ext>
              </a:extLst>
            </p:cNvPr>
            <p:cNvSpPr/>
            <p:nvPr/>
          </p:nvSpPr>
          <p:spPr>
            <a:xfrm>
              <a:off x="-895525" y="3297066"/>
              <a:ext cx="616600" cy="429929"/>
            </a:xfrm>
            <a:prstGeom prst="rightArrow">
              <a:avLst/>
            </a:prstGeom>
            <a:pattFill prst="pct25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568F03F6-3EDD-4041-A6AB-41C6A715AB8A}"/>
              </a:ext>
            </a:extLst>
          </p:cNvPr>
          <p:cNvSpPr txBox="1"/>
          <p:nvPr/>
        </p:nvSpPr>
        <p:spPr>
          <a:xfrm>
            <a:off x="5663141" y="1295471"/>
            <a:ext cx="4221088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>
                <a:latin typeface="+mn-ea"/>
              </a:rPr>
              <a:t> </a:t>
            </a:r>
            <a:r>
              <a:rPr lang="ko-KR" altLang="en-US" sz="1300">
                <a:latin typeface="+mn-ea"/>
              </a:rPr>
              <a:t>업무 내용을 자연어로 입력</a:t>
            </a:r>
            <a:endParaRPr lang="en-US" altLang="ko-KR" sz="130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>
                <a:latin typeface="+mn-ea"/>
              </a:rPr>
              <a:t> </a:t>
            </a:r>
            <a:r>
              <a:rPr lang="ko-KR" altLang="en-US" sz="1300">
                <a:latin typeface="+mn-ea"/>
              </a:rPr>
              <a:t>사업장과 업무 유형 선택 </a:t>
            </a:r>
            <a:r>
              <a:rPr lang="en-US" altLang="ko-KR" sz="1300">
                <a:latin typeface="+mn-ea"/>
              </a:rPr>
              <a:t>(</a:t>
            </a:r>
            <a:r>
              <a:rPr lang="ko-KR" altLang="en-US" sz="1300">
                <a:latin typeface="+mn-ea"/>
              </a:rPr>
              <a:t>모르는 경우</a:t>
            </a:r>
            <a:r>
              <a:rPr lang="en-US" altLang="ko-KR" sz="1300">
                <a:latin typeface="+mn-ea"/>
              </a:rPr>
              <a:t>, </a:t>
            </a:r>
            <a:r>
              <a:rPr lang="ko-KR" altLang="en-US" sz="1300">
                <a:latin typeface="+mn-ea"/>
              </a:rPr>
              <a:t>미선택 가능</a:t>
            </a:r>
            <a:r>
              <a:rPr lang="en-US" altLang="ko-KR" sz="1300">
                <a:latin typeface="+mn-ea"/>
              </a:rPr>
              <a:t>)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D8A27D0-27B7-4B5C-947D-CAF965FBCC12}"/>
              </a:ext>
            </a:extLst>
          </p:cNvPr>
          <p:cNvSpPr txBox="1"/>
          <p:nvPr/>
        </p:nvSpPr>
        <p:spPr>
          <a:xfrm>
            <a:off x="5663141" y="2101014"/>
            <a:ext cx="4101344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>
                <a:latin typeface="+mn-ea"/>
              </a:rPr>
              <a:t> </a:t>
            </a:r>
            <a:r>
              <a:rPr lang="ko-KR" altLang="en-US" sz="1300">
                <a:latin typeface="+mn-ea"/>
              </a:rPr>
              <a:t>관련 규정 해석 →</a:t>
            </a:r>
            <a:r>
              <a:rPr lang="en-US" altLang="ko-KR" sz="1300">
                <a:latin typeface="+mn-ea"/>
              </a:rPr>
              <a:t> </a:t>
            </a:r>
            <a:r>
              <a:rPr lang="ko-KR" altLang="en-US" sz="1300">
                <a:latin typeface="+mn-ea"/>
              </a:rPr>
              <a:t>업무 프로세스 안내</a:t>
            </a:r>
            <a:endParaRPr lang="en-US" altLang="ko-KR" sz="130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>
                <a:latin typeface="+mn-ea"/>
              </a:rPr>
              <a:t> </a:t>
            </a:r>
            <a:r>
              <a:rPr lang="ko-KR" altLang="en-US" sz="1300">
                <a:latin typeface="+mn-ea"/>
              </a:rPr>
              <a:t>주관</a:t>
            </a:r>
            <a:r>
              <a:rPr lang="en-US" altLang="ko-KR" sz="1300">
                <a:latin typeface="+mn-ea"/>
              </a:rPr>
              <a:t>(</a:t>
            </a:r>
            <a:r>
              <a:rPr lang="ko-KR" altLang="en-US" sz="1300">
                <a:latin typeface="+mn-ea"/>
              </a:rPr>
              <a:t>협업</a:t>
            </a:r>
            <a:r>
              <a:rPr lang="en-US" altLang="ko-KR" sz="1300">
                <a:latin typeface="+mn-ea"/>
              </a:rPr>
              <a:t>) </a:t>
            </a:r>
            <a:r>
              <a:rPr lang="ko-KR" altLang="en-US" sz="1300">
                <a:latin typeface="+mn-ea"/>
              </a:rPr>
              <a:t>부서 세부내용 확인 → 요청부서 선택</a:t>
            </a:r>
            <a:endParaRPr lang="en-US" altLang="ko-KR" sz="1300">
              <a:latin typeface="+mn-ea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5AE129A-E645-4A4F-B592-315F74315AC7}"/>
              </a:ext>
            </a:extLst>
          </p:cNvPr>
          <p:cNvSpPr txBox="1"/>
          <p:nvPr/>
        </p:nvSpPr>
        <p:spPr>
          <a:xfrm>
            <a:off x="5663141" y="2842346"/>
            <a:ext cx="41013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>
                <a:latin typeface="+mn-ea"/>
              </a:rPr>
              <a:t> </a:t>
            </a:r>
            <a:r>
              <a:rPr lang="ko-KR" altLang="en-US" sz="1300">
                <a:latin typeface="+mn-ea"/>
              </a:rPr>
              <a:t>요청 내용을 바탕으로 협업 메일 초안 작성</a:t>
            </a:r>
            <a:endParaRPr lang="en-US" altLang="ko-KR" sz="130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>
                <a:latin typeface="+mn-ea"/>
              </a:rPr>
              <a:t> </a:t>
            </a:r>
            <a:r>
              <a:rPr lang="ko-KR" altLang="en-US" sz="1300">
                <a:latin typeface="+mn-ea"/>
              </a:rPr>
              <a:t>사용자가 내용 수정</a:t>
            </a:r>
            <a:r>
              <a:rPr lang="en-US" altLang="ko-KR" sz="1300">
                <a:latin typeface="+mn-ea"/>
              </a:rPr>
              <a:t>(</a:t>
            </a:r>
            <a:r>
              <a:rPr lang="ko-KR" altLang="en-US" sz="1300">
                <a:latin typeface="+mn-ea"/>
              </a:rPr>
              <a:t>보완</a:t>
            </a:r>
            <a:r>
              <a:rPr lang="en-US" altLang="ko-KR" sz="1300">
                <a:latin typeface="+mn-ea"/>
              </a:rPr>
              <a:t>) </a:t>
            </a:r>
            <a:r>
              <a:rPr lang="ko-KR" altLang="en-US" sz="1300">
                <a:latin typeface="+mn-ea"/>
              </a:rPr>
              <a:t>후</a:t>
            </a:r>
            <a:r>
              <a:rPr lang="en-US" altLang="ko-KR" sz="1300">
                <a:latin typeface="+mn-ea"/>
              </a:rPr>
              <a:t>, </a:t>
            </a:r>
            <a:r>
              <a:rPr lang="ko-KR" altLang="en-US" sz="1300">
                <a:latin typeface="+mn-ea"/>
              </a:rPr>
              <a:t>메일 발송</a:t>
            </a:r>
            <a:endParaRPr lang="en-US" altLang="ko-KR" sz="130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>
                <a:latin typeface="+mn-ea"/>
              </a:rPr>
              <a:t> </a:t>
            </a:r>
            <a:r>
              <a:rPr lang="ko-KR" altLang="en-US" sz="1300">
                <a:latin typeface="+mn-ea"/>
              </a:rPr>
              <a:t>담당 부서의 회신 완료까지 진행 현황 확인</a:t>
            </a:r>
            <a:endParaRPr lang="en-US" altLang="ko-KR" sz="1300">
              <a:latin typeface="+mn-ea"/>
            </a:endParaRPr>
          </a:p>
        </p:txBody>
      </p:sp>
      <p:pic>
        <p:nvPicPr>
          <p:cNvPr id="34" name="그래픽 33" descr="갈매기형 화살표 단색으로 채워진">
            <a:extLst>
              <a:ext uri="{FF2B5EF4-FFF2-40B4-BE49-F238E27FC236}">
                <a16:creationId xmlns:a16="http://schemas.microsoft.com/office/drawing/2014/main" id="{870A33B9-6900-4F8F-8369-23847F9841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4602989" y="1654528"/>
            <a:ext cx="362623" cy="624548"/>
          </a:xfrm>
          <a:prstGeom prst="rect">
            <a:avLst/>
          </a:prstGeom>
        </p:spPr>
      </p:pic>
      <p:pic>
        <p:nvPicPr>
          <p:cNvPr id="69" name="그래픽 68" descr="갈매기형 화살표 단색으로 채워진">
            <a:extLst>
              <a:ext uri="{FF2B5EF4-FFF2-40B4-BE49-F238E27FC236}">
                <a16:creationId xmlns:a16="http://schemas.microsoft.com/office/drawing/2014/main" id="{8D85D93F-C24C-4F8A-B7A4-1B9AFEDA09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4602989" y="2481845"/>
            <a:ext cx="362623" cy="624548"/>
          </a:xfrm>
          <a:prstGeom prst="rect">
            <a:avLst/>
          </a:prstGeom>
        </p:spPr>
      </p:pic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2A27BA35-F808-4CD6-941D-604A42AE0488}"/>
              </a:ext>
            </a:extLst>
          </p:cNvPr>
          <p:cNvCxnSpPr>
            <a:cxnSpLocks/>
          </p:cNvCxnSpPr>
          <p:nvPr/>
        </p:nvCxnSpPr>
        <p:spPr>
          <a:xfrm>
            <a:off x="352511" y="4561113"/>
            <a:ext cx="929960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BD16EDC6-7CE1-4175-9471-C5D89E61B5CB}"/>
              </a:ext>
            </a:extLst>
          </p:cNvPr>
          <p:cNvGrpSpPr/>
          <p:nvPr/>
        </p:nvGrpSpPr>
        <p:grpSpPr>
          <a:xfrm>
            <a:off x="362747" y="4206252"/>
            <a:ext cx="2783225" cy="307777"/>
            <a:chOff x="536919" y="4223182"/>
            <a:chExt cx="2783225" cy="307777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4D2E093-91DA-45AF-A8B9-B128F972257E}"/>
                </a:ext>
              </a:extLst>
            </p:cNvPr>
            <p:cNvSpPr txBox="1"/>
            <p:nvPr/>
          </p:nvSpPr>
          <p:spPr>
            <a:xfrm>
              <a:off x="536919" y="4223182"/>
              <a:ext cx="9058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단기 </a:t>
              </a:r>
              <a:r>
                <a:rPr lang="ko-KR" altLang="en-US" sz="1400" b="1">
                  <a:solidFill>
                    <a:schemeClr val="bg1">
                      <a:lumMod val="75000"/>
                    </a:schemeClr>
                  </a:solidFill>
                </a:rPr>
                <a:t>ㅣ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EB108567-8770-4855-A685-5EF08269B08A}"/>
                </a:ext>
              </a:extLst>
            </p:cNvPr>
            <p:cNvSpPr txBox="1"/>
            <p:nvPr/>
          </p:nvSpPr>
          <p:spPr>
            <a:xfrm>
              <a:off x="1168292" y="4223182"/>
              <a:ext cx="21518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기반 보완</a:t>
              </a:r>
            </a:p>
          </p:txBody>
        </p:sp>
      </p:grp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C63B8C5B-3788-47CD-B9CA-F34E39003916}"/>
              </a:ext>
            </a:extLst>
          </p:cNvPr>
          <p:cNvGrpSpPr/>
          <p:nvPr/>
        </p:nvGrpSpPr>
        <p:grpSpPr>
          <a:xfrm>
            <a:off x="3312776" y="4206252"/>
            <a:ext cx="2783225" cy="307777"/>
            <a:chOff x="536919" y="4223182"/>
            <a:chExt cx="2783225" cy="307777"/>
          </a:xfrm>
        </p:grpSpPr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8BE8EAA6-2743-4783-8EE2-08BE5D460A97}"/>
                </a:ext>
              </a:extLst>
            </p:cNvPr>
            <p:cNvSpPr txBox="1"/>
            <p:nvPr/>
          </p:nvSpPr>
          <p:spPr>
            <a:xfrm>
              <a:off x="536919" y="4223182"/>
              <a:ext cx="9058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중기 </a:t>
              </a:r>
              <a:r>
                <a:rPr lang="ko-KR" altLang="en-US" sz="1400" b="1">
                  <a:solidFill>
                    <a:schemeClr val="bg1">
                      <a:lumMod val="75000"/>
                    </a:schemeClr>
                  </a:solidFill>
                </a:rPr>
                <a:t>ㅣ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80F45BD0-6251-45BC-866F-75BE32884DED}"/>
                </a:ext>
              </a:extLst>
            </p:cNvPr>
            <p:cNvSpPr txBox="1"/>
            <p:nvPr/>
          </p:nvSpPr>
          <p:spPr>
            <a:xfrm>
              <a:off x="1168292" y="4223182"/>
              <a:ext cx="21518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현업 검증</a:t>
              </a:r>
            </a:p>
          </p:txBody>
        </p:sp>
      </p:grp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95471A17-20BA-4D50-AF45-AF865A36983A}"/>
              </a:ext>
            </a:extLst>
          </p:cNvPr>
          <p:cNvGrpSpPr/>
          <p:nvPr/>
        </p:nvGrpSpPr>
        <p:grpSpPr>
          <a:xfrm>
            <a:off x="6868887" y="4206252"/>
            <a:ext cx="2783225" cy="307777"/>
            <a:chOff x="536919" y="4223182"/>
            <a:chExt cx="2783225" cy="307777"/>
          </a:xfrm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2C8B14B0-E30E-4CF7-A7A7-E5B75802E26A}"/>
                </a:ext>
              </a:extLst>
            </p:cNvPr>
            <p:cNvSpPr txBox="1"/>
            <p:nvPr/>
          </p:nvSpPr>
          <p:spPr>
            <a:xfrm>
              <a:off x="536919" y="4223182"/>
              <a:ext cx="9058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향후 </a:t>
              </a:r>
              <a:r>
                <a:rPr lang="ko-KR" altLang="en-US" sz="1400" b="1">
                  <a:solidFill>
                    <a:schemeClr val="bg1">
                      <a:lumMod val="75000"/>
                    </a:schemeClr>
                  </a:solidFill>
                </a:rPr>
                <a:t>ㅣ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7A750E79-6577-482D-9CF9-C671BF8159FB}"/>
                </a:ext>
              </a:extLst>
            </p:cNvPr>
            <p:cNvSpPr txBox="1"/>
            <p:nvPr/>
          </p:nvSpPr>
          <p:spPr>
            <a:xfrm>
              <a:off x="1168292" y="4223182"/>
              <a:ext cx="21518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단계적 확대</a:t>
              </a:r>
            </a:p>
          </p:txBody>
        </p:sp>
      </p:grpSp>
      <p:sp>
        <p:nvSpPr>
          <p:cNvPr id="86" name="TextBox 85">
            <a:extLst>
              <a:ext uri="{FF2B5EF4-FFF2-40B4-BE49-F238E27FC236}">
                <a16:creationId xmlns:a16="http://schemas.microsoft.com/office/drawing/2014/main" id="{C95049D1-FC54-4668-A3DA-3E5819ABBF8A}"/>
              </a:ext>
            </a:extLst>
          </p:cNvPr>
          <p:cNvSpPr txBox="1"/>
          <p:nvPr/>
        </p:nvSpPr>
        <p:spPr>
          <a:xfrm>
            <a:off x="360341" y="4710123"/>
            <a:ext cx="29598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latin typeface="+mn-ea"/>
              </a:rPr>
              <a:t>대표 </a:t>
            </a:r>
            <a:r>
              <a:rPr lang="en-US" altLang="ko-KR" sz="1300" spc="-40">
                <a:latin typeface="+mn-ea"/>
              </a:rPr>
              <a:t>3~5</a:t>
            </a:r>
            <a:r>
              <a:rPr lang="ko-KR" altLang="en-US" sz="1300" spc="-40">
                <a:latin typeface="+mn-ea"/>
              </a:rPr>
              <a:t>개 </a:t>
            </a:r>
            <a:r>
              <a:rPr lang="ko-KR" altLang="en-US" sz="1300" spc="-40"/>
              <a:t>부서의 업무 데이터 정비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E794966-039E-4F50-8E07-D120EC9CC40D}"/>
              </a:ext>
            </a:extLst>
          </p:cNvPr>
          <p:cNvSpPr txBox="1"/>
          <p:nvPr/>
        </p:nvSpPr>
        <p:spPr>
          <a:xfrm>
            <a:off x="360341" y="5142038"/>
            <a:ext cx="29598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/>
              <a:t>명확한 업무부터 핵심 기능 검증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4E941C6-F195-4AD3-A77C-CF50ED01D45B}"/>
              </a:ext>
            </a:extLst>
          </p:cNvPr>
          <p:cNvSpPr txBox="1"/>
          <p:nvPr/>
        </p:nvSpPr>
        <p:spPr>
          <a:xfrm>
            <a:off x="360340" y="5588351"/>
            <a:ext cx="317751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/>
              <a:t>검색 결과의 정확성과 화면 사용성 개선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73E6AF5-A624-43C8-947D-5EE5E92C333B}"/>
              </a:ext>
            </a:extLst>
          </p:cNvPr>
          <p:cNvSpPr txBox="1"/>
          <p:nvPr/>
        </p:nvSpPr>
        <p:spPr>
          <a:xfrm>
            <a:off x="3332140" y="4710123"/>
            <a:ext cx="363136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60"/>
              <a:t>과제제안자와 실제 담당자 대상 소규모 시범 운영</a:t>
            </a:r>
            <a:endParaRPr lang="ko-KR" altLang="en-US" sz="1300" spc="-6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B3722681-AF6A-4617-8FFF-3A4DA9F3990E}"/>
              </a:ext>
            </a:extLst>
          </p:cNvPr>
          <p:cNvSpPr txBox="1"/>
          <p:nvPr/>
        </p:nvSpPr>
        <p:spPr>
          <a:xfrm>
            <a:off x="3332141" y="5142038"/>
            <a:ext cx="344966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/>
              <a:t>시범 대상 업무의 문서 및 용어 기준 정리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B9F7B80-E34E-4956-8D94-CD2B38F66EBB}"/>
              </a:ext>
            </a:extLst>
          </p:cNvPr>
          <p:cNvSpPr txBox="1"/>
          <p:nvPr/>
        </p:nvSpPr>
        <p:spPr>
          <a:xfrm>
            <a:off x="3332140" y="5588351"/>
            <a:ext cx="317751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/>
              <a:t>사용자 의견 반영해 안내 방식 보완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1FDD0D6-52C0-488E-A014-75F411499CFF}"/>
              </a:ext>
            </a:extLst>
          </p:cNvPr>
          <p:cNvSpPr txBox="1"/>
          <p:nvPr/>
        </p:nvSpPr>
        <p:spPr>
          <a:xfrm>
            <a:off x="6868887" y="4710123"/>
            <a:ext cx="267036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/>
              <a:t>검증된 업무 중심 적용 범위 확대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B16B1D5F-06A3-4A12-9C30-F1563EA41284}"/>
              </a:ext>
            </a:extLst>
          </p:cNvPr>
          <p:cNvSpPr txBox="1"/>
          <p:nvPr/>
        </p:nvSpPr>
        <p:spPr>
          <a:xfrm>
            <a:off x="6868888" y="5142038"/>
            <a:ext cx="29598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/>
              <a:t>데이터 관리 및 최신화 체계 검토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74780FFA-EC75-4D49-B7B4-9D6ABB2B0B10}"/>
              </a:ext>
            </a:extLst>
          </p:cNvPr>
          <p:cNvSpPr txBox="1"/>
          <p:nvPr/>
        </p:nvSpPr>
        <p:spPr>
          <a:xfrm>
            <a:off x="6868887" y="5588351"/>
            <a:ext cx="317751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/>
              <a:t>사규 앱</a:t>
            </a:r>
            <a:r>
              <a:rPr lang="en-US" altLang="ko-KR" sz="1300" spc="-40"/>
              <a:t>(</a:t>
            </a:r>
            <a:r>
              <a:rPr lang="ko-KR" altLang="en-US" sz="1300" spc="-40"/>
              <a:t>사내 시스템</a:t>
            </a:r>
            <a:r>
              <a:rPr lang="en-US" altLang="ko-KR" sz="1300" spc="-40"/>
              <a:t>)</a:t>
            </a:r>
            <a:r>
              <a:rPr lang="ko-KR" altLang="en-US" sz="1300" spc="-40"/>
              <a:t>과 연계 가능성 검토</a:t>
            </a:r>
          </a:p>
        </p:txBody>
      </p:sp>
      <p:pic>
        <p:nvPicPr>
          <p:cNvPr id="11" name="그림 10">
            <a:hlinkClick r:id="rId5" action="ppaction://hlinkfile"/>
            <a:extLst>
              <a:ext uri="{FF2B5EF4-FFF2-40B4-BE49-F238E27FC236}">
                <a16:creationId xmlns:a16="http://schemas.microsoft.com/office/drawing/2014/main" id="{1D50F15C-C904-4B41-B2EB-C4E409B406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531" y="1258200"/>
            <a:ext cx="3469595" cy="2233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340026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fault Theme" id="{1C406C30-685F-4132-9A26-55964B5B5B01}" vid="{E518DA7B-1320-4EFF-98A5-E9BC59A80662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</TotalTime>
  <Words>657</Words>
  <Application>Microsoft Office PowerPoint</Application>
  <DocSecurity>0</DocSecurity>
  <PresentationFormat>A4 용지(210x297mm)</PresentationFormat>
  <Paragraphs>77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10" baseType="lpstr">
      <vt:lpstr>HY견고딕</vt:lpstr>
      <vt:lpstr>맑은 고딕</vt:lpstr>
      <vt:lpstr>Arial</vt:lpstr>
      <vt:lpstr>Calibri</vt:lpstr>
      <vt:lpstr>Calibri Light</vt:lpstr>
      <vt:lpstr>Wingdings</vt:lpstr>
      <vt:lpstr>Default Theme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Administrator</cp:lastModifiedBy>
  <cp:revision>79</cp:revision>
  <dcterms:created xsi:type="dcterms:W3CDTF">2026-09-04T08:20:33Z</dcterms:created>
  <dcterms:modified xsi:type="dcterms:W3CDTF">2026-09-06T03:40:32Z</dcterms:modified>
</cp:coreProperties>
</file>