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5"/>
  </p:notesMasterIdLst>
  <p:sldIdLst>
    <p:sldId id="263" r:id="rId2"/>
    <p:sldId id="265" r:id="rId3"/>
    <p:sldId id="267" r:id="rId4"/>
  </p:sldIdLst>
  <p:sldSz cx="9906000" cy="6858000" type="A4"/>
  <p:notesSz cx="6858000" cy="9144000"/>
  <p:embeddedFontLst>
    <p:embeddedFont>
      <p:font typeface="Calibri" panose="020F0502020204030204" pitchFamily="34" charset="0"/>
      <p:regular r:id="rId6"/>
      <p:bold r:id="rId7"/>
      <p:italic r:id="rId8"/>
      <p:boldItalic r:id="rId9"/>
    </p:embeddedFont>
    <p:embeddedFont>
      <p:font typeface="Calibri Light" panose="020F0302020204030204" pitchFamily="34" charset="0"/>
      <p:regular r:id="rId10"/>
      <p:italic r:id="rId11"/>
    </p:embeddedFont>
    <p:embeddedFont>
      <p:font typeface="HY견고딕" panose="02030600000101010101" pitchFamily="18" charset="-127"/>
      <p:regular r:id="rId12"/>
    </p:embeddedFont>
    <p:embeddedFont>
      <p:font typeface="맑은 고딕" panose="020B0503020000020004" pitchFamily="50" charset="-127"/>
      <p:regular r:id="rId13"/>
      <p:bold r:id="rId1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6A20"/>
    <a:srgbClr val="238B72"/>
    <a:srgbClr val="0F64C0"/>
    <a:srgbClr val="000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38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hyperlink" Target="web-service-demo.mp4" TargetMode="External"/><Relationship Id="rId4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83733" y="3037577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B0CE51-5E0D-4D3B-A979-2D472BDF38F1}"/>
              </a:ext>
            </a:extLst>
          </p:cNvPr>
          <p:cNvSpPr/>
          <p:nvPr/>
        </p:nvSpPr>
        <p:spPr>
          <a:xfrm>
            <a:off x="8828644" y="141814"/>
            <a:ext cx="1031052" cy="4693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’26.9.16.</a:t>
            </a:r>
          </a:p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00" b="1" kern="0">
                <a:solidFill>
                  <a:prstClr val="whit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포스코퓨처엠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1153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○ 누구나 필요한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업무 프로세스를 쉽게 이해하고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안정적으로 이행할 수 있도록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지원 필요</a:t>
            </a:r>
            <a:endParaRPr kumimoji="0" lang="en-US" altLang="ko-KR" sz="1300" b="0" i="0" u="none" strike="noStrike" kern="1200" cap="none" spc="-4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회사 업무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/>
              <a:t>정해진 프로세스와 지침에 따라 업무를 처리하고</a:t>
            </a:r>
            <a:r>
              <a:rPr lang="en-US" altLang="ko-KR" sz="1300"/>
              <a:t>,  </a:t>
            </a:r>
            <a:r>
              <a:rPr lang="ko-KR" altLang="en-US" sz="1300"/>
              <a:t>담당자가 바뀌어도 필수 절차를 준수해</a:t>
            </a:r>
            <a:r>
              <a:rPr lang="en-US" altLang="ko-KR" sz="1300"/>
              <a:t>, </a:t>
            </a:r>
            <a:r>
              <a:rPr lang="ko-KR" altLang="en-US" sz="1300"/>
              <a:t>일관된 결과물 확보 要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현황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필요한 절차와 지침을 찾는 데 오랜 시간 소요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담당자마다 접근 방식 상이 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  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개선방안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수행하려는 업무를 </a:t>
            </a:r>
            <a:r>
              <a:rPr lang="ko-KR" altLang="en-US" sz="1300"/>
              <a:t>입력하면 관련 </a:t>
            </a:r>
            <a:r>
              <a:rPr lang="ko-KR" altLang="en-US" sz="1300" b="1"/>
              <a:t>지침과 처리 절차를 쉽게 안내하는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r>
              <a:rPr lang="ko-KR" altLang="en-US" sz="1300" b="1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endParaRPr lang="en-US" altLang="ko-KR" sz="1300" b="1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2280294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390283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62512" y="3037577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69592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904110" y="3037577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키워드</a:t>
            </a:r>
            <a:r>
              <a:rPr lang="en-US" altLang="ko-KR" sz="1400" b="1"/>
              <a:t>, </a:t>
            </a:r>
            <a:r>
              <a:rPr lang="ko-KR" altLang="en-US" sz="1400" b="1"/>
              <a:t>업무 유형 분석            절차</a:t>
            </a:r>
            <a:r>
              <a:rPr lang="en-US" altLang="ko-KR" sz="1400" b="1"/>
              <a:t>,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904111" y="2861018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2478" y="3065815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4664" y="2991526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05030" y="3057026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15186" y="3085911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83733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DD66CEA-C3F9-4B7E-B7A8-3932C855279C}"/>
              </a:ext>
            </a:extLst>
          </p:cNvPr>
          <p:cNvSpPr/>
          <p:nvPr/>
        </p:nvSpPr>
        <p:spPr>
          <a:xfrm>
            <a:off x="358024" y="4937510"/>
            <a:ext cx="9409457" cy="1801656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80299" y="3857884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388532" y="3894803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8559FD55-5C88-41D3-91EE-5E42C474487B}"/>
              </a:ext>
            </a:extLst>
          </p:cNvPr>
          <p:cNvSpPr>
            <a:spLocks noGrp="1"/>
          </p:cNvSpPr>
          <p:nvPr/>
        </p:nvSpPr>
        <p:spPr>
          <a:xfrm>
            <a:off x="462512" y="5015554"/>
            <a:ext cx="1575551" cy="399999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이용 대상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4520869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과제 주요 내용 및 기대 효과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630858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04340" y="506935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 절차나 관련 지침을 확인하려는 임직원 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AEC36C50-54B1-4380-81C3-58E9F1DE2A3C}"/>
              </a:ext>
            </a:extLst>
          </p:cNvPr>
          <p:cNvSpPr>
            <a:spLocks noGrp="1"/>
          </p:cNvSpPr>
          <p:nvPr/>
        </p:nvSpPr>
        <p:spPr>
          <a:xfrm>
            <a:off x="462512" y="5499550"/>
            <a:ext cx="1575551" cy="412966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주요 정보 제공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1FC4B79-5D6D-40F2-96FF-7B6BBD4E6ECC}"/>
              </a:ext>
            </a:extLst>
          </p:cNvPr>
          <p:cNvSpPr txBox="1"/>
          <p:nvPr/>
        </p:nvSpPr>
        <p:spPr>
          <a:xfrm>
            <a:off x="2204340" y="555983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업무별 처리 절차</a:t>
            </a:r>
            <a:r>
              <a:rPr lang="en-US" altLang="ko-KR" sz="1300"/>
              <a:t>, </a:t>
            </a:r>
            <a:r>
              <a:rPr lang="ko-KR" altLang="en-US" sz="1300"/>
              <a:t>관련 지침</a:t>
            </a:r>
            <a:r>
              <a:rPr lang="en-US" altLang="ko-KR" sz="1300"/>
              <a:t>, </a:t>
            </a:r>
            <a:r>
              <a:rPr lang="ko-KR" altLang="en-US" sz="1300"/>
              <a:t>필수 확인사항</a:t>
            </a:r>
            <a:r>
              <a:rPr lang="en-US" altLang="ko-KR" sz="1300"/>
              <a:t>, </a:t>
            </a:r>
            <a:r>
              <a:rPr lang="ko-KR" altLang="en-US" sz="1300"/>
              <a:t>담당 부서</a:t>
            </a:r>
            <a:r>
              <a:rPr lang="en-US" altLang="ko-KR" sz="1300"/>
              <a:t>(</a:t>
            </a:r>
            <a:r>
              <a:rPr lang="ko-KR" altLang="en-US" sz="1300"/>
              <a:t>주관</a:t>
            </a:r>
            <a:r>
              <a:rPr lang="en-US" altLang="ko-KR" sz="1300"/>
              <a:t>, </a:t>
            </a:r>
            <a:r>
              <a:rPr lang="ko-KR" altLang="en-US" sz="1300"/>
              <a:t>협업</a:t>
            </a:r>
            <a:r>
              <a:rPr lang="en-US" altLang="ko-KR" sz="1300"/>
              <a:t>) </a:t>
            </a:r>
            <a:r>
              <a:rPr lang="ko-KR" altLang="en-US" sz="1300"/>
              <a:t>안내</a:t>
            </a:r>
            <a:r>
              <a:rPr lang="en-US" altLang="ko-KR" sz="1300"/>
              <a:t> </a:t>
            </a:r>
            <a:endParaRPr lang="ko-KR" altLang="en-US" sz="130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637B37C-8E3C-478E-BF8C-39348605030D}"/>
              </a:ext>
            </a:extLst>
          </p:cNvPr>
          <p:cNvSpPr>
            <a:spLocks noGrp="1"/>
          </p:cNvSpPr>
          <p:nvPr/>
        </p:nvSpPr>
        <p:spPr>
          <a:xfrm>
            <a:off x="462512" y="5996514"/>
            <a:ext cx="1575551" cy="642502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기대 효과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A8F0B2-8FFE-4270-840B-F4EAD32923C6}"/>
              </a:ext>
            </a:extLst>
          </p:cNvPr>
          <p:cNvSpPr txBox="1"/>
          <p:nvPr/>
        </p:nvSpPr>
        <p:spPr>
          <a:xfrm>
            <a:off x="2206015" y="5975295"/>
            <a:ext cx="6610350" cy="7437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탐색 시간 단축</a:t>
            </a:r>
            <a:r>
              <a:rPr lang="en-US" altLang="ko-KR" sz="1300"/>
              <a:t>) </a:t>
            </a:r>
            <a:r>
              <a:rPr lang="ko-KR" altLang="en-US" sz="1300"/>
              <a:t>업무 전반의 절차와 필요한 지침을 한 번에 확인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정확한 처리</a:t>
            </a:r>
            <a:r>
              <a:rPr lang="en-US" altLang="ko-KR" sz="1300"/>
              <a:t>) </a:t>
            </a:r>
            <a:r>
              <a:rPr lang="ko-KR" altLang="en-US" sz="1300"/>
              <a:t>필수 절차와 확인사항 누락 방지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업무 일관성 확보</a:t>
            </a:r>
            <a:r>
              <a:rPr lang="en-US" altLang="ko-KR" sz="1300"/>
              <a:t>) </a:t>
            </a:r>
            <a:r>
              <a:rPr lang="ko-KR" altLang="en-US" sz="1300"/>
              <a:t>담당자가 바뀌어도 같은 기준으로 처리</a:t>
            </a: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9419DB7-D5C5-4C3E-B20B-A3D46F574EF9}"/>
              </a:ext>
            </a:extLst>
          </p:cNvPr>
          <p:cNvCxnSpPr>
            <a:cxnSpLocks/>
          </p:cNvCxnSpPr>
          <p:nvPr/>
        </p:nvCxnSpPr>
        <p:spPr>
          <a:xfrm flipV="1">
            <a:off x="2289746" y="5391891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F136B79D-09EC-4B50-B2C9-E9944DC88BA7}"/>
              </a:ext>
            </a:extLst>
          </p:cNvPr>
          <p:cNvCxnSpPr>
            <a:cxnSpLocks/>
          </p:cNvCxnSpPr>
          <p:nvPr/>
        </p:nvCxnSpPr>
        <p:spPr>
          <a:xfrm flipV="1">
            <a:off x="2289746" y="5875883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2707595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730899" y="3218194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103619" y="3219872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구축 과정 및 구현 현황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사규 앱 내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3,450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문서와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126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 조직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확인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대표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35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부서부터 단계적으로 검증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9678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구축 범위 설정 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핵심 기능 구현 가능성 확인 후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,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단계적 확대 방향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업무 특성과 협업 빈도를 고려해 대표 부서 선정 </a:t>
            </a:r>
            <a:r>
              <a:rPr lang="en-US" altLang="ko-KR" sz="1300">
                <a:latin typeface="+mn-ea"/>
              </a:rPr>
              <a:t>(10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20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 부서로 확장</a:t>
            </a:r>
            <a:r>
              <a:rPr lang="en-US" altLang="ko-KR" sz="1300">
                <a:latin typeface="+mn-ea"/>
              </a:rPr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선정 부서의 업무 절차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관련 지침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및 담당 조직 데이터 확보 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(P-GPT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활용 더미 데이터 생성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)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1975488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대표 질의 선정 → </a:t>
            </a: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웹서비스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검색 결과 검증 → 절차 및 지침 데이터 적정성 검토 → 데이터 보완  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085477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606464"/>
            <a:ext cx="8085296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활용 교육과 코칭을 바탕으로</a:t>
            </a:r>
            <a:r>
              <a:rPr lang="en-US" altLang="ko-KR" sz="1400" b="1">
                <a:latin typeface="+mn-ea"/>
              </a:rPr>
              <a:t>, </a:t>
            </a:r>
            <a:r>
              <a:rPr lang="ko-KR" altLang="en-US" sz="1400" b="1">
                <a:latin typeface="+mn-ea"/>
              </a:rPr>
              <a:t>문제를 해결하며 구현한 웹서비스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71645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19662" y="4303610"/>
            <a:ext cx="49866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PRD.md </a:t>
            </a:r>
            <a:r>
              <a:rPr lang="ko-KR" altLang="en-US" sz="1300" spc="-40">
                <a:latin typeface="+mn-ea"/>
              </a:rPr>
              <a:t>초안 작성 후 데이터 보완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 기능 정의 업데이트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그래프 등 교육내용을 반영해 요구사항과 구현 방향 지속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RAG, </a:t>
            </a:r>
            <a:r>
              <a:rPr lang="ko-KR" altLang="en-US" sz="1300" spc="-40">
                <a:latin typeface="+mn-ea"/>
              </a:rPr>
              <a:t>메타데이터 등 </a:t>
            </a:r>
            <a:r>
              <a:rPr lang="ko-KR" altLang="en-US" sz="1300" spc="-40"/>
              <a:t>개념을 실제 구현과정과 비교하며 이해</a:t>
            </a:r>
            <a:endParaRPr lang="ko-KR" altLang="en-US" sz="1300" spc="-4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86198D4-A860-44F6-B729-A6BE3904A61A}"/>
              </a:ext>
            </a:extLst>
          </p:cNvPr>
          <p:cNvSpPr/>
          <p:nvPr/>
        </p:nvSpPr>
        <p:spPr>
          <a:xfrm>
            <a:off x="398363" y="2347201"/>
            <a:ext cx="9507637" cy="123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lang="ko-KR" altLang="en-US" sz="1300">
                <a:latin typeface="+mn-ea"/>
              </a:rPr>
              <a:t>여러 부서의 협업이 필요하거나 판단하기 까다로운 질의를 선별하여 서비스 안내 결과를 반복적으로 확인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사용자가 실제로 질문할 만한 대표 질의 선정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질의에 적합한 절차와 관련 지침이 제공되는지 확인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결과 확인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데이터 보완 과정을 반복하며 서비스 정확도 개선 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65FB259-F052-493A-AF0A-320E267E0258}"/>
              </a:ext>
            </a:extLst>
          </p:cNvPr>
          <p:cNvSpPr/>
          <p:nvPr/>
        </p:nvSpPr>
        <p:spPr>
          <a:xfrm>
            <a:off x="398363" y="3958282"/>
            <a:ext cx="9507637" cy="387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PRD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작성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, </a:t>
            </a:r>
            <a:r>
              <a:rPr lang="ko-KR" altLang="en-US" sz="1300">
                <a:latin typeface="+mn-ea"/>
              </a:rPr>
              <a:t>기능 구현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변경 이력 관리와 오류 해결을 반복하며 실제 웹서비스 개발 과정을 경험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6D9147BF-9859-4CDF-95B7-9D5BC0AB31E8}"/>
              </a:ext>
            </a:extLst>
          </p:cNvPr>
          <p:cNvSpPr>
            <a:spLocks noGrp="1"/>
          </p:cNvSpPr>
          <p:nvPr/>
        </p:nvSpPr>
        <p:spPr>
          <a:xfrm>
            <a:off x="556286" y="437778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CODEX</a:t>
            </a:r>
            <a:endParaRPr lang="ko-KR" altLang="en-US" sz="1400" b="1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81E2B5B8-9023-42AE-9367-19533F118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25" y="4462483"/>
            <a:ext cx="516037" cy="46971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2DDE7C9-BD9F-4B3F-8BEA-115F9F185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854" y="4401716"/>
            <a:ext cx="1350499" cy="808874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A5F1DE8C-052C-4FD3-94A6-E8E93D826F22}"/>
              </a:ext>
            </a:extLst>
          </p:cNvPr>
          <p:cNvSpPr txBox="1"/>
          <p:nvPr/>
        </p:nvSpPr>
        <p:spPr>
          <a:xfrm>
            <a:off x="2219661" y="5126894"/>
            <a:ext cx="486119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VS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Code</a:t>
            </a:r>
            <a:r>
              <a:rPr lang="ko-KR" altLang="en-US" sz="1300" spc="-40">
                <a:latin typeface="+mn-ea"/>
              </a:rPr>
              <a:t>에서 가상환경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환경변수</a:t>
            </a:r>
            <a:r>
              <a:rPr lang="en-US" altLang="ko-KR" sz="1300" spc="-40">
                <a:latin typeface="+mn-ea"/>
              </a:rPr>
              <a:t>(.env) </a:t>
            </a:r>
            <a:r>
              <a:rPr lang="ko-KR" altLang="en-US" sz="1300" spc="-40">
                <a:latin typeface="+mn-ea"/>
              </a:rPr>
              <a:t>반영해 개발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라이브러리와 </a:t>
            </a:r>
            <a:r>
              <a:rPr lang="en-US" altLang="ko-KR" sz="1300" spc="-40">
                <a:latin typeface="+mn-ea"/>
              </a:rPr>
              <a:t>AI </a:t>
            </a:r>
            <a:r>
              <a:rPr lang="ko-KR" altLang="en-US" sz="1300" spc="-40">
                <a:latin typeface="+mn-ea"/>
              </a:rPr>
              <a:t>도구를 활용해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메일링 등 기능 확장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지침을 검색 로직과 연결하여 절차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 spc="-40">
                <a:latin typeface="+mn-ea"/>
              </a:rPr>
              <a:t>부서 추천 기능 구현</a:t>
            </a:r>
            <a:endParaRPr lang="en-US" altLang="ko-KR" sz="1300" spc="-40">
              <a:latin typeface="+mn-ea"/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277C910-F0F3-491C-AA78-346F8C5A4CE8}"/>
              </a:ext>
            </a:extLst>
          </p:cNvPr>
          <p:cNvSpPr>
            <a:spLocks noGrp="1"/>
          </p:cNvSpPr>
          <p:nvPr/>
        </p:nvSpPr>
        <p:spPr>
          <a:xfrm>
            <a:off x="556286" y="5183326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FA76FEB8-6F4B-4BEE-97E3-3853CF77E5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30" y="5303790"/>
            <a:ext cx="1548366" cy="387239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32B0F490-66DB-49D6-901C-B03820A703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0133" y="5568813"/>
            <a:ext cx="2950029" cy="1138218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C5CCB510-31B3-4CAE-BEAF-3EEDDF2D72C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b="25518"/>
          <a:stretch/>
        </p:blipFill>
        <p:spPr>
          <a:xfrm>
            <a:off x="8133309" y="4918963"/>
            <a:ext cx="1336503" cy="794758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1AC670EF-7932-41AC-912B-95890CCFBD70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8263" t="14117"/>
          <a:stretch/>
        </p:blipFill>
        <p:spPr>
          <a:xfrm>
            <a:off x="622348" y="5991525"/>
            <a:ext cx="602832" cy="611567"/>
          </a:xfrm>
          <a:prstGeom prst="rect">
            <a:avLst/>
          </a:prstGeom>
        </p:spPr>
      </p:pic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39D9BE0-CC05-4365-A6CD-2C70A42FD3C3}"/>
              </a:ext>
            </a:extLst>
          </p:cNvPr>
          <p:cNvSpPr>
            <a:spLocks noGrp="1"/>
          </p:cNvSpPr>
          <p:nvPr/>
        </p:nvSpPr>
        <p:spPr>
          <a:xfrm>
            <a:off x="556286" y="597920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GitHub</a:t>
            </a:r>
            <a:endParaRPr lang="ko-KR" altLang="en-US" sz="1400" b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7BB53F-787D-422B-B012-A00483FC061C}"/>
              </a:ext>
            </a:extLst>
          </p:cNvPr>
          <p:cNvSpPr txBox="1"/>
          <p:nvPr/>
        </p:nvSpPr>
        <p:spPr>
          <a:xfrm>
            <a:off x="2242121" y="5941194"/>
            <a:ext cx="472820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Git</a:t>
            </a:r>
            <a:r>
              <a:rPr lang="ko-KR" altLang="en-US" sz="1300" spc="-40">
                <a:latin typeface="+mn-ea"/>
              </a:rPr>
              <a:t>과 </a:t>
            </a:r>
            <a:r>
              <a:rPr lang="en-US" altLang="ko-KR" sz="1300" spc="-40">
                <a:latin typeface="+mn-ea"/>
              </a:rPr>
              <a:t>GitHub</a:t>
            </a:r>
            <a:r>
              <a:rPr lang="ko-KR" altLang="en-US" sz="1300" spc="-40">
                <a:latin typeface="+mn-ea"/>
              </a:rPr>
              <a:t>를 활용해 변경사항과 개발 이력 관리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구현 오류와 </a:t>
            </a:r>
            <a:r>
              <a:rPr lang="en-US" altLang="ko-KR" sz="1300" spc="-40">
                <a:latin typeface="+mn-ea"/>
              </a:rPr>
              <a:t>Git </a:t>
            </a:r>
            <a:r>
              <a:rPr lang="ko-KR" altLang="en-US" sz="1300" spc="-40">
                <a:latin typeface="+mn-ea"/>
              </a:rPr>
              <a:t>사용의 어려움을 해결하며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 </a:t>
            </a:r>
            <a:r>
              <a:rPr lang="ko-KR" altLang="en-US" sz="1300" spc="-40">
                <a:latin typeface="+mn-ea"/>
              </a:rPr>
              <a:t>웹개발 방식과 개념 학습</a:t>
            </a:r>
            <a:endParaRPr lang="en-US" altLang="ko-KR" sz="1300" spc="-40">
              <a:latin typeface="+mn-ea"/>
            </a:endParaRP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C87D8F54-4495-444B-9584-2D548D93089D}"/>
              </a:ext>
            </a:extLst>
          </p:cNvPr>
          <p:cNvCxnSpPr>
            <a:cxnSpLocks/>
          </p:cNvCxnSpPr>
          <p:nvPr/>
        </p:nvCxnSpPr>
        <p:spPr>
          <a:xfrm flipV="1">
            <a:off x="2261449" y="5055271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8B851282-F007-4492-BD3A-010961ABD1F2}"/>
              </a:ext>
            </a:extLst>
          </p:cNvPr>
          <p:cNvCxnSpPr>
            <a:cxnSpLocks/>
          </p:cNvCxnSpPr>
          <p:nvPr/>
        </p:nvCxnSpPr>
        <p:spPr>
          <a:xfrm flipV="1">
            <a:off x="2261449" y="5849088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951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구현 결과 및 향후 계획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764791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874780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(3/3)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8F4C275-55DF-4DC5-852A-608F7DBE5745}"/>
              </a:ext>
            </a:extLst>
          </p:cNvPr>
          <p:cNvSpPr/>
          <p:nvPr/>
        </p:nvSpPr>
        <p:spPr>
          <a:xfrm>
            <a:off x="3955701" y="1337595"/>
            <a:ext cx="1657198" cy="406475"/>
          </a:xfrm>
          <a:prstGeom prst="roundRect">
            <a:avLst/>
          </a:prstGeom>
          <a:solidFill>
            <a:srgbClr val="0F64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1.</a:t>
            </a:r>
            <a:r>
              <a:rPr lang="ko-KR" altLang="en-US" sz="1500" b="1">
                <a:latin typeface="+mn-ea"/>
              </a:rPr>
              <a:t>업무 입력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6A11B87-E0EF-4F75-85FD-7A41F04B0EE7}"/>
              </a:ext>
            </a:extLst>
          </p:cNvPr>
          <p:cNvSpPr/>
          <p:nvPr/>
        </p:nvSpPr>
        <p:spPr>
          <a:xfrm>
            <a:off x="3955701" y="2143138"/>
            <a:ext cx="1657198" cy="406475"/>
          </a:xfrm>
          <a:prstGeom prst="roundRect">
            <a:avLst/>
          </a:prstGeom>
          <a:solidFill>
            <a:srgbClr val="238B7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2.</a:t>
            </a:r>
            <a:r>
              <a:rPr lang="ko-KR" altLang="en-US" sz="1500" b="1">
                <a:latin typeface="+mn-ea"/>
              </a:rPr>
              <a:t>절차〮부서 확인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D78C5C1B-19F2-4986-8126-18574CDCA3B8}"/>
              </a:ext>
            </a:extLst>
          </p:cNvPr>
          <p:cNvSpPr/>
          <p:nvPr/>
        </p:nvSpPr>
        <p:spPr>
          <a:xfrm>
            <a:off x="3955702" y="3003733"/>
            <a:ext cx="1657197" cy="406475"/>
          </a:xfrm>
          <a:prstGeom prst="roundRect">
            <a:avLst/>
          </a:prstGeom>
          <a:solidFill>
            <a:srgbClr val="C56A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13299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16991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568F03F6-3EDD-4041-A6AB-41C6A715AB8A}"/>
              </a:ext>
            </a:extLst>
          </p:cNvPr>
          <p:cNvSpPr txBox="1"/>
          <p:nvPr/>
        </p:nvSpPr>
        <p:spPr>
          <a:xfrm>
            <a:off x="5663141" y="1275375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내용을 자연어로 입력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사업장과 업무 유형 선택 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모르는 경우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미선택 가능</a:t>
            </a:r>
            <a:r>
              <a:rPr lang="en-US" altLang="ko-KR" sz="1300">
                <a:latin typeface="+mn-ea"/>
              </a:rPr>
              <a:t>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D8A27D0-27B7-4B5C-947D-CAF965FBCC12}"/>
              </a:ext>
            </a:extLst>
          </p:cNvPr>
          <p:cNvSpPr txBox="1"/>
          <p:nvPr/>
        </p:nvSpPr>
        <p:spPr>
          <a:xfrm>
            <a:off x="5663141" y="2080918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관련 규정 해석 →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프로세스 안내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주관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협업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부서 세부내용 확인 → 요청부서 선택</a:t>
            </a:r>
            <a:endParaRPr lang="en-US" altLang="ko-KR" sz="1300"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AE129A-E645-4A4F-B592-315F74315AC7}"/>
              </a:ext>
            </a:extLst>
          </p:cNvPr>
          <p:cNvSpPr txBox="1"/>
          <p:nvPr/>
        </p:nvSpPr>
        <p:spPr>
          <a:xfrm>
            <a:off x="5663141" y="2822250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요청 내용을 바탕으로 협업 메일 초안 작성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사용자가 내용 수정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보완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메일 발송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담당 부서의 회신 완료까지 진행 현황 확인</a:t>
            </a:r>
            <a:endParaRPr lang="en-US" altLang="ko-KR" sz="1300">
              <a:latin typeface="+mn-ea"/>
            </a:endParaRPr>
          </a:p>
        </p:txBody>
      </p:sp>
      <p:pic>
        <p:nvPicPr>
          <p:cNvPr id="34" name="그래픽 33" descr="갈매기형 화살표 단색으로 채워진">
            <a:extLst>
              <a:ext uri="{FF2B5EF4-FFF2-40B4-BE49-F238E27FC236}">
                <a16:creationId xmlns:a16="http://schemas.microsoft.com/office/drawing/2014/main" id="{870A33B9-6900-4F8F-8369-23847F9841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4602989" y="1634432"/>
            <a:ext cx="362623" cy="624548"/>
          </a:xfrm>
          <a:prstGeom prst="rect">
            <a:avLst/>
          </a:prstGeom>
        </p:spPr>
      </p:pic>
      <p:pic>
        <p:nvPicPr>
          <p:cNvPr id="69" name="그래픽 68" descr="갈매기형 화살표 단색으로 채워진">
            <a:extLst>
              <a:ext uri="{FF2B5EF4-FFF2-40B4-BE49-F238E27FC236}">
                <a16:creationId xmlns:a16="http://schemas.microsoft.com/office/drawing/2014/main" id="{8D85D93F-C24C-4F8A-B7A4-1B9AFEDA09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4602989" y="2461749"/>
            <a:ext cx="362623" cy="624548"/>
          </a:xfrm>
          <a:prstGeom prst="rect">
            <a:avLst/>
          </a:prstGeom>
        </p:spPr>
      </p:pic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561113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206252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206252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206252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710123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E941C6-F195-4AD3-A77C-CF50ED01D45B}"/>
              </a:ext>
            </a:extLst>
          </p:cNvPr>
          <p:cNvSpPr txBox="1"/>
          <p:nvPr/>
        </p:nvSpPr>
        <p:spPr>
          <a:xfrm>
            <a:off x="3603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검색 결과의 정확성과 화면 사용성 개선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710123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과제제안자와 실제 담당자 대상 소규모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3722681-AF6A-4617-8FFF-3A4DA9F3990E}"/>
              </a:ext>
            </a:extLst>
          </p:cNvPr>
          <p:cNvSpPr txBox="1"/>
          <p:nvPr/>
        </p:nvSpPr>
        <p:spPr>
          <a:xfrm>
            <a:off x="3332141" y="5142038"/>
            <a:ext cx="34496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시범 대상 업무의 문서 및 용어 기준 정리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710123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16B1D5F-06A3-4A12-9C30-F1563EA41284}"/>
              </a:ext>
            </a:extLst>
          </p:cNvPr>
          <p:cNvSpPr txBox="1"/>
          <p:nvPr/>
        </p:nvSpPr>
        <p:spPr>
          <a:xfrm>
            <a:off x="6868888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데이터 관리 및 최신화 체계 검토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pic>
        <p:nvPicPr>
          <p:cNvPr id="11" name="그림 10">
            <a:hlinkClick r:id="rId5" action="ppaction://hlinkfile"/>
            <a:extLst>
              <a:ext uri="{FF2B5EF4-FFF2-40B4-BE49-F238E27FC236}">
                <a16:creationId xmlns:a16="http://schemas.microsoft.com/office/drawing/2014/main" id="{1D50F15C-C904-4B41-B2EB-C4E409B406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531" y="1258200"/>
            <a:ext cx="3469595" cy="2233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340026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678</Words>
  <Application>Microsoft Office PowerPoint</Application>
  <DocSecurity>0</DocSecurity>
  <PresentationFormat>A4 용지(210x297mm)</PresentationFormat>
  <Paragraphs>79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Wingdings</vt:lpstr>
      <vt:lpstr>HY견고딕</vt:lpstr>
      <vt:lpstr>맑은 고딕</vt:lpstr>
      <vt:lpstr>Arial</vt:lpstr>
      <vt:lpstr>Calibri Light</vt:lpstr>
      <vt:lpstr>Calibri</vt:lpstr>
      <vt:lpstr>Default Theme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88</cp:revision>
  <dcterms:created xsi:type="dcterms:W3CDTF">2026-09-04T08:20:33Z</dcterms:created>
  <dcterms:modified xsi:type="dcterms:W3CDTF">2026-09-08T08:22:50Z</dcterms:modified>
</cp:coreProperties>
</file>