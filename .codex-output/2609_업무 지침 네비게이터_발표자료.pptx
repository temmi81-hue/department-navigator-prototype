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50" r:id="rId1"/>
  </p:sldMasterIdLst>
  <p:notesMasterIdLst>
    <p:notesMasterId r:id="rId5"/>
  </p:notesMasterIdLst>
  <p:sldIdLst>
    <p:sldId id="263" r:id="rId2"/>
    <p:sldId id="265" r:id="rId3"/>
    <p:sldId id="267" r:id="rId4"/>
  </p:sldIdLst>
  <p:sldSz cx="9906000" cy="6858000" type="A4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C56A20"/>
    <a:srgbClr val="238B72"/>
    <a:srgbClr val="0F64C0"/>
    <a:srgbClr val="0000FF"/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>
        <p:scale>
          <a:sx n="80" d="100"/>
          <a:sy n="80" d="100"/>
        </p:scale>
        <p:origin x="1258" y="-91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742950" y="1122363"/>
            <a:ext cx="84201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238250" y="3602038"/>
            <a:ext cx="74295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C0F0B2-DC44-4D7F-B9BC-23EB46679998}" type="datetimeFigureOut">
              <a:rPr lang="ko-KR" altLang="en-US" smtClean="0"/>
              <a:t>2026-09-06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5F6E0-E4C1-4D32-8605-C37E4FBD9F9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5026098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C0F0B2-DC44-4D7F-B9BC-23EB46679998}" type="datetimeFigureOut">
              <a:rPr lang="ko-KR" altLang="en-US" smtClean="0"/>
              <a:t>2026-09-06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5F6E0-E4C1-4D32-8605-C37E4FBD9F9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6502825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5879" y="1709740"/>
            <a:ext cx="8543925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5879" y="4589465"/>
            <a:ext cx="8543925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C0F0B2-DC44-4D7F-B9BC-23EB46679998}" type="datetimeFigureOut">
              <a:rPr lang="ko-KR" altLang="en-US" smtClean="0"/>
              <a:t>2026-09-06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5F6E0-E4C1-4D32-8605-C37E4FBD9F9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2544720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81038" y="1825625"/>
            <a:ext cx="421005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14913" y="1825625"/>
            <a:ext cx="421005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C0F0B2-DC44-4D7F-B9BC-23EB46679998}" type="datetimeFigureOut">
              <a:rPr lang="ko-KR" altLang="en-US" smtClean="0"/>
              <a:t>2026-09-06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5F6E0-E4C1-4D32-8605-C37E4FBD9F9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0143949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365127"/>
            <a:ext cx="8543925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2329" y="1681163"/>
            <a:ext cx="4190702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82329" y="2505075"/>
            <a:ext cx="4190702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014913" y="1681163"/>
            <a:ext cx="42113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014913" y="2505075"/>
            <a:ext cx="4211340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C0F0B2-DC44-4D7F-B9BC-23EB46679998}" type="datetimeFigureOut">
              <a:rPr lang="ko-KR" altLang="en-US" smtClean="0"/>
              <a:t>2026-09-06</a:t>
            </a:fld>
            <a:endParaRPr lang="ko-KR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5F6E0-E4C1-4D32-8605-C37E4FBD9F9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4374357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C0F0B2-DC44-4D7F-B9BC-23EB46679998}" type="datetimeFigureOut">
              <a:rPr lang="ko-KR" altLang="en-US" smtClean="0"/>
              <a:t>2026-09-06</a:t>
            </a:fld>
            <a:endParaRPr lang="ko-KR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5F6E0-E4C1-4D32-8605-C37E4FBD9F9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01105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C0F0B2-DC44-4D7F-B9BC-23EB46679998}" type="datetimeFigureOut">
              <a:rPr lang="ko-KR" altLang="en-US" smtClean="0"/>
              <a:t>2026-09-06</a:t>
            </a:fld>
            <a:endParaRPr lang="ko-KR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5F6E0-E4C1-4D32-8605-C37E4FBD9F9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797384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457200"/>
            <a:ext cx="3194943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211340" y="987427"/>
            <a:ext cx="5014913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2328" y="2057400"/>
            <a:ext cx="3194943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C0F0B2-DC44-4D7F-B9BC-23EB46679998}" type="datetimeFigureOut">
              <a:rPr lang="ko-KR" altLang="en-US" smtClean="0"/>
              <a:t>2026-09-06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5F6E0-E4C1-4D32-8605-C37E4FBD9F9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2512212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457200"/>
            <a:ext cx="3194943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211340" y="987427"/>
            <a:ext cx="5014913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ko-KR" altLang="en-US"/>
              <a:t>그림을 추가하려면 아이콘을 클릭하십시오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2328" y="2057400"/>
            <a:ext cx="3194943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C0F0B2-DC44-4D7F-B9BC-23EB46679998}" type="datetimeFigureOut">
              <a:rPr lang="ko-KR" altLang="en-US" smtClean="0"/>
              <a:t>2026-09-06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5F6E0-E4C1-4D32-8605-C37E4FBD9F9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1055241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C0F0B2-DC44-4D7F-B9BC-23EB46679998}" type="datetimeFigureOut">
              <a:rPr lang="ko-KR" altLang="en-US" smtClean="0"/>
              <a:t>2026-09-06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5F6E0-E4C1-4D32-8605-C37E4FBD9F9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6380805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088982" y="365125"/>
            <a:ext cx="2135981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81038" y="365125"/>
            <a:ext cx="6284119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C0F0B2-DC44-4D7F-B9BC-23EB46679998}" type="datetimeFigureOut">
              <a:rPr lang="ko-KR" altLang="en-US" smtClean="0"/>
              <a:t>2026-09-06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5F6E0-E4C1-4D32-8605-C37E4FBD9F9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7011678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jp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81038" y="365127"/>
            <a:ext cx="8543925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1038" y="1825625"/>
            <a:ext cx="8543925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81038" y="6356352"/>
            <a:ext cx="22288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AC0F0B2-DC44-4D7F-B9BC-23EB46679998}" type="datetimeFigureOut">
              <a:rPr lang="ko-KR" altLang="en-US" smtClean="0"/>
              <a:t>2026-09-06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281363" y="6356352"/>
            <a:ext cx="334327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996113" y="6356352"/>
            <a:ext cx="22288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BF5F6E0-E4C1-4D32-8605-C37E4FBD9F94}" type="slidenum">
              <a:rPr lang="ko-KR" altLang="en-US" smtClean="0"/>
              <a:t>‹#›</a:t>
            </a:fld>
            <a:endParaRPr lang="ko-KR" altLang="en-US"/>
          </a:p>
        </p:txBody>
      </p:sp>
      <p:pic>
        <p:nvPicPr>
          <p:cNvPr id="7" name="Picture 1" descr="PPT-A3.jpg">
            <a:extLst>
              <a:ext uri="{FF2B5EF4-FFF2-40B4-BE49-F238E27FC236}">
                <a16:creationId xmlns:a16="http://schemas.microsoft.com/office/drawing/2014/main" id="{DE8B8C1A-8256-4308-B61E-14996DBA5229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" b="88495"/>
          <a:stretch/>
        </p:blipFill>
        <p:spPr>
          <a:xfrm>
            <a:off x="0" y="0"/>
            <a:ext cx="9906000" cy="6189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3632001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1" r:id="rId1"/>
    <p:sldLayoutId id="2147483652" r:id="rId2"/>
    <p:sldLayoutId id="2147483653" r:id="rId3"/>
    <p:sldLayoutId id="2147483654" r:id="rId4"/>
    <p:sldLayoutId id="2147483655" r:id="rId5"/>
    <p:sldLayoutId id="2147483656" r:id="rId6"/>
    <p:sldLayoutId id="2147483657" r:id="rId7"/>
    <p:sldLayoutId id="2147483658" r:id="rId8"/>
    <p:sldLayoutId id="2147483659" r:id="rId9"/>
    <p:sldLayoutId id="2147483660" r:id="rId10"/>
    <p:sldLayoutId id="2147483661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svg"/><Relationship Id="rId3" Type="http://schemas.openxmlformats.org/officeDocument/2006/relationships/image" Target="../media/image3.png"/><Relationship Id="rId7" Type="http://schemas.openxmlformats.org/officeDocument/2006/relationships/image" Target="../media/image7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.svg"/><Relationship Id="rId5" Type="http://schemas.openxmlformats.org/officeDocument/2006/relationships/image" Target="../media/image5.png"/><Relationship Id="rId10" Type="http://schemas.openxmlformats.org/officeDocument/2006/relationships/image" Target="../media/image10.svg"/><Relationship Id="rId4" Type="http://schemas.openxmlformats.org/officeDocument/2006/relationships/image" Target="../media/image4.svg"/><Relationship Id="rId9" Type="http://schemas.openxmlformats.org/officeDocument/2006/relationships/image" Target="../media/image9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6.png"/><Relationship Id="rId3" Type="http://schemas.openxmlformats.org/officeDocument/2006/relationships/image" Target="../media/image11.png"/><Relationship Id="rId7" Type="http://schemas.openxmlformats.org/officeDocument/2006/relationships/image" Target="../media/image15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4.png"/><Relationship Id="rId5" Type="http://schemas.openxmlformats.org/officeDocument/2006/relationships/image" Target="../media/image13.png"/><Relationship Id="rId4" Type="http://schemas.openxmlformats.org/officeDocument/2006/relationships/image" Target="../media/image12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9.png"/><Relationship Id="rId4" Type="http://schemas.openxmlformats.org/officeDocument/2006/relationships/image" Target="../media/image18.sv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사각형: 둥근 모서리 36">
            <a:extLst>
              <a:ext uri="{FF2B5EF4-FFF2-40B4-BE49-F238E27FC236}">
                <a16:creationId xmlns:a16="http://schemas.microsoft.com/office/drawing/2014/main" id="{70BA70C2-B07D-4FB2-8044-D17828F175C1}"/>
              </a:ext>
            </a:extLst>
          </p:cNvPr>
          <p:cNvSpPr>
            <a:spLocks noGrp="1"/>
          </p:cNvSpPr>
          <p:nvPr/>
        </p:nvSpPr>
        <p:spPr>
          <a:xfrm>
            <a:off x="7283733" y="3037577"/>
            <a:ext cx="2386148" cy="478467"/>
          </a:xfrm>
          <a:prstGeom prst="roundRect">
            <a:avLst>
              <a:gd name="adj" fmla="val 19218"/>
            </a:avLst>
          </a:prstGeom>
          <a:solidFill>
            <a:schemeClr val="bg1">
              <a:lumMod val="95000"/>
            </a:schemeClr>
          </a:solidFill>
          <a:ln w="9525">
            <a:solidFill>
              <a:srgbClr val="E4DAF0"/>
            </a:solidFill>
            <a:prstDash val="solid"/>
          </a:ln>
        </p:spPr>
        <p:txBody>
          <a:bodyPr anchor="ctr" anchorCtr="0"/>
          <a:lstStyle/>
          <a:p>
            <a:pPr algn="ctr"/>
            <a:r>
              <a:rPr lang="ko-KR" altLang="en-US" sz="1400" b="1"/>
              <a:t>           내용 확인</a:t>
            </a:r>
            <a:r>
              <a:rPr lang="en-US" altLang="ko-KR" sz="1400" b="1"/>
              <a:t>, </a:t>
            </a:r>
            <a:r>
              <a:rPr lang="ko-KR" altLang="en-US" sz="1400" b="1"/>
              <a:t>업무 처리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565F164-0C45-4D87-8583-266FB8891880}"/>
              </a:ext>
            </a:extLst>
          </p:cNvPr>
          <p:cNvSpPr txBox="1"/>
          <p:nvPr/>
        </p:nvSpPr>
        <p:spPr>
          <a:xfrm>
            <a:off x="181848" y="118834"/>
            <a:ext cx="828135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입력만으로 필요 절차와 지침을 한 번에</a:t>
            </a:r>
            <a:r>
              <a:rPr kumimoji="0" lang="en-US" altLang="ko-KR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, 『</a:t>
            </a:r>
            <a:r>
              <a:rPr kumimoji="0" lang="ko-KR" altLang="en-US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업무 지침 네비게이터</a:t>
            </a:r>
            <a:r>
              <a:rPr kumimoji="0" lang="en-US" altLang="ko-KR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』</a:t>
            </a:r>
            <a:endParaRPr kumimoji="0" lang="ko-KR" altLang="en-US" sz="2000" b="1" i="0" u="none" strike="noStrike" kern="1200" cap="none" spc="-10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B0503020000020004" pitchFamily="50" charset="-127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52B0CE51-5E0D-4D3B-A979-2D472BDF38F1}"/>
              </a:ext>
            </a:extLst>
          </p:cNvPr>
          <p:cNvSpPr/>
          <p:nvPr/>
        </p:nvSpPr>
        <p:spPr>
          <a:xfrm>
            <a:off x="8828644" y="141814"/>
            <a:ext cx="1031052" cy="46935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r" defTabSz="914400" rtl="0" eaLnBrk="1" fontAlgn="base" latinLnBrk="1" hangingPunct="1">
              <a:lnSpc>
                <a:spcPct val="100000"/>
              </a:lnSpc>
              <a:spcBef>
                <a:spcPts val="30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1" lang="en-US" altLang="ko-KR" sz="1100" b="1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’26.9.16.</a:t>
            </a:r>
          </a:p>
          <a:p>
            <a:pPr marL="0" marR="0" lvl="0" indent="0" algn="r" defTabSz="914400" rtl="0" eaLnBrk="1" fontAlgn="base" latinLnBrk="1" hangingPunct="1">
              <a:lnSpc>
                <a:spcPct val="100000"/>
              </a:lnSpc>
              <a:spcBef>
                <a:spcPts val="30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1" lang="ko-KR" altLang="en-US" sz="1100" b="1" kern="0">
                <a:solidFill>
                  <a:prstClr val="white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포스코퓨처엠</a:t>
            </a:r>
            <a:endParaRPr kumimoji="1" lang="en-US" altLang="ko-KR" sz="1100" b="1" i="0" u="none" strike="noStrike" kern="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맑은 고딕" panose="020B0503020000020004" pitchFamily="50" charset="-127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18989D12-EF7E-4B26-A8A4-47703D404C10}"/>
              </a:ext>
            </a:extLst>
          </p:cNvPr>
          <p:cNvSpPr/>
          <p:nvPr/>
        </p:nvSpPr>
        <p:spPr>
          <a:xfrm>
            <a:off x="556286" y="709192"/>
            <a:ext cx="7886103" cy="3999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73891" tIns="73891" rIns="73891" bIns="73891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ts val="2200"/>
              </a:lnSpc>
              <a:spcBef>
                <a:spcPts val="30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400" b="1" i="0" u="none" strike="noStrike" kern="1200" cap="none" spc="-2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  <a:sym typeface="Wingdings" pitchFamily="2" charset="2"/>
              </a:rPr>
              <a:t>검토 배경</a:t>
            </a:r>
            <a:endParaRPr kumimoji="0" lang="en-US" altLang="ko-KR" sz="1400" b="0" i="0" u="none" strike="noStrike" kern="1200" cap="none" spc="-2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  <a:sym typeface="Wingdings" pitchFamily="2" charset="2"/>
            </a:endParaRPr>
          </a:p>
        </p:txBody>
      </p:sp>
      <p:grpSp>
        <p:nvGrpSpPr>
          <p:cNvPr id="8" name="그룹 7">
            <a:extLst>
              <a:ext uri="{FF2B5EF4-FFF2-40B4-BE49-F238E27FC236}">
                <a16:creationId xmlns:a16="http://schemas.microsoft.com/office/drawing/2014/main" id="{26A7927B-1FC5-4002-88D0-9247A5AECD7B}"/>
              </a:ext>
            </a:extLst>
          </p:cNvPr>
          <p:cNvGrpSpPr/>
          <p:nvPr/>
        </p:nvGrpSpPr>
        <p:grpSpPr>
          <a:xfrm>
            <a:off x="310399" y="819181"/>
            <a:ext cx="194324" cy="180020"/>
            <a:chOff x="416496" y="3577457"/>
            <a:chExt cx="194324" cy="180020"/>
          </a:xfrm>
        </p:grpSpPr>
        <p:sp>
          <p:nvSpPr>
            <p:cNvPr id="9" name="모서리가 둥근 직사각형 320">
              <a:extLst>
                <a:ext uri="{FF2B5EF4-FFF2-40B4-BE49-F238E27FC236}">
                  <a16:creationId xmlns:a16="http://schemas.microsoft.com/office/drawing/2014/main" id="{64991931-304B-4A79-8ABF-F87172C315CC}"/>
                </a:ext>
              </a:extLst>
            </p:cNvPr>
            <p:cNvSpPr/>
            <p:nvPr/>
          </p:nvSpPr>
          <p:spPr>
            <a:xfrm>
              <a:off x="416496" y="3577457"/>
              <a:ext cx="194324" cy="180020"/>
            </a:xfrm>
            <a:prstGeom prst="roundRect">
              <a:avLst>
                <a:gd name="adj" fmla="val 13669"/>
              </a:avLst>
            </a:prstGeom>
            <a:solidFill>
              <a:srgbClr val="0070C0"/>
            </a:solidFill>
            <a:ln w="9525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rIns="0"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ko-KR" sz="1200" b="1" i="0" u="none" strike="noStrike" kern="1200" cap="none" spc="-20" normalizeH="0" baseline="0" noProof="0" dirty="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prstClr val="white"/>
                </a:solidFill>
                <a:effectLst/>
                <a:uLnTx/>
                <a:uFillTx/>
                <a:latin typeface="HY견고딕" panose="02030600000101010101" pitchFamily="18" charset="-127"/>
                <a:ea typeface="HY견고딕" panose="02030600000101010101" pitchFamily="18" charset="-127"/>
                <a:cs typeface="Arial" panose="020B0604020202020204" pitchFamily="34" charset="0"/>
              </a:endParaRPr>
            </a:p>
          </p:txBody>
        </p:sp>
        <p:pic>
          <p:nvPicPr>
            <p:cNvPr id="10" name="그림 9" descr="7.png">
              <a:extLst>
                <a:ext uri="{FF2B5EF4-FFF2-40B4-BE49-F238E27FC236}">
                  <a16:creationId xmlns:a16="http://schemas.microsoft.com/office/drawing/2014/main" id="{0EFF1F02-3E3B-4082-8B1A-A822DE53A214}"/>
                </a:ext>
              </a:extLst>
            </p:cNvPr>
            <p:cNvPicPr>
              <a:picLocks noChangeAspect="1"/>
            </p:cNvPicPr>
            <p:nvPr/>
          </p:nvPicPr>
          <p:blipFill>
            <a:blip r:embed="rId2" cstate="print"/>
            <a:srcRect/>
            <a:stretch>
              <a:fillRect/>
            </a:stretch>
          </p:blipFill>
          <p:spPr>
            <a:xfrm>
              <a:off x="421441" y="3582473"/>
              <a:ext cx="185267" cy="175004"/>
            </a:xfrm>
            <a:prstGeom prst="roundRect">
              <a:avLst>
                <a:gd name="adj" fmla="val 0"/>
              </a:avLst>
            </a:prstGeom>
          </p:spPr>
        </p:pic>
      </p:grp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AEBEE609-C434-4349-8901-D531366F8FD3}"/>
              </a:ext>
            </a:extLst>
          </p:cNvPr>
          <p:cNvSpPr/>
          <p:nvPr/>
        </p:nvSpPr>
        <p:spPr>
          <a:xfrm>
            <a:off x="398363" y="1051801"/>
            <a:ext cx="9507637" cy="115341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73891" tIns="73891" rIns="73891" bIns="73891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ts val="2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300" b="0" i="0" u="none" strike="noStrike" kern="1200" cap="none" spc="-4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  <a:sym typeface="Wingdings" pitchFamily="2" charset="2"/>
              </a:rPr>
              <a:t>○ 누구나 필요한 </a:t>
            </a:r>
            <a:r>
              <a:rPr kumimoji="0" lang="ko-KR" altLang="en-US" sz="1300" b="0" i="0" u="none" strike="noStrike" kern="1200" cap="none" spc="-4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  <a:sym typeface="Wingdings" pitchFamily="2" charset="2"/>
              </a:rPr>
              <a:t>업무 프로세스를 쉽게 이해하고</a:t>
            </a:r>
            <a:r>
              <a:rPr kumimoji="0" lang="en-US" altLang="ko-KR" sz="1300" b="0" i="0" u="none" strike="noStrike" kern="1200" cap="none" spc="-4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  <a:sym typeface="Wingdings" pitchFamily="2" charset="2"/>
              </a:rPr>
              <a:t>, </a:t>
            </a:r>
            <a:r>
              <a:rPr lang="ko-KR" altLang="en-US" sz="1300" spc="-40">
                <a:solidFill>
                  <a:prstClr val="black"/>
                </a:solidFill>
                <a:latin typeface="맑은 고딕" panose="020B0503020000020004" pitchFamily="50" charset="-127"/>
                <a:ea typeface="맑은 고딕" panose="020B0503020000020004" pitchFamily="50" charset="-127"/>
                <a:sym typeface="Wingdings" pitchFamily="2" charset="2"/>
              </a:rPr>
              <a:t>안정적으로 이행할 수 있도록</a:t>
            </a:r>
            <a:r>
              <a:rPr kumimoji="0" lang="ko-KR" altLang="en-US" sz="1300" b="0" i="0" u="none" strike="noStrike" kern="1200" cap="none" spc="-4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  <a:sym typeface="Wingdings" pitchFamily="2" charset="2"/>
              </a:rPr>
              <a:t> </a:t>
            </a:r>
            <a:r>
              <a:rPr lang="ko-KR" altLang="en-US" sz="1300" spc="-40">
                <a:solidFill>
                  <a:prstClr val="black"/>
                </a:solidFill>
                <a:latin typeface="맑은 고딕" panose="020B0503020000020004" pitchFamily="50" charset="-127"/>
                <a:ea typeface="맑은 고딕" panose="020B0503020000020004" pitchFamily="50" charset="-127"/>
                <a:sym typeface="Wingdings" pitchFamily="2" charset="2"/>
              </a:rPr>
              <a:t>지원 필요</a:t>
            </a:r>
            <a:endParaRPr kumimoji="0" lang="en-US" altLang="ko-KR" sz="1300" b="0" i="0" u="none" strike="noStrike" kern="1200" cap="none" spc="-4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  <a:sym typeface="Wingdings" pitchFamily="2" charset="2"/>
            </a:endParaRPr>
          </a:p>
          <a:p>
            <a:pPr marL="0" marR="0" lvl="0" indent="0" algn="l" defTabSz="914400" rtl="0" eaLnBrk="1" fontAlgn="auto" latinLnBrk="1" hangingPunct="1">
              <a:lnSpc>
                <a:spcPts val="2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300" b="1" i="0" u="none" strike="noStrike" kern="1200" cap="none" spc="-4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  <a:sym typeface="Wingdings" pitchFamily="2" charset="2"/>
              </a:rPr>
              <a:t>   </a:t>
            </a:r>
            <a:r>
              <a:rPr lang="en-US" altLang="ko-KR" sz="1300" spc="-4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  <a:sym typeface="Wingdings" pitchFamily="2" charset="2"/>
              </a:rPr>
              <a:t>(</a:t>
            </a:r>
            <a:r>
              <a:rPr lang="ko-KR" altLang="en-US" sz="1300" spc="-4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  <a:sym typeface="Wingdings" pitchFamily="2" charset="2"/>
              </a:rPr>
              <a:t>회사 업무</a:t>
            </a:r>
            <a:r>
              <a:rPr lang="en-US" altLang="ko-KR" sz="1300" spc="-4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  <a:sym typeface="Wingdings" pitchFamily="2" charset="2"/>
              </a:rPr>
              <a:t>) </a:t>
            </a:r>
            <a:r>
              <a:rPr lang="ko-KR" altLang="en-US" sz="1300"/>
              <a:t>정해진 프로세스와 지침에 따라 업무를 처리하고</a:t>
            </a:r>
            <a:r>
              <a:rPr lang="en-US" altLang="ko-KR" sz="1300"/>
              <a:t>,  </a:t>
            </a:r>
            <a:r>
              <a:rPr lang="ko-KR" altLang="en-US" sz="1300"/>
              <a:t>담당자가 바뀌어도 필수 절차를 준수해</a:t>
            </a:r>
            <a:r>
              <a:rPr lang="en-US" altLang="ko-KR" sz="1300"/>
              <a:t>, </a:t>
            </a:r>
            <a:r>
              <a:rPr lang="ko-KR" altLang="en-US" sz="1300"/>
              <a:t>일관된 결과물 확보 要</a:t>
            </a:r>
            <a:endParaRPr lang="en-US" altLang="ko-KR" sz="1300" spc="-40">
              <a:solidFill>
                <a:prstClr val="black"/>
              </a:solidFill>
              <a:latin typeface="맑은 고딕"/>
              <a:ea typeface="맑은 고딕" panose="020B0503020000020004" pitchFamily="50" charset="-127"/>
              <a:sym typeface="Wingdings" pitchFamily="2" charset="2"/>
            </a:endParaRPr>
          </a:p>
          <a:p>
            <a:pPr marL="0" marR="0" lvl="0" indent="0" algn="l" defTabSz="914400" rtl="0" eaLnBrk="1" fontAlgn="auto" latinLnBrk="1" hangingPunct="1">
              <a:lnSpc>
                <a:spcPts val="2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300" b="0" i="0" u="none" strike="noStrike" kern="1200" cap="none" spc="-4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  <a:sym typeface="Wingdings" pitchFamily="2" charset="2"/>
              </a:rPr>
              <a:t>   </a:t>
            </a:r>
            <a:r>
              <a:rPr lang="en-US" altLang="ko-KR" sz="1300" spc="-4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  <a:sym typeface="Wingdings" pitchFamily="2" charset="2"/>
              </a:rPr>
              <a:t>(</a:t>
            </a:r>
            <a:r>
              <a:rPr lang="ko-KR" altLang="en-US" sz="1300" spc="-4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  <a:sym typeface="Wingdings" pitchFamily="2" charset="2"/>
              </a:rPr>
              <a:t>현황</a:t>
            </a:r>
            <a:r>
              <a:rPr lang="en-US" altLang="ko-KR" sz="1300" spc="-4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  <a:sym typeface="Wingdings" pitchFamily="2" charset="2"/>
              </a:rPr>
              <a:t>) </a:t>
            </a:r>
            <a:r>
              <a:rPr lang="ko-KR" altLang="en-US" sz="1300" spc="-4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  <a:sym typeface="Wingdings" pitchFamily="2" charset="2"/>
              </a:rPr>
              <a:t>필요한 절차와 지침을 찾는 데 오랜 시간 소요</a:t>
            </a:r>
            <a:r>
              <a:rPr lang="en-US" altLang="ko-KR" sz="1300" spc="-4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  <a:sym typeface="Wingdings" pitchFamily="2" charset="2"/>
              </a:rPr>
              <a:t>, </a:t>
            </a:r>
            <a:r>
              <a:rPr lang="ko-KR" altLang="en-US" sz="1300" spc="-4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  <a:sym typeface="Wingdings" pitchFamily="2" charset="2"/>
              </a:rPr>
              <a:t>담당자마다 접근 방식 상이 </a:t>
            </a:r>
            <a:endParaRPr lang="en-US" altLang="ko-KR" sz="1300" spc="-40">
              <a:solidFill>
                <a:prstClr val="black"/>
              </a:solidFill>
              <a:latin typeface="맑은 고딕"/>
              <a:ea typeface="맑은 고딕" panose="020B0503020000020004" pitchFamily="50" charset="-127"/>
              <a:sym typeface="Wingdings" pitchFamily="2" charset="2"/>
            </a:endParaRPr>
          </a:p>
          <a:p>
            <a:pPr marL="0" marR="0" lvl="0" indent="0" algn="l" defTabSz="914400" rtl="0" eaLnBrk="1" fontAlgn="auto" latinLnBrk="1" hangingPunct="1">
              <a:lnSpc>
                <a:spcPts val="2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1300" spc="-4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  <a:sym typeface="Wingdings" pitchFamily="2" charset="2"/>
              </a:rPr>
              <a:t>   (</a:t>
            </a:r>
            <a:r>
              <a:rPr lang="ko-KR" altLang="en-US" sz="1300" spc="-4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  <a:sym typeface="Wingdings" pitchFamily="2" charset="2"/>
              </a:rPr>
              <a:t>개선방안</a:t>
            </a:r>
            <a:r>
              <a:rPr lang="en-US" altLang="ko-KR" sz="1300" spc="-4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  <a:sym typeface="Wingdings" pitchFamily="2" charset="2"/>
              </a:rPr>
              <a:t>)</a:t>
            </a:r>
            <a:r>
              <a:rPr lang="ko-KR" altLang="en-US" sz="1300" spc="-4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  <a:sym typeface="Wingdings" pitchFamily="2" charset="2"/>
              </a:rPr>
              <a:t> 수행하려는 업무를 </a:t>
            </a:r>
            <a:r>
              <a:rPr lang="ko-KR" altLang="en-US" sz="1300"/>
              <a:t>입력하면 관련 </a:t>
            </a:r>
            <a:r>
              <a:rPr lang="ko-KR" altLang="en-US" sz="1300" b="1"/>
              <a:t>지침과 처리 절차를 쉽게 안내하는 </a:t>
            </a:r>
            <a:r>
              <a:rPr lang="en-US" altLang="ko-KR" sz="1300" b="1"/>
              <a:t>『</a:t>
            </a:r>
            <a:r>
              <a:rPr lang="ko-KR" altLang="en-US" sz="1300" b="1"/>
              <a:t>업무 지침 네비게이터</a:t>
            </a:r>
            <a:r>
              <a:rPr lang="en-US" altLang="ko-KR" sz="1300" b="1"/>
              <a:t>』 </a:t>
            </a:r>
            <a:r>
              <a:rPr lang="ko-KR" altLang="en-US" sz="1300" b="1"/>
              <a:t>구축</a:t>
            </a:r>
            <a:r>
              <a:rPr lang="ko-KR" altLang="en-US" sz="1300" b="1" spc="-4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  <a:sym typeface="Wingdings" pitchFamily="2" charset="2"/>
              </a:rPr>
              <a:t> </a:t>
            </a:r>
            <a:endParaRPr lang="en-US" altLang="ko-KR" sz="1300" b="1" spc="-40">
              <a:solidFill>
                <a:prstClr val="black"/>
              </a:solidFill>
              <a:latin typeface="맑은 고딕"/>
              <a:ea typeface="맑은 고딕" panose="020B0503020000020004" pitchFamily="50" charset="-127"/>
              <a:sym typeface="Wingdings" pitchFamily="2" charset="2"/>
            </a:endParaRPr>
          </a:p>
        </p:txBody>
      </p: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B656DA0D-7D8A-4307-854A-0B0967B6A766}"/>
              </a:ext>
            </a:extLst>
          </p:cNvPr>
          <p:cNvSpPr/>
          <p:nvPr/>
        </p:nvSpPr>
        <p:spPr>
          <a:xfrm>
            <a:off x="556286" y="2280294"/>
            <a:ext cx="9218275" cy="4064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73891" tIns="73891" rIns="73891" bIns="73891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ts val="2200"/>
              </a:lnSpc>
              <a:spcBef>
                <a:spcPts val="30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400" b="1" i="0" u="none" strike="noStrike" kern="1200" cap="none" spc="-2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  <a:cs typeface="+mn-cs"/>
                <a:sym typeface="Wingdings" pitchFamily="2" charset="2"/>
              </a:rPr>
              <a:t>추진 방향</a:t>
            </a:r>
            <a:r>
              <a:rPr kumimoji="0" lang="en-US" altLang="ko-KR" sz="1400" b="1" i="0" u="none" strike="noStrike" kern="1200" cap="none" spc="-2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  <a:cs typeface="+mn-cs"/>
                <a:sym typeface="Wingdings" pitchFamily="2" charset="2"/>
              </a:rPr>
              <a:t>: </a:t>
            </a:r>
            <a:r>
              <a:rPr lang="ko-KR" altLang="en-US" sz="1400">
                <a:latin typeface="+mn-ea"/>
              </a:rPr>
              <a:t>담당자의 경험과 개별 탐색 방식에서 </a:t>
            </a:r>
            <a:r>
              <a:rPr lang="ko-KR" altLang="en-US" sz="1400" b="1">
                <a:solidFill>
                  <a:srgbClr val="0000FF"/>
                </a:solidFill>
                <a:latin typeface="+mn-ea"/>
              </a:rPr>
              <a:t>업무별 처리 절차와 지침을 한 번에 안내하는 방식으로 전환</a:t>
            </a:r>
            <a:endParaRPr kumimoji="0" lang="en-US" altLang="ko-KR" sz="1400" b="1" i="0" u="none" strike="noStrike" kern="1200" cap="none" spc="-20" normalizeH="0" baseline="0" noProof="0" dirty="0">
              <a:ln>
                <a:noFill/>
              </a:ln>
              <a:solidFill>
                <a:srgbClr val="0000FF"/>
              </a:solidFill>
              <a:effectLst/>
              <a:uLnTx/>
              <a:uFillTx/>
              <a:latin typeface="+mn-ea"/>
              <a:cs typeface="+mn-cs"/>
              <a:sym typeface="Wingdings" pitchFamily="2" charset="2"/>
            </a:endParaRPr>
          </a:p>
        </p:txBody>
      </p:sp>
      <p:grpSp>
        <p:nvGrpSpPr>
          <p:cNvPr id="19" name="그룹 18">
            <a:extLst>
              <a:ext uri="{FF2B5EF4-FFF2-40B4-BE49-F238E27FC236}">
                <a16:creationId xmlns:a16="http://schemas.microsoft.com/office/drawing/2014/main" id="{1A108875-0952-48E3-AB80-BF0F0F01D762}"/>
              </a:ext>
            </a:extLst>
          </p:cNvPr>
          <p:cNvGrpSpPr/>
          <p:nvPr/>
        </p:nvGrpSpPr>
        <p:grpSpPr>
          <a:xfrm>
            <a:off x="310399" y="2390283"/>
            <a:ext cx="194324" cy="180020"/>
            <a:chOff x="416496" y="3577457"/>
            <a:chExt cx="194324" cy="180020"/>
          </a:xfrm>
        </p:grpSpPr>
        <p:sp>
          <p:nvSpPr>
            <p:cNvPr id="20" name="모서리가 둥근 직사각형 320">
              <a:extLst>
                <a:ext uri="{FF2B5EF4-FFF2-40B4-BE49-F238E27FC236}">
                  <a16:creationId xmlns:a16="http://schemas.microsoft.com/office/drawing/2014/main" id="{C8058689-94E4-446F-AA2A-B4307B03BD15}"/>
                </a:ext>
              </a:extLst>
            </p:cNvPr>
            <p:cNvSpPr/>
            <p:nvPr/>
          </p:nvSpPr>
          <p:spPr>
            <a:xfrm>
              <a:off x="416496" y="3577457"/>
              <a:ext cx="194324" cy="180020"/>
            </a:xfrm>
            <a:prstGeom prst="roundRect">
              <a:avLst>
                <a:gd name="adj" fmla="val 13669"/>
              </a:avLst>
            </a:prstGeom>
            <a:solidFill>
              <a:srgbClr val="0070C0"/>
            </a:solidFill>
            <a:ln w="9525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rIns="0"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ko-KR" sz="1200" b="1" i="0" u="none" strike="noStrike" kern="1200" cap="none" spc="-20" normalizeH="0" baseline="0" noProof="0" dirty="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prstClr val="white"/>
                </a:solidFill>
                <a:effectLst/>
                <a:uLnTx/>
                <a:uFillTx/>
                <a:latin typeface="HY견고딕" panose="02030600000101010101" pitchFamily="18" charset="-127"/>
                <a:ea typeface="HY견고딕" panose="02030600000101010101" pitchFamily="18" charset="-127"/>
                <a:cs typeface="Arial" panose="020B0604020202020204" pitchFamily="34" charset="0"/>
              </a:endParaRPr>
            </a:p>
          </p:txBody>
        </p:sp>
        <p:pic>
          <p:nvPicPr>
            <p:cNvPr id="21" name="그림 20" descr="7.png">
              <a:extLst>
                <a:ext uri="{FF2B5EF4-FFF2-40B4-BE49-F238E27FC236}">
                  <a16:creationId xmlns:a16="http://schemas.microsoft.com/office/drawing/2014/main" id="{79B5018E-A44B-4CB4-A228-3DB8F42FC597}"/>
                </a:ext>
              </a:extLst>
            </p:cNvPr>
            <p:cNvPicPr>
              <a:picLocks noChangeAspect="1"/>
            </p:cNvPicPr>
            <p:nvPr/>
          </p:nvPicPr>
          <p:blipFill>
            <a:blip r:embed="rId2" cstate="print"/>
            <a:srcRect/>
            <a:stretch>
              <a:fillRect/>
            </a:stretch>
          </p:blipFill>
          <p:spPr>
            <a:xfrm>
              <a:off x="421441" y="3582473"/>
              <a:ext cx="185267" cy="175004"/>
            </a:xfrm>
            <a:prstGeom prst="roundRect">
              <a:avLst>
                <a:gd name="adj" fmla="val 0"/>
              </a:avLst>
            </a:prstGeom>
          </p:spPr>
        </p:pic>
      </p:grpSp>
      <p:sp>
        <p:nvSpPr>
          <p:cNvPr id="23" name="사각형: 둥근 모서리 22">
            <a:extLst>
              <a:ext uri="{FF2B5EF4-FFF2-40B4-BE49-F238E27FC236}">
                <a16:creationId xmlns:a16="http://schemas.microsoft.com/office/drawing/2014/main" id="{F2049F6D-52F7-4288-9113-D28B84A81059}"/>
              </a:ext>
            </a:extLst>
          </p:cNvPr>
          <p:cNvSpPr>
            <a:spLocks noGrp="1"/>
          </p:cNvSpPr>
          <p:nvPr/>
        </p:nvSpPr>
        <p:spPr>
          <a:xfrm>
            <a:off x="462512" y="3037577"/>
            <a:ext cx="2252113" cy="478467"/>
          </a:xfrm>
          <a:prstGeom prst="roundRect">
            <a:avLst>
              <a:gd name="adj" fmla="val 19218"/>
            </a:avLst>
          </a:prstGeom>
          <a:solidFill>
            <a:schemeClr val="bg1">
              <a:lumMod val="95000"/>
            </a:schemeClr>
          </a:solidFill>
          <a:ln w="9525">
            <a:solidFill>
              <a:srgbClr val="E4DAF0"/>
            </a:solidFill>
            <a:prstDash val="solid"/>
          </a:ln>
        </p:spPr>
        <p:txBody>
          <a:bodyPr anchor="ctr" anchorCtr="0"/>
          <a:lstStyle/>
          <a:p>
            <a:pPr algn="ctr"/>
            <a:r>
              <a:rPr lang="ko-KR" altLang="en-US" sz="1400" b="1"/>
              <a:t>            업무 입력</a:t>
            </a:r>
          </a:p>
        </p:txBody>
      </p:sp>
      <p:sp>
        <p:nvSpPr>
          <p:cNvPr id="2" name="사각형: 둥근 모서리 1">
            <a:extLst>
              <a:ext uri="{FF2B5EF4-FFF2-40B4-BE49-F238E27FC236}">
                <a16:creationId xmlns:a16="http://schemas.microsoft.com/office/drawing/2014/main" id="{43B59CCF-E875-4AEA-AAD6-272EB49A1CBF}"/>
              </a:ext>
            </a:extLst>
          </p:cNvPr>
          <p:cNvSpPr/>
          <p:nvPr/>
        </p:nvSpPr>
        <p:spPr>
          <a:xfrm>
            <a:off x="469592" y="2861018"/>
            <a:ext cx="647700" cy="228600"/>
          </a:xfrm>
          <a:prstGeom prst="roundRect">
            <a:avLst/>
          </a:prstGeom>
          <a:solidFill>
            <a:schemeClr val="accent5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ko-KR" altLang="en-US" sz="1200" b="1">
                <a:solidFill>
                  <a:schemeClr val="tx1"/>
                </a:solidFill>
              </a:rPr>
              <a:t>사용자</a:t>
            </a:r>
          </a:p>
        </p:txBody>
      </p:sp>
      <p:sp>
        <p:nvSpPr>
          <p:cNvPr id="26" name="사각형: 둥근 모서리 25">
            <a:extLst>
              <a:ext uri="{FF2B5EF4-FFF2-40B4-BE49-F238E27FC236}">
                <a16:creationId xmlns:a16="http://schemas.microsoft.com/office/drawing/2014/main" id="{4BBD58B2-2387-4964-99E8-F34766B9469C}"/>
              </a:ext>
            </a:extLst>
          </p:cNvPr>
          <p:cNvSpPr>
            <a:spLocks noGrp="1"/>
          </p:cNvSpPr>
          <p:nvPr/>
        </p:nvSpPr>
        <p:spPr>
          <a:xfrm>
            <a:off x="2904110" y="3037577"/>
            <a:ext cx="4192537" cy="478467"/>
          </a:xfrm>
          <a:prstGeom prst="roundRect">
            <a:avLst>
              <a:gd name="adj" fmla="val 15236"/>
            </a:avLst>
          </a:prstGeom>
          <a:solidFill>
            <a:srgbClr val="F1ECF8"/>
          </a:solidFill>
          <a:ln w="9525">
            <a:solidFill>
              <a:srgbClr val="E4DAF0"/>
            </a:solidFill>
            <a:prstDash val="solid"/>
          </a:ln>
        </p:spPr>
        <p:txBody>
          <a:bodyPr anchor="ctr" anchorCtr="0"/>
          <a:lstStyle/>
          <a:p>
            <a:r>
              <a:rPr lang="ko-KR" altLang="en-US" sz="1400" b="1"/>
              <a:t>             키워드</a:t>
            </a:r>
            <a:r>
              <a:rPr lang="en-US" altLang="ko-KR" sz="1400" b="1"/>
              <a:t>, </a:t>
            </a:r>
            <a:r>
              <a:rPr lang="ko-KR" altLang="en-US" sz="1400" b="1"/>
              <a:t>업무 유형 분석            절차</a:t>
            </a:r>
            <a:r>
              <a:rPr lang="en-US" altLang="ko-KR" sz="1400" b="1"/>
              <a:t>, </a:t>
            </a:r>
            <a:r>
              <a:rPr lang="ko-KR" altLang="en-US" sz="1400" b="1"/>
              <a:t>지침 안내                   </a:t>
            </a:r>
            <a:r>
              <a:rPr lang="en-US" altLang="ko-KR" sz="1400" b="1"/>
              <a:t> </a:t>
            </a:r>
            <a:endParaRPr lang="ko-KR" altLang="en-US" sz="1400" b="1"/>
          </a:p>
        </p:txBody>
      </p:sp>
      <p:sp>
        <p:nvSpPr>
          <p:cNvPr id="27" name="사각형: 둥근 모서리 26">
            <a:extLst>
              <a:ext uri="{FF2B5EF4-FFF2-40B4-BE49-F238E27FC236}">
                <a16:creationId xmlns:a16="http://schemas.microsoft.com/office/drawing/2014/main" id="{EC5240A7-1ADF-4299-96E9-D69490812910}"/>
              </a:ext>
            </a:extLst>
          </p:cNvPr>
          <p:cNvSpPr/>
          <p:nvPr/>
        </p:nvSpPr>
        <p:spPr>
          <a:xfrm>
            <a:off x="2904111" y="2861018"/>
            <a:ext cx="647700" cy="228600"/>
          </a:xfrm>
          <a:prstGeom prst="round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ko-KR" altLang="en-US" sz="1200" b="1"/>
              <a:t>서비스</a:t>
            </a:r>
          </a:p>
        </p:txBody>
      </p:sp>
      <p:pic>
        <p:nvPicPr>
          <p:cNvPr id="5" name="그래픽 4" descr="아이디어를 가진 사람 단색으로 채워진">
            <a:extLst>
              <a:ext uri="{FF2B5EF4-FFF2-40B4-BE49-F238E27FC236}">
                <a16:creationId xmlns:a16="http://schemas.microsoft.com/office/drawing/2014/main" id="{603765C0-89CB-44A9-A623-57C762AFB6A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7332478" y="3065815"/>
            <a:ext cx="525332" cy="443544"/>
          </a:xfrm>
          <a:prstGeom prst="rect">
            <a:avLst/>
          </a:prstGeom>
        </p:spPr>
      </p:pic>
      <p:pic>
        <p:nvPicPr>
          <p:cNvPr id="24" name="그래픽 23" descr="사용자 단색으로 채워진">
            <a:extLst>
              <a:ext uri="{FF2B5EF4-FFF2-40B4-BE49-F238E27FC236}">
                <a16:creationId xmlns:a16="http://schemas.microsoft.com/office/drawing/2014/main" id="{7C222A63-90C8-4CC3-A48C-632244EF6FB9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494664" y="2991526"/>
            <a:ext cx="597557" cy="597557"/>
          </a:xfrm>
          <a:prstGeom prst="rect">
            <a:avLst/>
          </a:prstGeom>
        </p:spPr>
      </p:pic>
      <p:pic>
        <p:nvPicPr>
          <p:cNvPr id="29" name="그래픽 28" descr="갈매기형 화살표 단색으로 채워진">
            <a:extLst>
              <a:ext uri="{FF2B5EF4-FFF2-40B4-BE49-F238E27FC236}">
                <a16:creationId xmlns:a16="http://schemas.microsoft.com/office/drawing/2014/main" id="{AB8D90E4-C1C8-41F3-BEBC-5093CF686F58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5305030" y="3057026"/>
            <a:ext cx="425550" cy="425550"/>
          </a:xfrm>
          <a:prstGeom prst="rect">
            <a:avLst/>
          </a:prstGeom>
        </p:spPr>
      </p:pic>
      <p:pic>
        <p:nvPicPr>
          <p:cNvPr id="31" name="그래픽 30" descr="클라우드 컴퓨팅 단색으로 채워진">
            <a:extLst>
              <a:ext uri="{FF2B5EF4-FFF2-40B4-BE49-F238E27FC236}">
                <a16:creationId xmlns:a16="http://schemas.microsoft.com/office/drawing/2014/main" id="{A9EBA402-CA77-49DE-9FC9-B6F93C20927C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3015186" y="3085911"/>
            <a:ext cx="425550" cy="425550"/>
          </a:xfrm>
          <a:prstGeom prst="rect">
            <a:avLst/>
          </a:prstGeom>
        </p:spPr>
      </p:pic>
      <p:sp>
        <p:nvSpPr>
          <p:cNvPr id="38" name="사각형: 둥근 모서리 37">
            <a:extLst>
              <a:ext uri="{FF2B5EF4-FFF2-40B4-BE49-F238E27FC236}">
                <a16:creationId xmlns:a16="http://schemas.microsoft.com/office/drawing/2014/main" id="{405EFF4C-9138-4C0F-8DE4-9B72063D888C}"/>
              </a:ext>
            </a:extLst>
          </p:cNvPr>
          <p:cNvSpPr/>
          <p:nvPr/>
        </p:nvSpPr>
        <p:spPr>
          <a:xfrm>
            <a:off x="7290813" y="2861018"/>
            <a:ext cx="647700" cy="228600"/>
          </a:xfrm>
          <a:prstGeom prst="roundRect">
            <a:avLst/>
          </a:prstGeom>
          <a:solidFill>
            <a:schemeClr val="accent5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ko-KR" altLang="en-US" sz="1200" b="1">
                <a:solidFill>
                  <a:schemeClr val="tx1"/>
                </a:solidFill>
              </a:rPr>
              <a:t>사용자</a:t>
            </a:r>
          </a:p>
        </p:txBody>
      </p:sp>
      <p:sp>
        <p:nvSpPr>
          <p:cNvPr id="32" name="직사각형 31">
            <a:extLst>
              <a:ext uri="{FF2B5EF4-FFF2-40B4-BE49-F238E27FC236}">
                <a16:creationId xmlns:a16="http://schemas.microsoft.com/office/drawing/2014/main" id="{0DD66CEA-C3F9-4B7E-B7A8-3932C855279C}"/>
              </a:ext>
            </a:extLst>
          </p:cNvPr>
          <p:cNvSpPr/>
          <p:nvPr/>
        </p:nvSpPr>
        <p:spPr>
          <a:xfrm>
            <a:off x="358024" y="4937510"/>
            <a:ext cx="9409457" cy="1801656"/>
          </a:xfrm>
          <a:prstGeom prst="rect">
            <a:avLst/>
          </a:prstGeom>
          <a:noFill/>
          <a:ln w="127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3" name="직사각형 32">
            <a:extLst>
              <a:ext uri="{FF2B5EF4-FFF2-40B4-BE49-F238E27FC236}">
                <a16:creationId xmlns:a16="http://schemas.microsoft.com/office/drawing/2014/main" id="{A65F65E2-5821-4B06-A2A3-09E6B588F80E}"/>
              </a:ext>
            </a:extLst>
          </p:cNvPr>
          <p:cNvSpPr/>
          <p:nvPr/>
        </p:nvSpPr>
        <p:spPr>
          <a:xfrm>
            <a:off x="380299" y="3857884"/>
            <a:ext cx="9289581" cy="505290"/>
          </a:xfrm>
          <a:prstGeom prst="rect">
            <a:avLst/>
          </a:prstGeom>
          <a:pattFill prst="pct25">
            <a:fgClr>
              <a:schemeClr val="accent1">
                <a:lumMod val="40000"/>
                <a:lumOff val="60000"/>
              </a:schemeClr>
            </a:fgClr>
            <a:bgClr>
              <a:schemeClr val="bg1"/>
            </a:bgClr>
          </a:patt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500" b="1">
                <a:solidFill>
                  <a:schemeClr val="tx1"/>
                </a:solidFill>
                <a:latin typeface="+mn-ea"/>
              </a:rPr>
              <a:t>필요한 지침을 빠르게 찾아</a:t>
            </a:r>
            <a:r>
              <a:rPr lang="en-US" altLang="ko-KR" sz="1500" b="1">
                <a:solidFill>
                  <a:schemeClr val="tx1"/>
                </a:solidFill>
                <a:latin typeface="+mn-ea"/>
              </a:rPr>
              <a:t>, </a:t>
            </a:r>
            <a:r>
              <a:rPr lang="ko-KR" altLang="en-US" sz="1500" b="1">
                <a:solidFill>
                  <a:schemeClr val="tx1"/>
                </a:solidFill>
                <a:latin typeface="+mn-ea"/>
              </a:rPr>
              <a:t>시작부터 완료까지 정확하게 업무를 처리하도록 체계적으로 지원</a:t>
            </a:r>
          </a:p>
        </p:txBody>
      </p:sp>
      <p:grpSp>
        <p:nvGrpSpPr>
          <p:cNvPr id="42" name="그룹 41">
            <a:extLst>
              <a:ext uri="{FF2B5EF4-FFF2-40B4-BE49-F238E27FC236}">
                <a16:creationId xmlns:a16="http://schemas.microsoft.com/office/drawing/2014/main" id="{D707C160-1EC8-44FC-B4D0-7B733975BF70}"/>
              </a:ext>
            </a:extLst>
          </p:cNvPr>
          <p:cNvGrpSpPr/>
          <p:nvPr/>
        </p:nvGrpSpPr>
        <p:grpSpPr>
          <a:xfrm>
            <a:off x="388532" y="3894803"/>
            <a:ext cx="511817" cy="431452"/>
            <a:chOff x="-895525" y="3274733"/>
            <a:chExt cx="619300" cy="474597"/>
          </a:xfrm>
        </p:grpSpPr>
        <p:sp>
          <p:nvSpPr>
            <p:cNvPr id="40" name="타원 39">
              <a:extLst>
                <a:ext uri="{FF2B5EF4-FFF2-40B4-BE49-F238E27FC236}">
                  <a16:creationId xmlns:a16="http://schemas.microsoft.com/office/drawing/2014/main" id="{DA20131F-F70E-4A56-981E-03309AF0D12C}"/>
                </a:ext>
              </a:extLst>
            </p:cNvPr>
            <p:cNvSpPr/>
            <p:nvPr/>
          </p:nvSpPr>
          <p:spPr>
            <a:xfrm>
              <a:off x="-781050" y="3274733"/>
              <a:ext cx="504825" cy="474597"/>
            </a:xfrm>
            <a:prstGeom prst="ellipse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41" name="화살표: 오른쪽 40">
              <a:extLst>
                <a:ext uri="{FF2B5EF4-FFF2-40B4-BE49-F238E27FC236}">
                  <a16:creationId xmlns:a16="http://schemas.microsoft.com/office/drawing/2014/main" id="{82487A50-08B9-4EF0-9A7E-A9A654CF1493}"/>
                </a:ext>
              </a:extLst>
            </p:cNvPr>
            <p:cNvSpPr/>
            <p:nvPr/>
          </p:nvSpPr>
          <p:spPr>
            <a:xfrm>
              <a:off x="-895525" y="3297066"/>
              <a:ext cx="616600" cy="429929"/>
            </a:xfrm>
            <a:prstGeom prst="rightArrow">
              <a:avLst/>
            </a:prstGeom>
            <a:pattFill prst="pct25">
              <a:fgClr>
                <a:schemeClr val="accent1">
                  <a:lumMod val="40000"/>
                  <a:lumOff val="60000"/>
                </a:schemeClr>
              </a:fgClr>
              <a:bgClr>
                <a:schemeClr val="bg1"/>
              </a:bgClr>
            </a:patt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44" name="사각형: 둥근 모서리 43">
            <a:extLst>
              <a:ext uri="{FF2B5EF4-FFF2-40B4-BE49-F238E27FC236}">
                <a16:creationId xmlns:a16="http://schemas.microsoft.com/office/drawing/2014/main" id="{8559FD55-5C88-41D3-91EE-5E42C474487B}"/>
              </a:ext>
            </a:extLst>
          </p:cNvPr>
          <p:cNvSpPr>
            <a:spLocks noGrp="1"/>
          </p:cNvSpPr>
          <p:nvPr/>
        </p:nvSpPr>
        <p:spPr>
          <a:xfrm>
            <a:off x="462512" y="5015554"/>
            <a:ext cx="1575551" cy="399999"/>
          </a:xfrm>
          <a:prstGeom prst="roundRect">
            <a:avLst>
              <a:gd name="adj" fmla="val 5283"/>
            </a:avLst>
          </a:prstGeom>
          <a:solidFill>
            <a:schemeClr val="bg1">
              <a:lumMod val="95000"/>
            </a:schemeClr>
          </a:solidFill>
          <a:ln w="9525">
            <a:noFill/>
            <a:prstDash val="solid"/>
          </a:ln>
        </p:spPr>
        <p:txBody>
          <a:bodyPr anchor="ctr" anchorCtr="0"/>
          <a:lstStyle/>
          <a:p>
            <a:pPr algn="ctr"/>
            <a:r>
              <a:rPr lang="ko-KR" altLang="en-US" sz="1400" b="1"/>
              <a:t>이용 대상</a:t>
            </a:r>
          </a:p>
        </p:txBody>
      </p:sp>
      <p:sp>
        <p:nvSpPr>
          <p:cNvPr id="47" name="직사각형 46">
            <a:extLst>
              <a:ext uri="{FF2B5EF4-FFF2-40B4-BE49-F238E27FC236}">
                <a16:creationId xmlns:a16="http://schemas.microsoft.com/office/drawing/2014/main" id="{AF15DD7A-DA56-4E27-B8B9-99D16B1EAAD7}"/>
              </a:ext>
            </a:extLst>
          </p:cNvPr>
          <p:cNvSpPr/>
          <p:nvPr/>
        </p:nvSpPr>
        <p:spPr>
          <a:xfrm>
            <a:off x="556287" y="4520869"/>
            <a:ext cx="5271758" cy="3999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73891" tIns="73891" rIns="73891" bIns="73891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ts val="2200"/>
              </a:lnSpc>
              <a:spcBef>
                <a:spcPts val="30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400" b="1" i="0" u="none" strike="noStrike" kern="1200" cap="none" spc="-2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  <a:sym typeface="Wingdings" pitchFamily="2" charset="2"/>
              </a:rPr>
              <a:t>과제 주요 내용 및 기대 효과</a:t>
            </a:r>
            <a:endParaRPr kumimoji="0" lang="en-US" altLang="ko-KR" sz="1400" b="1" i="0" u="none" strike="noStrike" kern="1200" cap="none" spc="-2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  <a:sym typeface="Wingdings" pitchFamily="2" charset="2"/>
            </a:endParaRPr>
          </a:p>
        </p:txBody>
      </p:sp>
      <p:grpSp>
        <p:nvGrpSpPr>
          <p:cNvPr id="48" name="그룹 47">
            <a:extLst>
              <a:ext uri="{FF2B5EF4-FFF2-40B4-BE49-F238E27FC236}">
                <a16:creationId xmlns:a16="http://schemas.microsoft.com/office/drawing/2014/main" id="{29476FCD-9DE7-46DD-B543-6C57D2954689}"/>
              </a:ext>
            </a:extLst>
          </p:cNvPr>
          <p:cNvGrpSpPr/>
          <p:nvPr/>
        </p:nvGrpSpPr>
        <p:grpSpPr>
          <a:xfrm>
            <a:off x="310399" y="4630858"/>
            <a:ext cx="194324" cy="180020"/>
            <a:chOff x="416496" y="3577457"/>
            <a:chExt cx="194324" cy="180020"/>
          </a:xfrm>
        </p:grpSpPr>
        <p:sp>
          <p:nvSpPr>
            <p:cNvPr id="49" name="모서리가 둥근 직사각형 320">
              <a:extLst>
                <a:ext uri="{FF2B5EF4-FFF2-40B4-BE49-F238E27FC236}">
                  <a16:creationId xmlns:a16="http://schemas.microsoft.com/office/drawing/2014/main" id="{E9BE25AB-1104-4DD5-AC3E-6DDBF8D648F9}"/>
                </a:ext>
              </a:extLst>
            </p:cNvPr>
            <p:cNvSpPr/>
            <p:nvPr/>
          </p:nvSpPr>
          <p:spPr>
            <a:xfrm>
              <a:off x="416496" y="3577457"/>
              <a:ext cx="194324" cy="180020"/>
            </a:xfrm>
            <a:prstGeom prst="roundRect">
              <a:avLst>
                <a:gd name="adj" fmla="val 13669"/>
              </a:avLst>
            </a:prstGeom>
            <a:solidFill>
              <a:srgbClr val="0070C0"/>
            </a:solidFill>
            <a:ln w="9525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rIns="0"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ko-KR" sz="1200" b="1" i="0" u="none" strike="noStrike" kern="1200" cap="none" spc="-20" normalizeH="0" baseline="0" noProof="0" dirty="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prstClr val="white"/>
                </a:solidFill>
                <a:effectLst/>
                <a:uLnTx/>
                <a:uFillTx/>
                <a:latin typeface="HY견고딕" panose="02030600000101010101" pitchFamily="18" charset="-127"/>
                <a:ea typeface="HY견고딕" panose="02030600000101010101" pitchFamily="18" charset="-127"/>
                <a:cs typeface="Arial" panose="020B0604020202020204" pitchFamily="34" charset="0"/>
              </a:endParaRPr>
            </a:p>
          </p:txBody>
        </p:sp>
        <p:pic>
          <p:nvPicPr>
            <p:cNvPr id="51" name="그림 50" descr="7.png">
              <a:extLst>
                <a:ext uri="{FF2B5EF4-FFF2-40B4-BE49-F238E27FC236}">
                  <a16:creationId xmlns:a16="http://schemas.microsoft.com/office/drawing/2014/main" id="{555C5E72-6381-4E1B-BA5E-ACD3D13B7712}"/>
                </a:ext>
              </a:extLst>
            </p:cNvPr>
            <p:cNvPicPr>
              <a:picLocks noChangeAspect="1"/>
            </p:cNvPicPr>
            <p:nvPr/>
          </p:nvPicPr>
          <p:blipFill>
            <a:blip r:embed="rId2" cstate="print"/>
            <a:srcRect/>
            <a:stretch>
              <a:fillRect/>
            </a:stretch>
          </p:blipFill>
          <p:spPr>
            <a:xfrm>
              <a:off x="421441" y="3582473"/>
              <a:ext cx="185267" cy="175004"/>
            </a:xfrm>
            <a:prstGeom prst="roundRect">
              <a:avLst>
                <a:gd name="adj" fmla="val 0"/>
              </a:avLst>
            </a:prstGeom>
          </p:spPr>
        </p:pic>
      </p:grpSp>
      <p:sp>
        <p:nvSpPr>
          <p:cNvPr id="43" name="TextBox 42">
            <a:extLst>
              <a:ext uri="{FF2B5EF4-FFF2-40B4-BE49-F238E27FC236}">
                <a16:creationId xmlns:a16="http://schemas.microsoft.com/office/drawing/2014/main" id="{F16F6F52-C207-4B80-AC5D-BD1CA44DCD4A}"/>
              </a:ext>
            </a:extLst>
          </p:cNvPr>
          <p:cNvSpPr txBox="1"/>
          <p:nvPr/>
        </p:nvSpPr>
        <p:spPr>
          <a:xfrm>
            <a:off x="2204340" y="5069359"/>
            <a:ext cx="6610350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90488" indent="-90488">
              <a:buFont typeface="Wingdings" panose="05000000000000000000" pitchFamily="2" charset="2"/>
              <a:buChar char="§"/>
            </a:pPr>
            <a:r>
              <a:rPr lang="en-US" altLang="ko-KR" sz="1300"/>
              <a:t> </a:t>
            </a:r>
            <a:r>
              <a:rPr lang="ko-KR" altLang="en-US" sz="1300"/>
              <a:t>업무 절차나 관련 지침을 확인하려는 임직원 </a:t>
            </a:r>
          </a:p>
        </p:txBody>
      </p:sp>
      <p:sp>
        <p:nvSpPr>
          <p:cNvPr id="53" name="사각형: 둥근 모서리 52">
            <a:extLst>
              <a:ext uri="{FF2B5EF4-FFF2-40B4-BE49-F238E27FC236}">
                <a16:creationId xmlns:a16="http://schemas.microsoft.com/office/drawing/2014/main" id="{AEC36C50-54B1-4380-81C3-58E9F1DE2A3C}"/>
              </a:ext>
            </a:extLst>
          </p:cNvPr>
          <p:cNvSpPr>
            <a:spLocks noGrp="1"/>
          </p:cNvSpPr>
          <p:nvPr/>
        </p:nvSpPr>
        <p:spPr>
          <a:xfrm>
            <a:off x="462512" y="5499550"/>
            <a:ext cx="1575551" cy="412966"/>
          </a:xfrm>
          <a:prstGeom prst="roundRect">
            <a:avLst>
              <a:gd name="adj" fmla="val 5283"/>
            </a:avLst>
          </a:prstGeom>
          <a:solidFill>
            <a:schemeClr val="bg1">
              <a:lumMod val="95000"/>
            </a:schemeClr>
          </a:solidFill>
          <a:ln w="9525">
            <a:noFill/>
            <a:prstDash val="solid"/>
          </a:ln>
        </p:spPr>
        <p:txBody>
          <a:bodyPr anchor="ctr" anchorCtr="0"/>
          <a:lstStyle/>
          <a:p>
            <a:pPr algn="ctr"/>
            <a:r>
              <a:rPr lang="ko-KR" altLang="en-US" sz="1400" b="1"/>
              <a:t>주요 정보 제공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11FC4B79-5D6D-40F2-96FF-7B6BBD4E6ECC}"/>
              </a:ext>
            </a:extLst>
          </p:cNvPr>
          <p:cNvSpPr txBox="1"/>
          <p:nvPr/>
        </p:nvSpPr>
        <p:spPr>
          <a:xfrm>
            <a:off x="2204340" y="5559839"/>
            <a:ext cx="6610350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90488" indent="-90488">
              <a:buFont typeface="Wingdings" panose="05000000000000000000" pitchFamily="2" charset="2"/>
              <a:buChar char="§"/>
            </a:pPr>
            <a:r>
              <a:rPr lang="en-US" altLang="ko-KR" sz="1300"/>
              <a:t> </a:t>
            </a:r>
            <a:r>
              <a:rPr lang="ko-KR" altLang="en-US" sz="1300"/>
              <a:t>업무별 처리 절차</a:t>
            </a:r>
            <a:r>
              <a:rPr lang="en-US" altLang="ko-KR" sz="1300"/>
              <a:t>, </a:t>
            </a:r>
            <a:r>
              <a:rPr lang="ko-KR" altLang="en-US" sz="1300"/>
              <a:t>관련 지침</a:t>
            </a:r>
            <a:r>
              <a:rPr lang="en-US" altLang="ko-KR" sz="1300"/>
              <a:t>, </a:t>
            </a:r>
            <a:r>
              <a:rPr lang="ko-KR" altLang="en-US" sz="1300"/>
              <a:t>필수 확인사항</a:t>
            </a:r>
            <a:r>
              <a:rPr lang="en-US" altLang="ko-KR" sz="1300"/>
              <a:t>, </a:t>
            </a:r>
            <a:r>
              <a:rPr lang="ko-KR" altLang="en-US" sz="1300"/>
              <a:t>담당 부서</a:t>
            </a:r>
            <a:r>
              <a:rPr lang="en-US" altLang="ko-KR" sz="1300"/>
              <a:t>(</a:t>
            </a:r>
            <a:r>
              <a:rPr lang="ko-KR" altLang="en-US" sz="1300"/>
              <a:t>주관</a:t>
            </a:r>
            <a:r>
              <a:rPr lang="en-US" altLang="ko-KR" sz="1300"/>
              <a:t>, </a:t>
            </a:r>
            <a:r>
              <a:rPr lang="ko-KR" altLang="en-US" sz="1300"/>
              <a:t>협업</a:t>
            </a:r>
            <a:r>
              <a:rPr lang="en-US" altLang="ko-KR" sz="1300"/>
              <a:t>) </a:t>
            </a:r>
            <a:r>
              <a:rPr lang="ko-KR" altLang="en-US" sz="1300"/>
              <a:t>안내</a:t>
            </a:r>
            <a:r>
              <a:rPr lang="en-US" altLang="ko-KR" sz="1300"/>
              <a:t> </a:t>
            </a:r>
            <a:endParaRPr lang="ko-KR" altLang="en-US" sz="1300"/>
          </a:p>
        </p:txBody>
      </p:sp>
      <p:sp>
        <p:nvSpPr>
          <p:cNvPr id="55" name="사각형: 둥근 모서리 54">
            <a:extLst>
              <a:ext uri="{FF2B5EF4-FFF2-40B4-BE49-F238E27FC236}">
                <a16:creationId xmlns:a16="http://schemas.microsoft.com/office/drawing/2014/main" id="{A637B37C-8E3C-478E-BF8C-39348605030D}"/>
              </a:ext>
            </a:extLst>
          </p:cNvPr>
          <p:cNvSpPr>
            <a:spLocks noGrp="1"/>
          </p:cNvSpPr>
          <p:nvPr/>
        </p:nvSpPr>
        <p:spPr>
          <a:xfrm>
            <a:off x="462512" y="5996514"/>
            <a:ext cx="1575551" cy="642502"/>
          </a:xfrm>
          <a:prstGeom prst="roundRect">
            <a:avLst>
              <a:gd name="adj" fmla="val 5283"/>
            </a:avLst>
          </a:prstGeom>
          <a:solidFill>
            <a:schemeClr val="bg1">
              <a:lumMod val="95000"/>
            </a:schemeClr>
          </a:solidFill>
          <a:ln w="9525">
            <a:noFill/>
            <a:prstDash val="solid"/>
          </a:ln>
        </p:spPr>
        <p:txBody>
          <a:bodyPr anchor="ctr" anchorCtr="0"/>
          <a:lstStyle/>
          <a:p>
            <a:pPr algn="ctr"/>
            <a:r>
              <a:rPr lang="ko-KR" altLang="en-US" sz="1400" b="1"/>
              <a:t>기대 효과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45A8F0B2-8FFE-4270-840B-F4EAD32923C6}"/>
              </a:ext>
            </a:extLst>
          </p:cNvPr>
          <p:cNvSpPr txBox="1"/>
          <p:nvPr/>
        </p:nvSpPr>
        <p:spPr>
          <a:xfrm>
            <a:off x="2206015" y="5975295"/>
            <a:ext cx="6610350" cy="74379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90488" indent="-90488">
              <a:spcBef>
                <a:spcPts val="200"/>
              </a:spcBef>
              <a:buFont typeface="Wingdings" panose="05000000000000000000" pitchFamily="2" charset="2"/>
              <a:buChar char="§"/>
            </a:pPr>
            <a:r>
              <a:rPr lang="en-US" altLang="ko-KR" sz="1300"/>
              <a:t> (</a:t>
            </a:r>
            <a:r>
              <a:rPr lang="ko-KR" altLang="en-US" sz="1300"/>
              <a:t>탐색 시간 단축</a:t>
            </a:r>
            <a:r>
              <a:rPr lang="en-US" altLang="ko-KR" sz="1300"/>
              <a:t>) </a:t>
            </a:r>
            <a:r>
              <a:rPr lang="ko-KR" altLang="en-US" sz="1300"/>
              <a:t>업무 전반의 절차와 필요한 지침을 한 번에 확인</a:t>
            </a:r>
            <a:endParaRPr lang="en-US" altLang="ko-KR" sz="1300"/>
          </a:p>
          <a:p>
            <a:pPr marL="90488" indent="-90488">
              <a:spcBef>
                <a:spcPts val="200"/>
              </a:spcBef>
              <a:buFont typeface="Wingdings" panose="05000000000000000000" pitchFamily="2" charset="2"/>
              <a:buChar char="§"/>
            </a:pPr>
            <a:r>
              <a:rPr lang="en-US" altLang="ko-KR" sz="1300"/>
              <a:t> (</a:t>
            </a:r>
            <a:r>
              <a:rPr lang="ko-KR" altLang="en-US" sz="1300"/>
              <a:t>정확한 처리</a:t>
            </a:r>
            <a:r>
              <a:rPr lang="en-US" altLang="ko-KR" sz="1300"/>
              <a:t>) </a:t>
            </a:r>
            <a:r>
              <a:rPr lang="ko-KR" altLang="en-US" sz="1300"/>
              <a:t>필수 절차와 확인사항 누락 방지</a:t>
            </a:r>
            <a:endParaRPr lang="en-US" altLang="ko-KR" sz="1300"/>
          </a:p>
          <a:p>
            <a:pPr marL="90488" indent="-90488">
              <a:spcBef>
                <a:spcPts val="200"/>
              </a:spcBef>
              <a:buFont typeface="Wingdings" panose="05000000000000000000" pitchFamily="2" charset="2"/>
              <a:buChar char="§"/>
            </a:pPr>
            <a:r>
              <a:rPr lang="en-US" altLang="ko-KR" sz="1300"/>
              <a:t> (</a:t>
            </a:r>
            <a:r>
              <a:rPr lang="ko-KR" altLang="en-US" sz="1300"/>
              <a:t>업무 일관성 확보</a:t>
            </a:r>
            <a:r>
              <a:rPr lang="en-US" altLang="ko-KR" sz="1300"/>
              <a:t>) </a:t>
            </a:r>
            <a:r>
              <a:rPr lang="ko-KR" altLang="en-US" sz="1300"/>
              <a:t>담당자가 바뀌어도 같은 기준으로 처리</a:t>
            </a:r>
          </a:p>
        </p:txBody>
      </p:sp>
      <p:cxnSp>
        <p:nvCxnSpPr>
          <p:cNvPr id="58" name="직선 연결선 57">
            <a:extLst>
              <a:ext uri="{FF2B5EF4-FFF2-40B4-BE49-F238E27FC236}">
                <a16:creationId xmlns:a16="http://schemas.microsoft.com/office/drawing/2014/main" id="{69419DB7-D5C5-4C3E-B20B-A3D46F574EF9}"/>
              </a:ext>
            </a:extLst>
          </p:cNvPr>
          <p:cNvCxnSpPr>
            <a:cxnSpLocks/>
          </p:cNvCxnSpPr>
          <p:nvPr/>
        </p:nvCxnSpPr>
        <p:spPr>
          <a:xfrm flipV="1">
            <a:off x="2289746" y="5391891"/>
            <a:ext cx="6002887" cy="53806"/>
          </a:xfrm>
          <a:prstGeom prst="line">
            <a:avLst/>
          </a:prstGeom>
          <a:ln w="9525">
            <a:solidFill>
              <a:schemeClr val="bg1">
                <a:lumMod val="85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" name="직선 연결선 58">
            <a:extLst>
              <a:ext uri="{FF2B5EF4-FFF2-40B4-BE49-F238E27FC236}">
                <a16:creationId xmlns:a16="http://schemas.microsoft.com/office/drawing/2014/main" id="{F136B79D-09EC-4B50-B2C9-E9944DC88BA7}"/>
              </a:ext>
            </a:extLst>
          </p:cNvPr>
          <p:cNvCxnSpPr>
            <a:cxnSpLocks/>
          </p:cNvCxnSpPr>
          <p:nvPr/>
        </p:nvCxnSpPr>
        <p:spPr>
          <a:xfrm flipV="1">
            <a:off x="2289746" y="5875883"/>
            <a:ext cx="6002887" cy="53806"/>
          </a:xfrm>
          <a:prstGeom prst="line">
            <a:avLst/>
          </a:prstGeom>
          <a:ln w="9525">
            <a:solidFill>
              <a:schemeClr val="bg1">
                <a:lumMod val="85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2" name="사각형: 둥근 모서리 61">
            <a:extLst>
              <a:ext uri="{FF2B5EF4-FFF2-40B4-BE49-F238E27FC236}">
                <a16:creationId xmlns:a16="http://schemas.microsoft.com/office/drawing/2014/main" id="{BFB32620-BF19-4B11-B076-46885445DCD3}"/>
              </a:ext>
            </a:extLst>
          </p:cNvPr>
          <p:cNvSpPr>
            <a:spLocks noGrp="1"/>
          </p:cNvSpPr>
          <p:nvPr/>
        </p:nvSpPr>
        <p:spPr>
          <a:xfrm>
            <a:off x="330495" y="2707595"/>
            <a:ext cx="9409457" cy="999163"/>
          </a:xfrm>
          <a:prstGeom prst="roundRect">
            <a:avLst>
              <a:gd name="adj" fmla="val 5139"/>
            </a:avLst>
          </a:prstGeom>
          <a:noFill/>
          <a:ln w="12700">
            <a:solidFill>
              <a:schemeClr val="bg1">
                <a:lumMod val="75000"/>
              </a:schemeClr>
            </a:solidFill>
            <a:prstDash val="solid"/>
          </a:ln>
        </p:spPr>
        <p:txBody>
          <a:bodyPr anchor="ctr" anchorCtr="0"/>
          <a:lstStyle/>
          <a:p>
            <a:pPr algn="ctr"/>
            <a:endParaRPr lang="ko-KR" altLang="en-US" sz="1400" b="1"/>
          </a:p>
        </p:txBody>
      </p:sp>
      <p:sp>
        <p:nvSpPr>
          <p:cNvPr id="64" name="이등변 삼각형 63">
            <a:extLst>
              <a:ext uri="{FF2B5EF4-FFF2-40B4-BE49-F238E27FC236}">
                <a16:creationId xmlns:a16="http://schemas.microsoft.com/office/drawing/2014/main" id="{CBE0F7A1-7FBC-4044-82C1-997A319E3071}"/>
              </a:ext>
            </a:extLst>
          </p:cNvPr>
          <p:cNvSpPr/>
          <p:nvPr/>
        </p:nvSpPr>
        <p:spPr>
          <a:xfrm rot="5400000">
            <a:off x="2730899" y="3218194"/>
            <a:ext cx="166088" cy="120792"/>
          </a:xfrm>
          <a:prstGeom prst="triangl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5" name="이등변 삼각형 64">
            <a:extLst>
              <a:ext uri="{FF2B5EF4-FFF2-40B4-BE49-F238E27FC236}">
                <a16:creationId xmlns:a16="http://schemas.microsoft.com/office/drawing/2014/main" id="{2EDC7E73-7337-42B2-928F-D70EB47D31EC}"/>
              </a:ext>
            </a:extLst>
          </p:cNvPr>
          <p:cNvSpPr/>
          <p:nvPr/>
        </p:nvSpPr>
        <p:spPr>
          <a:xfrm rot="5400000">
            <a:off x="7103619" y="3219872"/>
            <a:ext cx="166088" cy="120792"/>
          </a:xfrm>
          <a:prstGeom prst="triangl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7162830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F565F164-0C45-4D87-8583-266FB8891880}"/>
              </a:ext>
            </a:extLst>
          </p:cNvPr>
          <p:cNvSpPr txBox="1"/>
          <p:nvPr/>
        </p:nvSpPr>
        <p:spPr>
          <a:xfrm>
            <a:off x="181848" y="118834"/>
            <a:ext cx="828135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웹서비스 구축 과정 및 구현 현황</a:t>
            </a:r>
            <a:endParaRPr kumimoji="0" lang="ko-KR" altLang="en-US" sz="2000" b="1" i="0" u="none" strike="noStrike" kern="1200" cap="none" spc="-10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B0503020000020004" pitchFamily="50" charset="-127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18989D12-EF7E-4B26-A8A4-47703D404C10}"/>
              </a:ext>
            </a:extLst>
          </p:cNvPr>
          <p:cNvSpPr/>
          <p:nvPr/>
        </p:nvSpPr>
        <p:spPr>
          <a:xfrm>
            <a:off x="556286" y="709192"/>
            <a:ext cx="7886103" cy="3999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73891" tIns="73891" rIns="73891" bIns="73891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ts val="2200"/>
              </a:lnSpc>
              <a:spcBef>
                <a:spcPts val="30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lang="ko-KR" altLang="en-US" sz="1400" b="1" spc="-2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  <a:sym typeface="Wingdings" pitchFamily="2" charset="2"/>
              </a:rPr>
              <a:t>사규 앱 내 </a:t>
            </a:r>
            <a:r>
              <a:rPr kumimoji="0" lang="en-US" altLang="ko-KR" sz="1400" b="1" i="0" u="none" strike="noStrike" kern="1200" cap="none" spc="-2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  <a:sym typeface="Wingdings" pitchFamily="2" charset="2"/>
              </a:rPr>
              <a:t>3,450</a:t>
            </a:r>
            <a:r>
              <a:rPr kumimoji="0" lang="ko-KR" altLang="en-US" sz="1400" b="1" i="0" u="none" strike="noStrike" kern="1200" cap="none" spc="-2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  <a:sym typeface="Wingdings" pitchFamily="2" charset="2"/>
              </a:rPr>
              <a:t>개 문서와 </a:t>
            </a:r>
            <a:r>
              <a:rPr kumimoji="0" lang="en-US" altLang="ko-KR" sz="1400" b="1" i="0" u="none" strike="noStrike" kern="1200" cap="none" spc="-2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  <a:sym typeface="Wingdings" pitchFamily="2" charset="2"/>
              </a:rPr>
              <a:t>126</a:t>
            </a:r>
            <a:r>
              <a:rPr lang="ko-KR" altLang="en-US" sz="1400" b="1" spc="-2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  <a:sym typeface="Wingdings" pitchFamily="2" charset="2"/>
              </a:rPr>
              <a:t>개 조직</a:t>
            </a:r>
            <a:r>
              <a:rPr lang="en-US" altLang="ko-KR" sz="1400" b="1" spc="-2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  <a:sym typeface="Wingdings" pitchFamily="2" charset="2"/>
              </a:rPr>
              <a:t> </a:t>
            </a:r>
            <a:r>
              <a:rPr lang="ko-KR" altLang="en-US" sz="1400" b="1" spc="-2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  <a:sym typeface="Wingdings" pitchFamily="2" charset="2"/>
              </a:rPr>
              <a:t>확인</a:t>
            </a:r>
            <a:r>
              <a:rPr kumimoji="0" lang="en-US" altLang="ko-KR" sz="1400" b="1" i="0" u="none" strike="noStrike" kern="1200" cap="none" spc="-2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  <a:sym typeface="Wingdings" pitchFamily="2" charset="2"/>
              </a:rPr>
              <a:t>, </a:t>
            </a:r>
            <a:r>
              <a:rPr kumimoji="0" lang="ko-KR" altLang="en-US" sz="1400" b="1" i="0" u="none" strike="noStrike" kern="1200" cap="none" spc="-2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  <a:sym typeface="Wingdings" pitchFamily="2" charset="2"/>
              </a:rPr>
              <a:t>대표 </a:t>
            </a:r>
            <a:r>
              <a:rPr kumimoji="0" lang="en-US" altLang="ko-KR" sz="1400" b="1" i="0" u="none" strike="noStrike" kern="1200" cap="none" spc="-2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  <a:sym typeface="Wingdings" pitchFamily="2" charset="2"/>
              </a:rPr>
              <a:t>35</a:t>
            </a:r>
            <a:r>
              <a:rPr kumimoji="0" lang="ko-KR" altLang="en-US" sz="1400" b="1" i="0" u="none" strike="noStrike" kern="1200" cap="none" spc="-2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  <a:sym typeface="Wingdings" pitchFamily="2" charset="2"/>
              </a:rPr>
              <a:t>개 부서부터 단계적으로 검증</a:t>
            </a:r>
            <a:endParaRPr kumimoji="0" lang="en-US" altLang="ko-KR" sz="1400" b="0" i="0" u="none" strike="noStrike" kern="1200" cap="none" spc="-2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  <a:sym typeface="Wingdings" pitchFamily="2" charset="2"/>
            </a:endParaRPr>
          </a:p>
        </p:txBody>
      </p:sp>
      <p:grpSp>
        <p:nvGrpSpPr>
          <p:cNvPr id="8" name="그룹 7">
            <a:extLst>
              <a:ext uri="{FF2B5EF4-FFF2-40B4-BE49-F238E27FC236}">
                <a16:creationId xmlns:a16="http://schemas.microsoft.com/office/drawing/2014/main" id="{26A7927B-1FC5-4002-88D0-9247A5AECD7B}"/>
              </a:ext>
            </a:extLst>
          </p:cNvPr>
          <p:cNvGrpSpPr/>
          <p:nvPr/>
        </p:nvGrpSpPr>
        <p:grpSpPr>
          <a:xfrm>
            <a:off x="310399" y="819181"/>
            <a:ext cx="194324" cy="180020"/>
            <a:chOff x="416496" y="3577457"/>
            <a:chExt cx="194324" cy="180020"/>
          </a:xfrm>
        </p:grpSpPr>
        <p:sp>
          <p:nvSpPr>
            <p:cNvPr id="9" name="모서리가 둥근 직사각형 320">
              <a:extLst>
                <a:ext uri="{FF2B5EF4-FFF2-40B4-BE49-F238E27FC236}">
                  <a16:creationId xmlns:a16="http://schemas.microsoft.com/office/drawing/2014/main" id="{64991931-304B-4A79-8ABF-F87172C315CC}"/>
                </a:ext>
              </a:extLst>
            </p:cNvPr>
            <p:cNvSpPr/>
            <p:nvPr/>
          </p:nvSpPr>
          <p:spPr>
            <a:xfrm>
              <a:off x="416496" y="3577457"/>
              <a:ext cx="194324" cy="180020"/>
            </a:xfrm>
            <a:prstGeom prst="roundRect">
              <a:avLst>
                <a:gd name="adj" fmla="val 13669"/>
              </a:avLst>
            </a:prstGeom>
            <a:solidFill>
              <a:srgbClr val="0070C0"/>
            </a:solidFill>
            <a:ln w="9525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rIns="0"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ko-KR" sz="1200" b="1" i="0" u="none" strike="noStrike" kern="1200" cap="none" spc="-20" normalizeH="0" baseline="0" noProof="0" dirty="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prstClr val="white"/>
                </a:solidFill>
                <a:effectLst/>
                <a:uLnTx/>
                <a:uFillTx/>
                <a:latin typeface="HY견고딕" panose="02030600000101010101" pitchFamily="18" charset="-127"/>
                <a:ea typeface="HY견고딕" panose="02030600000101010101" pitchFamily="18" charset="-127"/>
                <a:cs typeface="Arial" panose="020B0604020202020204" pitchFamily="34" charset="0"/>
              </a:endParaRPr>
            </a:p>
          </p:txBody>
        </p:sp>
        <p:pic>
          <p:nvPicPr>
            <p:cNvPr id="10" name="그림 9" descr="7.png">
              <a:extLst>
                <a:ext uri="{FF2B5EF4-FFF2-40B4-BE49-F238E27FC236}">
                  <a16:creationId xmlns:a16="http://schemas.microsoft.com/office/drawing/2014/main" id="{0EFF1F02-3E3B-4082-8B1A-A822DE53A214}"/>
                </a:ext>
              </a:extLst>
            </p:cNvPr>
            <p:cNvPicPr>
              <a:picLocks noChangeAspect="1"/>
            </p:cNvPicPr>
            <p:nvPr/>
          </p:nvPicPr>
          <p:blipFill>
            <a:blip r:embed="rId2" cstate="print"/>
            <a:srcRect/>
            <a:stretch>
              <a:fillRect/>
            </a:stretch>
          </p:blipFill>
          <p:spPr>
            <a:xfrm>
              <a:off x="421441" y="3582473"/>
              <a:ext cx="185267" cy="175004"/>
            </a:xfrm>
            <a:prstGeom prst="roundRect">
              <a:avLst>
                <a:gd name="adj" fmla="val 0"/>
              </a:avLst>
            </a:prstGeom>
          </p:spPr>
        </p:pic>
      </p:grp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AEBEE609-C434-4349-8901-D531366F8FD3}"/>
              </a:ext>
            </a:extLst>
          </p:cNvPr>
          <p:cNvSpPr/>
          <p:nvPr/>
        </p:nvSpPr>
        <p:spPr>
          <a:xfrm>
            <a:off x="398363" y="1051801"/>
            <a:ext cx="9507637" cy="96784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73891" tIns="73891" rIns="73891" bIns="73891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ts val="2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300" i="0" u="none" strike="noStrike" kern="1200" cap="none" spc="-4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  <a:cs typeface="+mn-cs"/>
                <a:sym typeface="Wingdings" pitchFamily="2" charset="2"/>
              </a:rPr>
              <a:t>○ 구축 범위 설정 </a:t>
            </a:r>
            <a:r>
              <a:rPr kumimoji="0" lang="en-US" altLang="ko-KR" sz="1300" i="0" u="none" strike="noStrike" kern="1200" cap="none" spc="-4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  <a:cs typeface="+mn-cs"/>
                <a:sym typeface="Wingdings" pitchFamily="2" charset="2"/>
              </a:rPr>
              <a:t>: </a:t>
            </a:r>
            <a:r>
              <a:rPr kumimoji="0" lang="ko-KR" altLang="en-US" sz="1300" i="0" u="none" strike="noStrike" kern="1200" cap="none" spc="-4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  <a:cs typeface="+mn-cs"/>
                <a:sym typeface="Wingdings" pitchFamily="2" charset="2"/>
              </a:rPr>
              <a:t>핵심 기능 구현 가능성 확인 후</a:t>
            </a:r>
            <a:r>
              <a:rPr kumimoji="0" lang="en-US" altLang="ko-KR" sz="1300" i="0" u="none" strike="noStrike" kern="1200" cap="none" spc="-4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  <a:cs typeface="+mn-cs"/>
                <a:sym typeface="Wingdings" pitchFamily="2" charset="2"/>
              </a:rPr>
              <a:t>, </a:t>
            </a:r>
            <a:r>
              <a:rPr kumimoji="0" lang="ko-KR" altLang="en-US" sz="1300" i="0" u="none" strike="noStrike" kern="1200" cap="none" spc="-4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  <a:cs typeface="+mn-cs"/>
                <a:sym typeface="Wingdings" pitchFamily="2" charset="2"/>
              </a:rPr>
              <a:t>단계적 확대 방향</a:t>
            </a:r>
            <a:endParaRPr lang="en-US" altLang="ko-KR" sz="1300" spc="-40">
              <a:solidFill>
                <a:prstClr val="black"/>
              </a:solidFill>
              <a:latin typeface="+mn-ea"/>
              <a:sym typeface="Wingdings" pitchFamily="2" charset="2"/>
            </a:endParaRPr>
          </a:p>
          <a:p>
            <a:pPr marL="0" marR="0" lvl="0" indent="0" algn="l" defTabSz="914400" rtl="0" eaLnBrk="1" fontAlgn="auto" latinLnBrk="1" hangingPunct="1">
              <a:lnSpc>
                <a:spcPts val="2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300" i="0" u="none" strike="noStrike" kern="1200" cap="none" spc="-4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  <a:cs typeface="+mn-cs"/>
                <a:sym typeface="Wingdings" pitchFamily="2" charset="2"/>
              </a:rPr>
              <a:t>   - </a:t>
            </a:r>
            <a:r>
              <a:rPr lang="ko-KR" altLang="en-US" sz="1300">
                <a:latin typeface="+mn-ea"/>
              </a:rPr>
              <a:t>업무 특성과 협업 빈도를 고려해 대표 부서 선정 </a:t>
            </a:r>
            <a:r>
              <a:rPr lang="en-US" altLang="ko-KR" sz="1300">
                <a:latin typeface="+mn-ea"/>
              </a:rPr>
              <a:t>(10</a:t>
            </a:r>
            <a:r>
              <a:rPr lang="ko-KR" altLang="en-US" sz="1300">
                <a:latin typeface="+mn-ea"/>
              </a:rPr>
              <a:t>개 → </a:t>
            </a:r>
            <a:r>
              <a:rPr lang="en-US" altLang="ko-KR" sz="1300">
                <a:latin typeface="+mn-ea"/>
              </a:rPr>
              <a:t>20</a:t>
            </a:r>
            <a:r>
              <a:rPr lang="ko-KR" altLang="en-US" sz="1300">
                <a:latin typeface="+mn-ea"/>
              </a:rPr>
              <a:t>개 → </a:t>
            </a:r>
            <a:r>
              <a:rPr lang="en-US" altLang="ko-KR" sz="1300">
                <a:latin typeface="+mn-ea"/>
              </a:rPr>
              <a:t>35</a:t>
            </a:r>
            <a:r>
              <a:rPr lang="ko-KR" altLang="en-US" sz="1300">
                <a:latin typeface="+mn-ea"/>
              </a:rPr>
              <a:t>개 부서로 확장</a:t>
            </a:r>
            <a:r>
              <a:rPr lang="en-US" altLang="ko-KR" sz="1300">
                <a:latin typeface="+mn-ea"/>
              </a:rPr>
              <a:t>)</a:t>
            </a:r>
          </a:p>
          <a:p>
            <a:pPr marL="0" marR="0" lvl="0" indent="0" algn="l" defTabSz="914400" rtl="0" eaLnBrk="1" fontAlgn="auto" latinLnBrk="1" hangingPunct="1">
              <a:lnSpc>
                <a:spcPts val="2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300" i="0" u="none" strike="noStrike" kern="1200" cap="none" spc="-4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  <a:cs typeface="+mn-cs"/>
                <a:sym typeface="Wingdings" pitchFamily="2" charset="2"/>
              </a:rPr>
              <a:t>   - </a:t>
            </a:r>
            <a:r>
              <a:rPr lang="ko-KR" altLang="en-US" sz="1300" spc="-40">
                <a:solidFill>
                  <a:prstClr val="black"/>
                </a:solidFill>
                <a:latin typeface="+mn-ea"/>
                <a:sym typeface="Wingdings" pitchFamily="2" charset="2"/>
              </a:rPr>
              <a:t>선정 부서의 업무 절차</a:t>
            </a:r>
            <a:r>
              <a:rPr lang="en-US" altLang="ko-KR" sz="1300" spc="-40">
                <a:solidFill>
                  <a:prstClr val="black"/>
                </a:solidFill>
                <a:latin typeface="+mn-ea"/>
                <a:sym typeface="Wingdings" pitchFamily="2" charset="2"/>
              </a:rPr>
              <a:t>, </a:t>
            </a:r>
            <a:r>
              <a:rPr lang="ko-KR" altLang="en-US" sz="1300" spc="-40">
                <a:solidFill>
                  <a:prstClr val="black"/>
                </a:solidFill>
                <a:latin typeface="+mn-ea"/>
                <a:sym typeface="Wingdings" pitchFamily="2" charset="2"/>
              </a:rPr>
              <a:t>관련 지침</a:t>
            </a:r>
            <a:r>
              <a:rPr lang="en-US" altLang="ko-KR" sz="1300" spc="-40">
                <a:solidFill>
                  <a:prstClr val="black"/>
                </a:solidFill>
                <a:latin typeface="+mn-ea"/>
                <a:sym typeface="Wingdings" pitchFamily="2" charset="2"/>
              </a:rPr>
              <a:t> </a:t>
            </a:r>
            <a:r>
              <a:rPr lang="ko-KR" altLang="en-US" sz="1300" spc="-40">
                <a:solidFill>
                  <a:prstClr val="black"/>
                </a:solidFill>
                <a:latin typeface="+mn-ea"/>
                <a:sym typeface="Wingdings" pitchFamily="2" charset="2"/>
              </a:rPr>
              <a:t>및 담당 조직 데이터 확보 </a:t>
            </a:r>
            <a:r>
              <a:rPr lang="en-US" altLang="ko-KR" sz="1300" spc="-40">
                <a:solidFill>
                  <a:prstClr val="black"/>
                </a:solidFill>
                <a:latin typeface="+mn-ea"/>
                <a:sym typeface="Wingdings" pitchFamily="2" charset="2"/>
              </a:rPr>
              <a:t>(P-GPT </a:t>
            </a:r>
            <a:r>
              <a:rPr lang="ko-KR" altLang="en-US" sz="1300" spc="-40">
                <a:solidFill>
                  <a:prstClr val="black"/>
                </a:solidFill>
                <a:latin typeface="+mn-ea"/>
                <a:sym typeface="Wingdings" pitchFamily="2" charset="2"/>
              </a:rPr>
              <a:t>활용 더미 데이터 생성</a:t>
            </a:r>
            <a:r>
              <a:rPr lang="en-US" altLang="ko-KR" sz="1300" spc="-40">
                <a:solidFill>
                  <a:prstClr val="black"/>
                </a:solidFill>
                <a:latin typeface="+mn-ea"/>
                <a:sym typeface="Wingdings" pitchFamily="2" charset="2"/>
              </a:rPr>
              <a:t>)</a:t>
            </a:r>
          </a:p>
        </p:txBody>
      </p: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B656DA0D-7D8A-4307-854A-0B0967B6A766}"/>
              </a:ext>
            </a:extLst>
          </p:cNvPr>
          <p:cNvSpPr/>
          <p:nvPr/>
        </p:nvSpPr>
        <p:spPr>
          <a:xfrm>
            <a:off x="556286" y="1975488"/>
            <a:ext cx="9218275" cy="4064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73891" tIns="73891" rIns="73891" bIns="73891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ts val="2200"/>
              </a:lnSpc>
              <a:spcBef>
                <a:spcPts val="30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400" b="1" i="0" u="none" strike="noStrike" kern="1200" cap="none" spc="-2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  <a:cs typeface="+mn-cs"/>
                <a:sym typeface="Wingdings" pitchFamily="2" charset="2"/>
              </a:rPr>
              <a:t>대표 질의 선정 → </a:t>
            </a:r>
            <a:r>
              <a:rPr lang="ko-KR" altLang="en-US" sz="1400" b="1" spc="-20">
                <a:solidFill>
                  <a:prstClr val="black"/>
                </a:solidFill>
                <a:latin typeface="+mn-ea"/>
                <a:sym typeface="Wingdings" pitchFamily="2" charset="2"/>
              </a:rPr>
              <a:t>웹서비스 </a:t>
            </a:r>
            <a:r>
              <a:rPr kumimoji="0" lang="ko-KR" altLang="en-US" sz="1400" b="1" i="0" u="none" strike="noStrike" kern="1200" cap="none" spc="-2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  <a:cs typeface="+mn-cs"/>
                <a:sym typeface="Wingdings" pitchFamily="2" charset="2"/>
              </a:rPr>
              <a:t>검색 결과 검증 → 절차 및 지침 데이터 적정성 검토 → 데이터 보완  </a:t>
            </a:r>
            <a:endParaRPr kumimoji="0" lang="en-US" altLang="ko-KR" sz="1400" b="1" i="0" u="none" strike="noStrike" kern="1200" cap="none" spc="-20" normalizeH="0" baseline="0" noProof="0" dirty="0">
              <a:ln>
                <a:noFill/>
              </a:ln>
              <a:solidFill>
                <a:srgbClr val="0000FF"/>
              </a:solidFill>
              <a:effectLst/>
              <a:uLnTx/>
              <a:uFillTx/>
              <a:latin typeface="+mn-ea"/>
              <a:cs typeface="+mn-cs"/>
              <a:sym typeface="Wingdings" pitchFamily="2" charset="2"/>
            </a:endParaRPr>
          </a:p>
        </p:txBody>
      </p:sp>
      <p:grpSp>
        <p:nvGrpSpPr>
          <p:cNvPr id="19" name="그룹 18">
            <a:extLst>
              <a:ext uri="{FF2B5EF4-FFF2-40B4-BE49-F238E27FC236}">
                <a16:creationId xmlns:a16="http://schemas.microsoft.com/office/drawing/2014/main" id="{1A108875-0952-48E3-AB80-BF0F0F01D762}"/>
              </a:ext>
            </a:extLst>
          </p:cNvPr>
          <p:cNvGrpSpPr/>
          <p:nvPr/>
        </p:nvGrpSpPr>
        <p:grpSpPr>
          <a:xfrm>
            <a:off x="310399" y="2085477"/>
            <a:ext cx="194324" cy="180020"/>
            <a:chOff x="416496" y="3577457"/>
            <a:chExt cx="194324" cy="180020"/>
          </a:xfrm>
        </p:grpSpPr>
        <p:sp>
          <p:nvSpPr>
            <p:cNvPr id="20" name="모서리가 둥근 직사각형 320">
              <a:extLst>
                <a:ext uri="{FF2B5EF4-FFF2-40B4-BE49-F238E27FC236}">
                  <a16:creationId xmlns:a16="http://schemas.microsoft.com/office/drawing/2014/main" id="{C8058689-94E4-446F-AA2A-B4307B03BD15}"/>
                </a:ext>
              </a:extLst>
            </p:cNvPr>
            <p:cNvSpPr/>
            <p:nvPr/>
          </p:nvSpPr>
          <p:spPr>
            <a:xfrm>
              <a:off x="416496" y="3577457"/>
              <a:ext cx="194324" cy="180020"/>
            </a:xfrm>
            <a:prstGeom prst="roundRect">
              <a:avLst>
                <a:gd name="adj" fmla="val 13669"/>
              </a:avLst>
            </a:prstGeom>
            <a:solidFill>
              <a:srgbClr val="0070C0"/>
            </a:solidFill>
            <a:ln w="9525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rIns="0"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ko-KR" sz="1200" b="1" i="0" u="none" strike="noStrike" kern="1200" cap="none" spc="-20" normalizeH="0" baseline="0" noProof="0" dirty="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prstClr val="white"/>
                </a:solidFill>
                <a:effectLst/>
                <a:uLnTx/>
                <a:uFillTx/>
                <a:latin typeface="HY견고딕" panose="02030600000101010101" pitchFamily="18" charset="-127"/>
                <a:ea typeface="HY견고딕" panose="02030600000101010101" pitchFamily="18" charset="-127"/>
                <a:cs typeface="Arial" panose="020B0604020202020204" pitchFamily="34" charset="0"/>
              </a:endParaRPr>
            </a:p>
          </p:txBody>
        </p:sp>
        <p:pic>
          <p:nvPicPr>
            <p:cNvPr id="21" name="그림 20" descr="7.png">
              <a:extLst>
                <a:ext uri="{FF2B5EF4-FFF2-40B4-BE49-F238E27FC236}">
                  <a16:creationId xmlns:a16="http://schemas.microsoft.com/office/drawing/2014/main" id="{79B5018E-A44B-4CB4-A228-3DB8F42FC597}"/>
                </a:ext>
              </a:extLst>
            </p:cNvPr>
            <p:cNvPicPr>
              <a:picLocks noChangeAspect="1"/>
            </p:cNvPicPr>
            <p:nvPr/>
          </p:nvPicPr>
          <p:blipFill>
            <a:blip r:embed="rId2" cstate="print"/>
            <a:srcRect/>
            <a:stretch>
              <a:fillRect/>
            </a:stretch>
          </p:blipFill>
          <p:spPr>
            <a:xfrm>
              <a:off x="421441" y="3582473"/>
              <a:ext cx="185267" cy="175004"/>
            </a:xfrm>
            <a:prstGeom prst="roundRect">
              <a:avLst>
                <a:gd name="adj" fmla="val 0"/>
              </a:avLst>
            </a:prstGeom>
          </p:spPr>
        </p:pic>
      </p:grpSp>
      <p:sp>
        <p:nvSpPr>
          <p:cNvPr id="47" name="직사각형 46">
            <a:extLst>
              <a:ext uri="{FF2B5EF4-FFF2-40B4-BE49-F238E27FC236}">
                <a16:creationId xmlns:a16="http://schemas.microsoft.com/office/drawing/2014/main" id="{AF15DD7A-DA56-4E27-B8B9-99D16B1EAAD7}"/>
              </a:ext>
            </a:extLst>
          </p:cNvPr>
          <p:cNvSpPr/>
          <p:nvPr/>
        </p:nvSpPr>
        <p:spPr>
          <a:xfrm>
            <a:off x="556286" y="3606464"/>
            <a:ext cx="8085296" cy="4064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73891" tIns="73891" rIns="73891" bIns="73891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ts val="2200"/>
              </a:lnSpc>
              <a:spcBef>
                <a:spcPts val="30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1400" b="1">
                <a:latin typeface="+mn-ea"/>
              </a:rPr>
              <a:t>AI </a:t>
            </a:r>
            <a:r>
              <a:rPr lang="ko-KR" altLang="en-US" sz="1400" b="1">
                <a:latin typeface="+mn-ea"/>
              </a:rPr>
              <a:t>활용 교육과 코칭을 바탕으로</a:t>
            </a:r>
            <a:r>
              <a:rPr lang="en-US" altLang="ko-KR" sz="1400" b="1">
                <a:latin typeface="+mn-ea"/>
              </a:rPr>
              <a:t>, </a:t>
            </a:r>
            <a:r>
              <a:rPr lang="ko-KR" altLang="en-US" sz="1400" b="1">
                <a:latin typeface="+mn-ea"/>
              </a:rPr>
              <a:t>문제를 해결하며 구현한 웹서비스</a:t>
            </a:r>
            <a:endParaRPr kumimoji="0" lang="en-US" altLang="ko-KR" sz="1400" b="1" i="0" u="none" strike="noStrike" kern="1200" cap="none" spc="-2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+mn-ea"/>
              <a:cs typeface="+mn-cs"/>
              <a:sym typeface="Wingdings" pitchFamily="2" charset="2"/>
            </a:endParaRPr>
          </a:p>
        </p:txBody>
      </p:sp>
      <p:grpSp>
        <p:nvGrpSpPr>
          <p:cNvPr id="48" name="그룹 47">
            <a:extLst>
              <a:ext uri="{FF2B5EF4-FFF2-40B4-BE49-F238E27FC236}">
                <a16:creationId xmlns:a16="http://schemas.microsoft.com/office/drawing/2014/main" id="{29476FCD-9DE7-46DD-B543-6C57D2954689}"/>
              </a:ext>
            </a:extLst>
          </p:cNvPr>
          <p:cNvGrpSpPr/>
          <p:nvPr/>
        </p:nvGrpSpPr>
        <p:grpSpPr>
          <a:xfrm>
            <a:off x="310399" y="3716453"/>
            <a:ext cx="194324" cy="180020"/>
            <a:chOff x="416496" y="3577457"/>
            <a:chExt cx="194324" cy="180020"/>
          </a:xfrm>
        </p:grpSpPr>
        <p:sp>
          <p:nvSpPr>
            <p:cNvPr id="49" name="모서리가 둥근 직사각형 320">
              <a:extLst>
                <a:ext uri="{FF2B5EF4-FFF2-40B4-BE49-F238E27FC236}">
                  <a16:creationId xmlns:a16="http://schemas.microsoft.com/office/drawing/2014/main" id="{E9BE25AB-1104-4DD5-AC3E-6DDBF8D648F9}"/>
                </a:ext>
              </a:extLst>
            </p:cNvPr>
            <p:cNvSpPr/>
            <p:nvPr/>
          </p:nvSpPr>
          <p:spPr>
            <a:xfrm>
              <a:off x="416496" y="3577457"/>
              <a:ext cx="194324" cy="180020"/>
            </a:xfrm>
            <a:prstGeom prst="roundRect">
              <a:avLst>
                <a:gd name="adj" fmla="val 13669"/>
              </a:avLst>
            </a:prstGeom>
            <a:solidFill>
              <a:srgbClr val="0070C0"/>
            </a:solidFill>
            <a:ln w="9525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rIns="0"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ko-KR" sz="1200" b="1" i="0" u="none" strike="noStrike" kern="1200" cap="none" spc="-20" normalizeH="0" baseline="0" noProof="0" dirty="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prstClr val="white"/>
                </a:solidFill>
                <a:effectLst/>
                <a:uLnTx/>
                <a:uFillTx/>
                <a:latin typeface="HY견고딕" panose="02030600000101010101" pitchFamily="18" charset="-127"/>
                <a:ea typeface="HY견고딕" panose="02030600000101010101" pitchFamily="18" charset="-127"/>
                <a:cs typeface="Arial" panose="020B0604020202020204" pitchFamily="34" charset="0"/>
              </a:endParaRPr>
            </a:p>
          </p:txBody>
        </p:sp>
        <p:pic>
          <p:nvPicPr>
            <p:cNvPr id="51" name="그림 50" descr="7.png">
              <a:extLst>
                <a:ext uri="{FF2B5EF4-FFF2-40B4-BE49-F238E27FC236}">
                  <a16:creationId xmlns:a16="http://schemas.microsoft.com/office/drawing/2014/main" id="{555C5E72-6381-4E1B-BA5E-ACD3D13B7712}"/>
                </a:ext>
              </a:extLst>
            </p:cNvPr>
            <p:cNvPicPr>
              <a:picLocks noChangeAspect="1"/>
            </p:cNvPicPr>
            <p:nvPr/>
          </p:nvPicPr>
          <p:blipFill>
            <a:blip r:embed="rId2" cstate="print"/>
            <a:srcRect/>
            <a:stretch>
              <a:fillRect/>
            </a:stretch>
          </p:blipFill>
          <p:spPr>
            <a:xfrm>
              <a:off x="421441" y="3582473"/>
              <a:ext cx="185267" cy="175004"/>
            </a:xfrm>
            <a:prstGeom prst="roundRect">
              <a:avLst>
                <a:gd name="adj" fmla="val 0"/>
              </a:avLst>
            </a:prstGeom>
          </p:spPr>
        </p:pic>
      </p:grpSp>
      <p:sp>
        <p:nvSpPr>
          <p:cNvPr id="43" name="TextBox 42">
            <a:extLst>
              <a:ext uri="{FF2B5EF4-FFF2-40B4-BE49-F238E27FC236}">
                <a16:creationId xmlns:a16="http://schemas.microsoft.com/office/drawing/2014/main" id="{F16F6F52-C207-4B80-AC5D-BD1CA44DCD4A}"/>
              </a:ext>
            </a:extLst>
          </p:cNvPr>
          <p:cNvSpPr txBox="1"/>
          <p:nvPr/>
        </p:nvSpPr>
        <p:spPr>
          <a:xfrm>
            <a:off x="2219662" y="4424187"/>
            <a:ext cx="4986678" cy="5309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87313" indent="-87313">
              <a:spcBef>
                <a:spcPts val="300"/>
              </a:spcBef>
              <a:buFont typeface="Wingdings" panose="05000000000000000000" pitchFamily="2" charset="2"/>
              <a:buChar char="§"/>
            </a:pPr>
            <a:r>
              <a:rPr lang="en-US" altLang="ko-KR" sz="1300" spc="-40">
                <a:latin typeface="+mn-ea"/>
              </a:rPr>
              <a:t> PRD.md </a:t>
            </a:r>
            <a:r>
              <a:rPr lang="ko-KR" altLang="en-US" sz="1300" spc="-40">
                <a:latin typeface="+mn-ea"/>
              </a:rPr>
              <a:t>초안 작성 후 데이터 보완</a:t>
            </a:r>
            <a:r>
              <a:rPr lang="en-US" altLang="ko-KR" sz="1300" spc="-40">
                <a:latin typeface="+mn-ea"/>
              </a:rPr>
              <a:t>,</a:t>
            </a:r>
            <a:r>
              <a:rPr lang="ko-KR" altLang="en-US" sz="1300" spc="-40">
                <a:latin typeface="+mn-ea"/>
              </a:rPr>
              <a:t> 기능 정의 지속 업데이트</a:t>
            </a:r>
            <a:endParaRPr lang="en-US" altLang="ko-KR" sz="1300" spc="-40">
              <a:latin typeface="+mn-ea"/>
            </a:endParaRPr>
          </a:p>
          <a:p>
            <a:pPr marL="87313" indent="-87313">
              <a:spcBef>
                <a:spcPts val="300"/>
              </a:spcBef>
              <a:buFont typeface="Wingdings" panose="05000000000000000000" pitchFamily="2" charset="2"/>
              <a:buChar char="§"/>
            </a:pPr>
            <a:r>
              <a:rPr lang="en-US" altLang="ko-KR" sz="1300" spc="-40">
                <a:latin typeface="+mn-ea"/>
              </a:rPr>
              <a:t> </a:t>
            </a:r>
            <a:r>
              <a:rPr lang="ko-KR" altLang="en-US" sz="1300" spc="-40">
                <a:latin typeface="+mn-ea"/>
              </a:rPr>
              <a:t>그래프 등 교육내용을 반영해 요구사항과 구현 방향 지속 개선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A3B9E35-C842-441D-B20A-3172A92BE66B}"/>
              </a:ext>
            </a:extLst>
          </p:cNvPr>
          <p:cNvSpPr txBox="1"/>
          <p:nvPr/>
        </p:nvSpPr>
        <p:spPr>
          <a:xfrm>
            <a:off x="8792918" y="283028"/>
            <a:ext cx="109131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ko-KR" sz="1400" b="1">
                <a:solidFill>
                  <a:schemeClr val="bg1"/>
                </a:solidFill>
                <a:latin typeface="+mj-ea"/>
                <a:ea typeface="+mj-ea"/>
              </a:rPr>
              <a:t>(2/3)</a:t>
            </a:r>
            <a:endParaRPr lang="ko-KR" altLang="en-US" sz="1400" b="1">
              <a:solidFill>
                <a:schemeClr val="bg1"/>
              </a:solidFill>
              <a:latin typeface="+mj-ea"/>
              <a:ea typeface="+mj-ea"/>
            </a:endParaRPr>
          </a:p>
        </p:txBody>
      </p:sp>
      <p:sp>
        <p:nvSpPr>
          <p:cNvPr id="45" name="직사각형 44">
            <a:extLst>
              <a:ext uri="{FF2B5EF4-FFF2-40B4-BE49-F238E27FC236}">
                <a16:creationId xmlns:a16="http://schemas.microsoft.com/office/drawing/2014/main" id="{586198D4-A860-44F6-B729-A6BE3904A61A}"/>
              </a:ext>
            </a:extLst>
          </p:cNvPr>
          <p:cNvSpPr/>
          <p:nvPr/>
        </p:nvSpPr>
        <p:spPr>
          <a:xfrm>
            <a:off x="398363" y="2347201"/>
            <a:ext cx="9507637" cy="12336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73891" tIns="73891" rIns="73891" bIns="73891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ts val="2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300" i="0" u="none" strike="noStrike" kern="1200" cap="none" spc="-4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  <a:cs typeface="+mn-cs"/>
                <a:sym typeface="Wingdings" pitchFamily="2" charset="2"/>
              </a:rPr>
              <a:t>○ </a:t>
            </a:r>
            <a:r>
              <a:rPr lang="ko-KR" altLang="en-US" sz="1300">
                <a:latin typeface="+mn-ea"/>
              </a:rPr>
              <a:t>여러 부서의 협업이 필요하거나 판단하기 까다로운 질의를 선별하여 서비스 안내 결과를 반복적으로 확인</a:t>
            </a:r>
            <a:endParaRPr lang="en-US" altLang="ko-KR" sz="1300" spc="-40">
              <a:solidFill>
                <a:prstClr val="black"/>
              </a:solidFill>
              <a:latin typeface="+mn-ea"/>
              <a:sym typeface="Wingdings" pitchFamily="2" charset="2"/>
            </a:endParaRPr>
          </a:p>
          <a:p>
            <a:pPr marL="0" marR="0" lvl="0" indent="0" algn="l" defTabSz="914400" rtl="0" eaLnBrk="1" fontAlgn="auto" latinLnBrk="1" hangingPunct="1">
              <a:lnSpc>
                <a:spcPts val="2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300" i="0" u="none" strike="noStrike" kern="1200" cap="none" spc="-4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  <a:cs typeface="+mn-cs"/>
                <a:sym typeface="Wingdings" pitchFamily="2" charset="2"/>
              </a:rPr>
              <a:t>   - </a:t>
            </a:r>
            <a:r>
              <a:rPr lang="ko-KR" altLang="en-US" sz="1300">
                <a:latin typeface="+mn-ea"/>
              </a:rPr>
              <a:t>사용자가 실제로 질문할 만한 대표 질의 검토</a:t>
            </a:r>
            <a:endParaRPr lang="en-US" altLang="ko-KR" sz="1300">
              <a:latin typeface="+mn-ea"/>
            </a:endParaRPr>
          </a:p>
          <a:p>
            <a:pPr marL="0" marR="0" lvl="0" indent="0" algn="l" defTabSz="914400" rtl="0" eaLnBrk="1" fontAlgn="auto" latinLnBrk="1" hangingPunct="1">
              <a:lnSpc>
                <a:spcPts val="2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300" i="0" u="none" strike="noStrike" kern="1200" cap="none" spc="-4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  <a:cs typeface="+mn-cs"/>
                <a:sym typeface="Wingdings" pitchFamily="2" charset="2"/>
              </a:rPr>
              <a:t>   - </a:t>
            </a:r>
            <a:r>
              <a:rPr lang="ko-KR" altLang="en-US" sz="1300">
                <a:latin typeface="+mn-ea"/>
              </a:rPr>
              <a:t>질의에 적합한 절차와 관련 지침이 제공되는지 확인</a:t>
            </a:r>
            <a:endParaRPr lang="en-US" altLang="ko-KR" sz="1300">
              <a:latin typeface="+mn-ea"/>
            </a:endParaRPr>
          </a:p>
          <a:p>
            <a:pPr marL="0" marR="0" lvl="0" indent="0" algn="l" defTabSz="914400" rtl="0" eaLnBrk="1" fontAlgn="auto" latinLnBrk="1" hangingPunct="1">
              <a:lnSpc>
                <a:spcPts val="2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1300" spc="-40">
                <a:solidFill>
                  <a:prstClr val="black"/>
                </a:solidFill>
                <a:latin typeface="+mn-ea"/>
                <a:sym typeface="Wingdings" pitchFamily="2" charset="2"/>
              </a:rPr>
              <a:t>   - </a:t>
            </a:r>
            <a:r>
              <a:rPr lang="ko-KR" altLang="en-US" sz="1300">
                <a:latin typeface="+mn-ea"/>
              </a:rPr>
              <a:t>질의</a:t>
            </a:r>
            <a:r>
              <a:rPr lang="en-US" altLang="ko-KR" sz="1300">
                <a:latin typeface="+mn-ea"/>
              </a:rPr>
              <a:t>, </a:t>
            </a:r>
            <a:r>
              <a:rPr lang="ko-KR" altLang="en-US" sz="1300">
                <a:latin typeface="+mn-ea"/>
              </a:rPr>
              <a:t>결과 확인</a:t>
            </a:r>
            <a:r>
              <a:rPr lang="en-US" altLang="ko-KR" sz="1300">
                <a:latin typeface="+mn-ea"/>
              </a:rPr>
              <a:t>, </a:t>
            </a:r>
            <a:r>
              <a:rPr lang="ko-KR" altLang="en-US" sz="1300">
                <a:latin typeface="+mn-ea"/>
              </a:rPr>
              <a:t>데이터 보완 과정을 반복하며 서비스 정확도 개선</a:t>
            </a:r>
            <a:endParaRPr lang="en-US" altLang="ko-KR" sz="1300" spc="-40">
              <a:solidFill>
                <a:prstClr val="black"/>
              </a:solidFill>
              <a:latin typeface="+mn-ea"/>
              <a:sym typeface="Wingdings" pitchFamily="2" charset="2"/>
            </a:endParaRPr>
          </a:p>
        </p:txBody>
      </p:sp>
      <p:sp>
        <p:nvSpPr>
          <p:cNvPr id="46" name="직사각형 45">
            <a:extLst>
              <a:ext uri="{FF2B5EF4-FFF2-40B4-BE49-F238E27FC236}">
                <a16:creationId xmlns:a16="http://schemas.microsoft.com/office/drawing/2014/main" id="{865FB259-F052-493A-AF0A-320E267E0258}"/>
              </a:ext>
            </a:extLst>
          </p:cNvPr>
          <p:cNvSpPr/>
          <p:nvPr/>
        </p:nvSpPr>
        <p:spPr>
          <a:xfrm>
            <a:off x="398363" y="3958282"/>
            <a:ext cx="9507637" cy="38723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73891" tIns="73891" rIns="73891" bIns="73891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ts val="2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300" b="0" i="0" u="none" strike="noStrike" kern="1200" cap="none" spc="-4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  <a:cs typeface="+mn-cs"/>
                <a:sym typeface="Wingdings" pitchFamily="2" charset="2"/>
              </a:rPr>
              <a:t>○ </a:t>
            </a:r>
            <a:r>
              <a:rPr kumimoji="0" lang="en-US" altLang="ko-KR" sz="1300" b="0" i="0" u="none" strike="noStrike" kern="1200" cap="none" spc="-4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  <a:cs typeface="+mn-cs"/>
                <a:sym typeface="Wingdings" pitchFamily="2" charset="2"/>
              </a:rPr>
              <a:t>PRD </a:t>
            </a:r>
            <a:r>
              <a:rPr kumimoji="0" lang="ko-KR" altLang="en-US" sz="1300" b="0" i="0" u="none" strike="noStrike" kern="1200" cap="none" spc="-4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  <a:cs typeface="+mn-cs"/>
                <a:sym typeface="Wingdings" pitchFamily="2" charset="2"/>
              </a:rPr>
              <a:t>작성</a:t>
            </a:r>
            <a:r>
              <a:rPr kumimoji="0" lang="en-US" altLang="ko-KR" sz="1300" b="0" i="0" u="none" strike="noStrike" kern="1200" cap="none" spc="-4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  <a:cs typeface="+mn-cs"/>
                <a:sym typeface="Wingdings" pitchFamily="2" charset="2"/>
              </a:rPr>
              <a:t>, </a:t>
            </a:r>
            <a:r>
              <a:rPr lang="ko-KR" altLang="en-US" sz="1300">
                <a:latin typeface="+mn-ea"/>
              </a:rPr>
              <a:t>기능 구현</a:t>
            </a:r>
            <a:r>
              <a:rPr lang="en-US" altLang="ko-KR" sz="1300">
                <a:latin typeface="+mn-ea"/>
              </a:rPr>
              <a:t>, </a:t>
            </a:r>
            <a:r>
              <a:rPr lang="ko-KR" altLang="en-US" sz="1300">
                <a:latin typeface="+mn-ea"/>
              </a:rPr>
              <a:t>변경 이력 관리와 오류 해결을 반복하며 실제 웹서비스 개발 과정을 경험</a:t>
            </a:r>
            <a:endParaRPr lang="en-US" altLang="ko-KR" sz="1300" spc="-40">
              <a:solidFill>
                <a:prstClr val="black"/>
              </a:solidFill>
              <a:latin typeface="+mn-ea"/>
              <a:sym typeface="Wingdings" pitchFamily="2" charset="2"/>
            </a:endParaRPr>
          </a:p>
        </p:txBody>
      </p:sp>
      <p:sp>
        <p:nvSpPr>
          <p:cNvPr id="50" name="사각형: 둥근 모서리 49">
            <a:extLst>
              <a:ext uri="{FF2B5EF4-FFF2-40B4-BE49-F238E27FC236}">
                <a16:creationId xmlns:a16="http://schemas.microsoft.com/office/drawing/2014/main" id="{6D9147BF-9859-4CDF-95B7-9D5BC0AB31E8}"/>
              </a:ext>
            </a:extLst>
          </p:cNvPr>
          <p:cNvSpPr>
            <a:spLocks noGrp="1"/>
          </p:cNvSpPr>
          <p:nvPr/>
        </p:nvSpPr>
        <p:spPr>
          <a:xfrm>
            <a:off x="556286" y="4377785"/>
            <a:ext cx="1600429" cy="639107"/>
          </a:xfrm>
          <a:prstGeom prst="roundRect">
            <a:avLst>
              <a:gd name="adj" fmla="val 18386"/>
            </a:avLst>
          </a:prstGeom>
          <a:noFill/>
          <a:ln w="12700">
            <a:solidFill>
              <a:srgbClr val="E4DAF0"/>
            </a:solidFill>
            <a:prstDash val="solid"/>
          </a:ln>
        </p:spPr>
        <p:txBody>
          <a:bodyPr anchor="ctr" anchorCtr="0"/>
          <a:lstStyle/>
          <a:p>
            <a:r>
              <a:rPr lang="en-US" altLang="ko-KR" sz="1400" b="1"/>
              <a:t>                 CODEX</a:t>
            </a:r>
            <a:endParaRPr lang="ko-KR" altLang="en-US" sz="1400" b="1"/>
          </a:p>
        </p:txBody>
      </p:sp>
      <p:pic>
        <p:nvPicPr>
          <p:cNvPr id="28" name="그림 27">
            <a:extLst>
              <a:ext uri="{FF2B5EF4-FFF2-40B4-BE49-F238E27FC236}">
                <a16:creationId xmlns:a16="http://schemas.microsoft.com/office/drawing/2014/main" id="{81E2B5B8-9023-42AE-9367-19533F11842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6625" y="4462483"/>
            <a:ext cx="516037" cy="469710"/>
          </a:xfrm>
          <a:prstGeom prst="rect">
            <a:avLst/>
          </a:prstGeom>
        </p:spPr>
      </p:pic>
      <p:pic>
        <p:nvPicPr>
          <p:cNvPr id="34" name="그림 33">
            <a:extLst>
              <a:ext uri="{FF2B5EF4-FFF2-40B4-BE49-F238E27FC236}">
                <a16:creationId xmlns:a16="http://schemas.microsoft.com/office/drawing/2014/main" id="{12DDE7C9-BD9F-4B3F-8BEA-115F9F185CF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30133" y="4401716"/>
            <a:ext cx="1350499" cy="808874"/>
          </a:xfrm>
          <a:prstGeom prst="rect">
            <a:avLst/>
          </a:prstGeom>
        </p:spPr>
      </p:pic>
      <p:sp>
        <p:nvSpPr>
          <p:cNvPr id="60" name="TextBox 59">
            <a:extLst>
              <a:ext uri="{FF2B5EF4-FFF2-40B4-BE49-F238E27FC236}">
                <a16:creationId xmlns:a16="http://schemas.microsoft.com/office/drawing/2014/main" id="{A5F1DE8C-052C-4FD3-94A6-E8E93D826F22}"/>
              </a:ext>
            </a:extLst>
          </p:cNvPr>
          <p:cNvSpPr txBox="1"/>
          <p:nvPr/>
        </p:nvSpPr>
        <p:spPr>
          <a:xfrm>
            <a:off x="2219662" y="5237422"/>
            <a:ext cx="4489402" cy="5309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87313" indent="-87313">
              <a:spcBef>
                <a:spcPts val="300"/>
              </a:spcBef>
              <a:buFont typeface="Wingdings" panose="05000000000000000000" pitchFamily="2" charset="2"/>
              <a:buChar char="§"/>
            </a:pPr>
            <a:r>
              <a:rPr lang="en-US" altLang="ko-KR" sz="1300" spc="-40">
                <a:latin typeface="+mn-ea"/>
              </a:rPr>
              <a:t> VS</a:t>
            </a:r>
            <a:r>
              <a:rPr lang="ko-KR" altLang="en-US" sz="1300" spc="-40">
                <a:latin typeface="+mn-ea"/>
              </a:rPr>
              <a:t> </a:t>
            </a:r>
            <a:r>
              <a:rPr lang="en-US" altLang="ko-KR" sz="1300" spc="-40">
                <a:latin typeface="+mn-ea"/>
              </a:rPr>
              <a:t>Code</a:t>
            </a:r>
            <a:r>
              <a:rPr lang="ko-KR" altLang="en-US" sz="1300" spc="-40">
                <a:latin typeface="+mn-ea"/>
              </a:rPr>
              <a:t>에서 가상환경</a:t>
            </a:r>
            <a:r>
              <a:rPr lang="en-US" altLang="ko-KR" sz="1300" spc="-40">
                <a:latin typeface="+mn-ea"/>
              </a:rPr>
              <a:t>, </a:t>
            </a:r>
            <a:r>
              <a:rPr lang="ko-KR" altLang="en-US" sz="1300" spc="-40">
                <a:latin typeface="+mn-ea"/>
              </a:rPr>
              <a:t>환경변수</a:t>
            </a:r>
            <a:r>
              <a:rPr lang="en-US" altLang="ko-KR" sz="1300" spc="-40">
                <a:latin typeface="+mn-ea"/>
              </a:rPr>
              <a:t>(.env) </a:t>
            </a:r>
            <a:r>
              <a:rPr lang="ko-KR" altLang="en-US" sz="1300" spc="-40">
                <a:latin typeface="+mn-ea"/>
              </a:rPr>
              <a:t>반영 개발</a:t>
            </a:r>
            <a:endParaRPr lang="en-US" altLang="ko-KR" sz="1300" spc="-40">
              <a:latin typeface="+mn-ea"/>
            </a:endParaRPr>
          </a:p>
          <a:p>
            <a:pPr marL="87313" indent="-87313">
              <a:spcBef>
                <a:spcPts val="300"/>
              </a:spcBef>
              <a:buFont typeface="Wingdings" panose="05000000000000000000" pitchFamily="2" charset="2"/>
              <a:buChar char="§"/>
            </a:pPr>
            <a:r>
              <a:rPr lang="en-US" altLang="ko-KR" sz="1300" spc="-40">
                <a:latin typeface="+mn-ea"/>
              </a:rPr>
              <a:t> </a:t>
            </a:r>
            <a:r>
              <a:rPr lang="ko-KR" altLang="en-US" sz="1300" spc="-40">
                <a:latin typeface="+mn-ea"/>
              </a:rPr>
              <a:t>라이브러리와 </a:t>
            </a:r>
            <a:r>
              <a:rPr lang="en-US" altLang="ko-KR" sz="1300" spc="-40">
                <a:latin typeface="+mn-ea"/>
              </a:rPr>
              <a:t>AI </a:t>
            </a:r>
            <a:r>
              <a:rPr lang="ko-KR" altLang="en-US" sz="1300" spc="-40">
                <a:latin typeface="+mn-ea"/>
              </a:rPr>
              <a:t>도구를 활용해</a:t>
            </a:r>
            <a:r>
              <a:rPr lang="en-US" altLang="ko-KR" sz="1300" spc="-40">
                <a:latin typeface="+mn-ea"/>
              </a:rPr>
              <a:t>, </a:t>
            </a:r>
            <a:r>
              <a:rPr lang="ko-KR" altLang="en-US" sz="1300" spc="-40">
                <a:latin typeface="+mn-ea"/>
              </a:rPr>
              <a:t>메일링 등 기능 확장</a:t>
            </a:r>
            <a:endParaRPr lang="en-US" altLang="ko-KR" sz="1300" spc="-40">
              <a:latin typeface="+mn-ea"/>
            </a:endParaRPr>
          </a:p>
        </p:txBody>
      </p:sp>
      <p:sp>
        <p:nvSpPr>
          <p:cNvPr id="61" name="사각형: 둥근 모서리 60">
            <a:extLst>
              <a:ext uri="{FF2B5EF4-FFF2-40B4-BE49-F238E27FC236}">
                <a16:creationId xmlns:a16="http://schemas.microsoft.com/office/drawing/2014/main" id="{8277C910-F0F3-491C-AA78-346F8C5A4CE8}"/>
              </a:ext>
            </a:extLst>
          </p:cNvPr>
          <p:cNvSpPr>
            <a:spLocks noGrp="1"/>
          </p:cNvSpPr>
          <p:nvPr/>
        </p:nvSpPr>
        <p:spPr>
          <a:xfrm>
            <a:off x="556286" y="5183326"/>
            <a:ext cx="1600429" cy="639107"/>
          </a:xfrm>
          <a:prstGeom prst="roundRect">
            <a:avLst>
              <a:gd name="adj" fmla="val 18386"/>
            </a:avLst>
          </a:prstGeom>
          <a:noFill/>
          <a:ln w="12700">
            <a:solidFill>
              <a:srgbClr val="E4DAF0"/>
            </a:solidFill>
            <a:prstDash val="solid"/>
          </a:ln>
        </p:spPr>
        <p:txBody>
          <a:bodyPr anchor="ctr" anchorCtr="0"/>
          <a:lstStyle/>
          <a:p>
            <a:endParaRPr lang="ko-KR" altLang="en-US" sz="1400" b="1"/>
          </a:p>
        </p:txBody>
      </p:sp>
      <p:pic>
        <p:nvPicPr>
          <p:cNvPr id="36" name="그림 35">
            <a:extLst>
              <a:ext uri="{FF2B5EF4-FFF2-40B4-BE49-F238E27FC236}">
                <a16:creationId xmlns:a16="http://schemas.microsoft.com/office/drawing/2014/main" id="{FA76FEB8-6F4B-4BEE-97E3-3853CF77E5B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99830" y="5303790"/>
            <a:ext cx="1548366" cy="387239"/>
          </a:xfrm>
          <a:prstGeom prst="rect">
            <a:avLst/>
          </a:prstGeom>
        </p:spPr>
      </p:pic>
      <p:pic>
        <p:nvPicPr>
          <p:cNvPr id="69" name="그림 68">
            <a:extLst>
              <a:ext uri="{FF2B5EF4-FFF2-40B4-BE49-F238E27FC236}">
                <a16:creationId xmlns:a16="http://schemas.microsoft.com/office/drawing/2014/main" id="{32B0F490-66DB-49D6-901C-B03820A703D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930133" y="5568813"/>
            <a:ext cx="2950029" cy="1138218"/>
          </a:xfrm>
          <a:prstGeom prst="rect">
            <a:avLst/>
          </a:prstGeom>
        </p:spPr>
      </p:pic>
      <p:pic>
        <p:nvPicPr>
          <p:cNvPr id="66" name="그림 65">
            <a:extLst>
              <a:ext uri="{FF2B5EF4-FFF2-40B4-BE49-F238E27FC236}">
                <a16:creationId xmlns:a16="http://schemas.microsoft.com/office/drawing/2014/main" id="{C5CCB510-31B3-4CAE-BEAF-3EEDDF2D72CA}"/>
              </a:ext>
            </a:extLst>
          </p:cNvPr>
          <p:cNvPicPr>
            <a:picLocks noChangeAspect="1"/>
          </p:cNvPicPr>
          <p:nvPr/>
        </p:nvPicPr>
        <p:blipFill rotWithShape="1">
          <a:blip r:embed="rId7"/>
          <a:srcRect b="25518"/>
          <a:stretch/>
        </p:blipFill>
        <p:spPr>
          <a:xfrm>
            <a:off x="8042874" y="4918963"/>
            <a:ext cx="1336503" cy="794758"/>
          </a:xfrm>
          <a:prstGeom prst="rect">
            <a:avLst/>
          </a:prstGeom>
        </p:spPr>
      </p:pic>
      <p:pic>
        <p:nvPicPr>
          <p:cNvPr id="71" name="그림 70">
            <a:extLst>
              <a:ext uri="{FF2B5EF4-FFF2-40B4-BE49-F238E27FC236}">
                <a16:creationId xmlns:a16="http://schemas.microsoft.com/office/drawing/2014/main" id="{1AC670EF-7932-41AC-912B-95890CCFBD70}"/>
              </a:ext>
            </a:extLst>
          </p:cNvPr>
          <p:cNvPicPr>
            <a:picLocks noChangeAspect="1"/>
          </p:cNvPicPr>
          <p:nvPr/>
        </p:nvPicPr>
        <p:blipFill rotWithShape="1">
          <a:blip r:embed="rId8"/>
          <a:srcRect l="18263" t="14117"/>
          <a:stretch/>
        </p:blipFill>
        <p:spPr>
          <a:xfrm>
            <a:off x="622348" y="5991525"/>
            <a:ext cx="602832" cy="611567"/>
          </a:xfrm>
          <a:prstGeom prst="rect">
            <a:avLst/>
          </a:prstGeom>
        </p:spPr>
      </p:pic>
      <p:sp>
        <p:nvSpPr>
          <p:cNvPr id="67" name="사각형: 둥근 모서리 66">
            <a:extLst>
              <a:ext uri="{FF2B5EF4-FFF2-40B4-BE49-F238E27FC236}">
                <a16:creationId xmlns:a16="http://schemas.microsoft.com/office/drawing/2014/main" id="{139D9BE0-CC05-4365-A6CD-2C70A42FD3C3}"/>
              </a:ext>
            </a:extLst>
          </p:cNvPr>
          <p:cNvSpPr>
            <a:spLocks noGrp="1"/>
          </p:cNvSpPr>
          <p:nvPr/>
        </p:nvSpPr>
        <p:spPr>
          <a:xfrm>
            <a:off x="556286" y="5979205"/>
            <a:ext cx="1600429" cy="639107"/>
          </a:xfrm>
          <a:prstGeom prst="roundRect">
            <a:avLst>
              <a:gd name="adj" fmla="val 18386"/>
            </a:avLst>
          </a:prstGeom>
          <a:noFill/>
          <a:ln w="12700">
            <a:solidFill>
              <a:srgbClr val="E4DAF0"/>
            </a:solidFill>
            <a:prstDash val="solid"/>
          </a:ln>
        </p:spPr>
        <p:txBody>
          <a:bodyPr anchor="ctr" anchorCtr="0"/>
          <a:lstStyle/>
          <a:p>
            <a:r>
              <a:rPr lang="en-US" altLang="ko-KR" sz="1400" b="1"/>
              <a:t>                 GitHub</a:t>
            </a:r>
            <a:endParaRPr lang="ko-KR" altLang="en-US" sz="1400" b="1"/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437BB53F-787D-422B-B012-A00483FC061C}"/>
              </a:ext>
            </a:extLst>
          </p:cNvPr>
          <p:cNvSpPr txBox="1"/>
          <p:nvPr/>
        </p:nvSpPr>
        <p:spPr>
          <a:xfrm>
            <a:off x="2242121" y="5941194"/>
            <a:ext cx="4728201" cy="7848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87313" indent="-87313">
              <a:spcBef>
                <a:spcPts val="300"/>
              </a:spcBef>
              <a:buFont typeface="Wingdings" panose="05000000000000000000" pitchFamily="2" charset="2"/>
              <a:buChar char="§"/>
            </a:pPr>
            <a:r>
              <a:rPr lang="en-US" altLang="ko-KR" sz="1300" spc="-40">
                <a:latin typeface="+mn-ea"/>
              </a:rPr>
              <a:t> Git</a:t>
            </a:r>
            <a:r>
              <a:rPr lang="ko-KR" altLang="en-US" sz="1300" spc="-40">
                <a:latin typeface="+mn-ea"/>
              </a:rPr>
              <a:t>과 </a:t>
            </a:r>
            <a:r>
              <a:rPr lang="en-US" altLang="ko-KR" sz="1300" spc="-40">
                <a:latin typeface="+mn-ea"/>
              </a:rPr>
              <a:t>GitHub</a:t>
            </a:r>
            <a:r>
              <a:rPr lang="ko-KR" altLang="en-US" sz="1300" spc="-40">
                <a:latin typeface="+mn-ea"/>
              </a:rPr>
              <a:t>를 활용해 변경사항과 개발 이력 관리</a:t>
            </a:r>
            <a:endParaRPr lang="en-US" altLang="ko-KR" sz="1300" spc="-40">
              <a:latin typeface="+mn-ea"/>
            </a:endParaRPr>
          </a:p>
          <a:p>
            <a:pPr marL="87313" indent="-87313">
              <a:spcBef>
                <a:spcPts val="300"/>
              </a:spcBef>
              <a:buFont typeface="Wingdings" panose="05000000000000000000" pitchFamily="2" charset="2"/>
              <a:buChar char="§"/>
            </a:pPr>
            <a:r>
              <a:rPr lang="en-US" altLang="ko-KR" sz="1300" spc="-40">
                <a:latin typeface="+mn-ea"/>
              </a:rPr>
              <a:t> </a:t>
            </a:r>
            <a:r>
              <a:rPr lang="ko-KR" altLang="en-US" sz="1300" spc="-40">
                <a:latin typeface="+mn-ea"/>
              </a:rPr>
              <a:t>구현 오류와 </a:t>
            </a:r>
            <a:r>
              <a:rPr lang="en-US" altLang="ko-KR" sz="1300" spc="-40">
                <a:latin typeface="+mn-ea"/>
              </a:rPr>
              <a:t>Git </a:t>
            </a:r>
            <a:r>
              <a:rPr lang="ko-KR" altLang="en-US" sz="1300" spc="-40">
                <a:latin typeface="+mn-ea"/>
              </a:rPr>
              <a:t>사용의 어려움을 해결하며 </a:t>
            </a:r>
            <a:endParaRPr lang="en-US" altLang="ko-KR" sz="1300" spc="-40">
              <a:latin typeface="+mn-ea"/>
            </a:endParaRPr>
          </a:p>
          <a:p>
            <a:pPr>
              <a:spcBef>
                <a:spcPts val="300"/>
              </a:spcBef>
            </a:pPr>
            <a:r>
              <a:rPr lang="en-US" altLang="ko-KR" sz="1300" spc="-40">
                <a:latin typeface="+mn-ea"/>
              </a:rPr>
              <a:t>  </a:t>
            </a:r>
            <a:r>
              <a:rPr lang="ko-KR" altLang="en-US" sz="1300" spc="-40">
                <a:latin typeface="+mn-ea"/>
              </a:rPr>
              <a:t>웹개발 방식과 개념 학습</a:t>
            </a:r>
            <a:endParaRPr lang="en-US" altLang="ko-KR" sz="1300" spc="-40">
              <a:latin typeface="+mn-ea"/>
            </a:endParaRPr>
          </a:p>
        </p:txBody>
      </p:sp>
      <p:cxnSp>
        <p:nvCxnSpPr>
          <p:cNvPr id="73" name="직선 연결선 72">
            <a:extLst>
              <a:ext uri="{FF2B5EF4-FFF2-40B4-BE49-F238E27FC236}">
                <a16:creationId xmlns:a16="http://schemas.microsoft.com/office/drawing/2014/main" id="{C87D8F54-4495-444B-9584-2D548D93089D}"/>
              </a:ext>
            </a:extLst>
          </p:cNvPr>
          <p:cNvCxnSpPr>
            <a:cxnSpLocks/>
          </p:cNvCxnSpPr>
          <p:nvPr/>
        </p:nvCxnSpPr>
        <p:spPr>
          <a:xfrm flipV="1">
            <a:off x="2261449" y="5055271"/>
            <a:ext cx="4100053" cy="53806"/>
          </a:xfrm>
          <a:prstGeom prst="line">
            <a:avLst/>
          </a:prstGeom>
          <a:ln w="9525">
            <a:solidFill>
              <a:schemeClr val="bg1">
                <a:lumMod val="85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4" name="직선 연결선 73">
            <a:extLst>
              <a:ext uri="{FF2B5EF4-FFF2-40B4-BE49-F238E27FC236}">
                <a16:creationId xmlns:a16="http://schemas.microsoft.com/office/drawing/2014/main" id="{8B851282-F007-4492-BD3A-010961ABD1F2}"/>
              </a:ext>
            </a:extLst>
          </p:cNvPr>
          <p:cNvCxnSpPr>
            <a:cxnSpLocks/>
          </p:cNvCxnSpPr>
          <p:nvPr/>
        </p:nvCxnSpPr>
        <p:spPr>
          <a:xfrm flipV="1">
            <a:off x="2261449" y="5849088"/>
            <a:ext cx="4100053" cy="53806"/>
          </a:xfrm>
          <a:prstGeom prst="line">
            <a:avLst/>
          </a:prstGeom>
          <a:ln w="9525">
            <a:solidFill>
              <a:schemeClr val="bg1">
                <a:lumMod val="85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90995138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F565F164-0C45-4D87-8583-266FB8891880}"/>
              </a:ext>
            </a:extLst>
          </p:cNvPr>
          <p:cNvSpPr txBox="1"/>
          <p:nvPr/>
        </p:nvSpPr>
        <p:spPr>
          <a:xfrm>
            <a:off x="181848" y="118834"/>
            <a:ext cx="828135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웹서비스 구현 결과 및 향후 계획</a:t>
            </a:r>
            <a:endParaRPr kumimoji="0" lang="ko-KR" altLang="en-US" sz="2000" b="1" i="0" u="none" strike="noStrike" kern="1200" cap="none" spc="-10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B0503020000020004" pitchFamily="50" charset="-127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18989D12-EF7E-4B26-A8A4-47703D404C10}"/>
              </a:ext>
            </a:extLst>
          </p:cNvPr>
          <p:cNvSpPr/>
          <p:nvPr/>
        </p:nvSpPr>
        <p:spPr>
          <a:xfrm>
            <a:off x="556286" y="709192"/>
            <a:ext cx="7886103" cy="3999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73891" tIns="73891" rIns="73891" bIns="73891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ts val="2200"/>
              </a:lnSpc>
              <a:spcBef>
                <a:spcPts val="30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1400" b="1" spc="-2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  <a:sym typeface="Wingdings" pitchFamily="2" charset="2"/>
              </a:rPr>
              <a:t>『</a:t>
            </a:r>
            <a:r>
              <a:rPr lang="ko-KR" altLang="en-US" sz="1400" b="1" spc="-2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  <a:sym typeface="Wingdings" pitchFamily="2" charset="2"/>
              </a:rPr>
              <a:t>업무 지침 네비게이터</a:t>
            </a:r>
            <a:r>
              <a:rPr lang="en-US" altLang="ko-KR" sz="1400" b="1" spc="-2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  <a:sym typeface="Wingdings" pitchFamily="2" charset="2"/>
              </a:rPr>
              <a:t>』 </a:t>
            </a:r>
            <a:r>
              <a:rPr lang="ko-KR" altLang="en-US" sz="1400" b="1" spc="-2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  <a:sym typeface="Wingdings" pitchFamily="2" charset="2"/>
              </a:rPr>
              <a:t>주요 기능 구현 결과</a:t>
            </a:r>
            <a:endParaRPr kumimoji="0" lang="en-US" altLang="ko-KR" sz="1400" b="0" i="0" u="none" strike="noStrike" kern="1200" cap="none" spc="-2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  <a:sym typeface="Wingdings" pitchFamily="2" charset="2"/>
            </a:endParaRPr>
          </a:p>
        </p:txBody>
      </p:sp>
      <p:grpSp>
        <p:nvGrpSpPr>
          <p:cNvPr id="8" name="그룹 7">
            <a:extLst>
              <a:ext uri="{FF2B5EF4-FFF2-40B4-BE49-F238E27FC236}">
                <a16:creationId xmlns:a16="http://schemas.microsoft.com/office/drawing/2014/main" id="{26A7927B-1FC5-4002-88D0-9247A5AECD7B}"/>
              </a:ext>
            </a:extLst>
          </p:cNvPr>
          <p:cNvGrpSpPr/>
          <p:nvPr/>
        </p:nvGrpSpPr>
        <p:grpSpPr>
          <a:xfrm>
            <a:off x="310399" y="819181"/>
            <a:ext cx="194324" cy="180020"/>
            <a:chOff x="416496" y="3577457"/>
            <a:chExt cx="194324" cy="180020"/>
          </a:xfrm>
        </p:grpSpPr>
        <p:sp>
          <p:nvSpPr>
            <p:cNvPr id="9" name="모서리가 둥근 직사각형 320">
              <a:extLst>
                <a:ext uri="{FF2B5EF4-FFF2-40B4-BE49-F238E27FC236}">
                  <a16:creationId xmlns:a16="http://schemas.microsoft.com/office/drawing/2014/main" id="{64991931-304B-4A79-8ABF-F87172C315CC}"/>
                </a:ext>
              </a:extLst>
            </p:cNvPr>
            <p:cNvSpPr/>
            <p:nvPr/>
          </p:nvSpPr>
          <p:spPr>
            <a:xfrm>
              <a:off x="416496" y="3577457"/>
              <a:ext cx="194324" cy="180020"/>
            </a:xfrm>
            <a:prstGeom prst="roundRect">
              <a:avLst>
                <a:gd name="adj" fmla="val 13669"/>
              </a:avLst>
            </a:prstGeom>
            <a:solidFill>
              <a:srgbClr val="0070C0"/>
            </a:solidFill>
            <a:ln w="9525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rIns="0"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ko-KR" sz="1200" b="1" i="0" u="none" strike="noStrike" kern="1200" cap="none" spc="-20" normalizeH="0" baseline="0" noProof="0" dirty="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prstClr val="white"/>
                </a:solidFill>
                <a:effectLst/>
                <a:uLnTx/>
                <a:uFillTx/>
                <a:latin typeface="HY견고딕" panose="02030600000101010101" pitchFamily="18" charset="-127"/>
                <a:ea typeface="HY견고딕" panose="02030600000101010101" pitchFamily="18" charset="-127"/>
                <a:cs typeface="Arial" panose="020B0604020202020204" pitchFamily="34" charset="0"/>
              </a:endParaRPr>
            </a:p>
          </p:txBody>
        </p:sp>
        <p:pic>
          <p:nvPicPr>
            <p:cNvPr id="10" name="그림 9" descr="7.png">
              <a:extLst>
                <a:ext uri="{FF2B5EF4-FFF2-40B4-BE49-F238E27FC236}">
                  <a16:creationId xmlns:a16="http://schemas.microsoft.com/office/drawing/2014/main" id="{0EFF1F02-3E3B-4082-8B1A-A822DE53A214}"/>
                </a:ext>
              </a:extLst>
            </p:cNvPr>
            <p:cNvPicPr>
              <a:picLocks noChangeAspect="1"/>
            </p:cNvPicPr>
            <p:nvPr/>
          </p:nvPicPr>
          <p:blipFill>
            <a:blip r:embed="rId2" cstate="print"/>
            <a:srcRect/>
            <a:stretch>
              <a:fillRect/>
            </a:stretch>
          </p:blipFill>
          <p:spPr>
            <a:xfrm>
              <a:off x="421441" y="3582473"/>
              <a:ext cx="185267" cy="175004"/>
            </a:xfrm>
            <a:prstGeom prst="roundRect">
              <a:avLst>
                <a:gd name="adj" fmla="val 0"/>
              </a:avLst>
            </a:prstGeom>
          </p:spPr>
        </p:pic>
      </p:grpSp>
      <p:sp>
        <p:nvSpPr>
          <p:cNvPr id="47" name="직사각형 46">
            <a:extLst>
              <a:ext uri="{FF2B5EF4-FFF2-40B4-BE49-F238E27FC236}">
                <a16:creationId xmlns:a16="http://schemas.microsoft.com/office/drawing/2014/main" id="{AF15DD7A-DA56-4E27-B8B9-99D16B1EAAD7}"/>
              </a:ext>
            </a:extLst>
          </p:cNvPr>
          <p:cNvSpPr/>
          <p:nvPr/>
        </p:nvSpPr>
        <p:spPr>
          <a:xfrm>
            <a:off x="556286" y="3764791"/>
            <a:ext cx="9034370" cy="4064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73891" tIns="73891" rIns="73891" bIns="73891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ts val="2200"/>
              </a:lnSpc>
              <a:spcBef>
                <a:spcPts val="30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lang="ko-KR" altLang="en-US" sz="1400" b="1" spc="-2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  <a:sym typeface="Wingdings" pitchFamily="2" charset="2"/>
              </a:rPr>
              <a:t>향후 계획</a:t>
            </a:r>
            <a:r>
              <a:rPr lang="en-US" altLang="ko-KR" sz="1400" b="1" spc="-2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  <a:sym typeface="Wingdings" pitchFamily="2" charset="2"/>
              </a:rPr>
              <a:t>:</a:t>
            </a:r>
            <a:r>
              <a:rPr lang="en-US" altLang="ko-KR" sz="1400" spc="-2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  <a:sym typeface="Wingdings" pitchFamily="2" charset="2"/>
              </a:rPr>
              <a:t> </a:t>
            </a:r>
            <a:r>
              <a:rPr lang="ko-KR" altLang="en-US" sz="1400"/>
              <a:t>데이터 보완과 현업 검증을 거쳐 적용 범위를 단계적으로 확대</a:t>
            </a:r>
            <a:endParaRPr kumimoji="0" lang="en-US" altLang="ko-KR" sz="1400" b="1" i="0" u="none" strike="noStrike" kern="1200" cap="none" spc="-2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  <a:sym typeface="Wingdings" pitchFamily="2" charset="2"/>
            </a:endParaRPr>
          </a:p>
        </p:txBody>
      </p:sp>
      <p:grpSp>
        <p:nvGrpSpPr>
          <p:cNvPr id="48" name="그룹 47">
            <a:extLst>
              <a:ext uri="{FF2B5EF4-FFF2-40B4-BE49-F238E27FC236}">
                <a16:creationId xmlns:a16="http://schemas.microsoft.com/office/drawing/2014/main" id="{29476FCD-9DE7-46DD-B543-6C57D2954689}"/>
              </a:ext>
            </a:extLst>
          </p:cNvPr>
          <p:cNvGrpSpPr/>
          <p:nvPr/>
        </p:nvGrpSpPr>
        <p:grpSpPr>
          <a:xfrm>
            <a:off x="310399" y="3874780"/>
            <a:ext cx="194324" cy="180020"/>
            <a:chOff x="416496" y="3577457"/>
            <a:chExt cx="194324" cy="180020"/>
          </a:xfrm>
        </p:grpSpPr>
        <p:sp>
          <p:nvSpPr>
            <p:cNvPr id="49" name="모서리가 둥근 직사각형 320">
              <a:extLst>
                <a:ext uri="{FF2B5EF4-FFF2-40B4-BE49-F238E27FC236}">
                  <a16:creationId xmlns:a16="http://schemas.microsoft.com/office/drawing/2014/main" id="{E9BE25AB-1104-4DD5-AC3E-6DDBF8D648F9}"/>
                </a:ext>
              </a:extLst>
            </p:cNvPr>
            <p:cNvSpPr/>
            <p:nvPr/>
          </p:nvSpPr>
          <p:spPr>
            <a:xfrm>
              <a:off x="416496" y="3577457"/>
              <a:ext cx="194324" cy="180020"/>
            </a:xfrm>
            <a:prstGeom prst="roundRect">
              <a:avLst>
                <a:gd name="adj" fmla="val 13669"/>
              </a:avLst>
            </a:prstGeom>
            <a:solidFill>
              <a:srgbClr val="0070C0"/>
            </a:solidFill>
            <a:ln w="9525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rIns="0"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ko-KR" sz="1200" b="1" i="0" u="none" strike="noStrike" kern="1200" cap="none" spc="-20" normalizeH="0" baseline="0" noProof="0" dirty="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prstClr val="white"/>
                </a:solidFill>
                <a:effectLst/>
                <a:uLnTx/>
                <a:uFillTx/>
                <a:latin typeface="HY견고딕" panose="02030600000101010101" pitchFamily="18" charset="-127"/>
                <a:ea typeface="HY견고딕" panose="02030600000101010101" pitchFamily="18" charset="-127"/>
                <a:cs typeface="Arial" panose="020B0604020202020204" pitchFamily="34" charset="0"/>
              </a:endParaRPr>
            </a:p>
          </p:txBody>
        </p:sp>
        <p:pic>
          <p:nvPicPr>
            <p:cNvPr id="51" name="그림 50" descr="7.png">
              <a:extLst>
                <a:ext uri="{FF2B5EF4-FFF2-40B4-BE49-F238E27FC236}">
                  <a16:creationId xmlns:a16="http://schemas.microsoft.com/office/drawing/2014/main" id="{555C5E72-6381-4E1B-BA5E-ACD3D13B7712}"/>
                </a:ext>
              </a:extLst>
            </p:cNvPr>
            <p:cNvPicPr>
              <a:picLocks noChangeAspect="1"/>
            </p:cNvPicPr>
            <p:nvPr/>
          </p:nvPicPr>
          <p:blipFill>
            <a:blip r:embed="rId2" cstate="print"/>
            <a:srcRect/>
            <a:stretch>
              <a:fillRect/>
            </a:stretch>
          </p:blipFill>
          <p:spPr>
            <a:xfrm>
              <a:off x="421441" y="3582473"/>
              <a:ext cx="185267" cy="175004"/>
            </a:xfrm>
            <a:prstGeom prst="roundRect">
              <a:avLst>
                <a:gd name="adj" fmla="val 0"/>
              </a:avLst>
            </a:prstGeom>
          </p:spPr>
        </p:pic>
      </p:grpSp>
      <p:sp>
        <p:nvSpPr>
          <p:cNvPr id="3" name="TextBox 2">
            <a:extLst>
              <a:ext uri="{FF2B5EF4-FFF2-40B4-BE49-F238E27FC236}">
                <a16:creationId xmlns:a16="http://schemas.microsoft.com/office/drawing/2014/main" id="{CA3B9E35-C842-441D-B20A-3172A92BE66B}"/>
              </a:ext>
            </a:extLst>
          </p:cNvPr>
          <p:cNvSpPr txBox="1"/>
          <p:nvPr/>
        </p:nvSpPr>
        <p:spPr>
          <a:xfrm>
            <a:off x="8792918" y="283028"/>
            <a:ext cx="109131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ko-KR" sz="1400" b="1">
                <a:solidFill>
                  <a:schemeClr val="bg1"/>
                </a:solidFill>
                <a:latin typeface="+mj-ea"/>
                <a:ea typeface="+mj-ea"/>
              </a:rPr>
              <a:t>(3/3)</a:t>
            </a:r>
            <a:endParaRPr lang="ko-KR" altLang="en-US" sz="1400" b="1">
              <a:solidFill>
                <a:schemeClr val="bg1"/>
              </a:solidFill>
              <a:latin typeface="+mj-ea"/>
              <a:ea typeface="+mj-ea"/>
            </a:endParaRPr>
          </a:p>
        </p:txBody>
      </p:sp>
      <p:sp>
        <p:nvSpPr>
          <p:cNvPr id="13" name="사각형: 둥근 모서리 12">
            <a:extLst>
              <a:ext uri="{FF2B5EF4-FFF2-40B4-BE49-F238E27FC236}">
                <a16:creationId xmlns:a16="http://schemas.microsoft.com/office/drawing/2014/main" id="{C8F4C275-55DF-4DC5-852A-608F7DBE5745}"/>
              </a:ext>
            </a:extLst>
          </p:cNvPr>
          <p:cNvSpPr/>
          <p:nvPr/>
        </p:nvSpPr>
        <p:spPr>
          <a:xfrm>
            <a:off x="3955702" y="1357691"/>
            <a:ext cx="1657198" cy="406475"/>
          </a:xfrm>
          <a:prstGeom prst="roundRect">
            <a:avLst/>
          </a:prstGeom>
          <a:solidFill>
            <a:srgbClr val="0F64C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500" b="1">
                <a:latin typeface="+mn-ea"/>
              </a:rPr>
              <a:t>1.</a:t>
            </a:r>
            <a:r>
              <a:rPr lang="ko-KR" altLang="en-US" sz="1500" b="1">
                <a:latin typeface="+mn-ea"/>
              </a:rPr>
              <a:t>업무 입력</a:t>
            </a:r>
          </a:p>
        </p:txBody>
      </p:sp>
      <p:sp>
        <p:nvSpPr>
          <p:cNvPr id="46" name="사각형: 둥근 모서리 45">
            <a:extLst>
              <a:ext uri="{FF2B5EF4-FFF2-40B4-BE49-F238E27FC236}">
                <a16:creationId xmlns:a16="http://schemas.microsoft.com/office/drawing/2014/main" id="{56A11B87-E0EF-4F75-85FD-7A41F04B0EE7}"/>
              </a:ext>
            </a:extLst>
          </p:cNvPr>
          <p:cNvSpPr/>
          <p:nvPr/>
        </p:nvSpPr>
        <p:spPr>
          <a:xfrm>
            <a:off x="3955702" y="2163234"/>
            <a:ext cx="1657198" cy="406475"/>
          </a:xfrm>
          <a:prstGeom prst="roundRect">
            <a:avLst/>
          </a:prstGeom>
          <a:solidFill>
            <a:srgbClr val="238B7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500" b="1">
                <a:latin typeface="+mn-ea"/>
              </a:rPr>
              <a:t>2.</a:t>
            </a:r>
            <a:r>
              <a:rPr lang="ko-KR" altLang="en-US" sz="1500" b="1">
                <a:latin typeface="+mn-ea"/>
              </a:rPr>
              <a:t>절차〮부서 확인</a:t>
            </a:r>
          </a:p>
        </p:txBody>
      </p:sp>
      <p:sp>
        <p:nvSpPr>
          <p:cNvPr id="50" name="사각형: 둥근 모서리 49">
            <a:extLst>
              <a:ext uri="{FF2B5EF4-FFF2-40B4-BE49-F238E27FC236}">
                <a16:creationId xmlns:a16="http://schemas.microsoft.com/office/drawing/2014/main" id="{D78C5C1B-19F2-4986-8126-18574CDCA3B8}"/>
              </a:ext>
            </a:extLst>
          </p:cNvPr>
          <p:cNvSpPr/>
          <p:nvPr/>
        </p:nvSpPr>
        <p:spPr>
          <a:xfrm>
            <a:off x="3955701" y="3023829"/>
            <a:ext cx="1657197" cy="406475"/>
          </a:xfrm>
          <a:prstGeom prst="roundRect">
            <a:avLst/>
          </a:prstGeom>
          <a:solidFill>
            <a:srgbClr val="C56A2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500" b="1">
                <a:latin typeface="+mn-ea"/>
              </a:rPr>
              <a:t>3.</a:t>
            </a:r>
            <a:r>
              <a:rPr lang="ko-KR" altLang="en-US" sz="1500" b="1">
                <a:latin typeface="+mn-ea"/>
              </a:rPr>
              <a:t>협업 요청</a:t>
            </a:r>
          </a:p>
        </p:txBody>
      </p:sp>
      <p:sp>
        <p:nvSpPr>
          <p:cNvPr id="57" name="직사각형 56">
            <a:extLst>
              <a:ext uri="{FF2B5EF4-FFF2-40B4-BE49-F238E27FC236}">
                <a16:creationId xmlns:a16="http://schemas.microsoft.com/office/drawing/2014/main" id="{A6396DB5-C4C0-4342-B110-E6F18BC28618}"/>
              </a:ext>
            </a:extLst>
          </p:cNvPr>
          <p:cNvSpPr/>
          <p:nvPr/>
        </p:nvSpPr>
        <p:spPr>
          <a:xfrm>
            <a:off x="380299" y="6132995"/>
            <a:ext cx="9289581" cy="505290"/>
          </a:xfrm>
          <a:prstGeom prst="rect">
            <a:avLst/>
          </a:prstGeom>
          <a:pattFill prst="pct25">
            <a:fgClr>
              <a:schemeClr val="accent1">
                <a:lumMod val="40000"/>
                <a:lumOff val="60000"/>
              </a:schemeClr>
            </a:fgClr>
            <a:bgClr>
              <a:schemeClr val="bg1"/>
            </a:bgClr>
          </a:patt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500" b="1">
                <a:solidFill>
                  <a:schemeClr val="tx1"/>
                </a:solidFill>
              </a:rPr>
              <a:t>             </a:t>
            </a:r>
            <a:r>
              <a:rPr lang="ko-KR" altLang="en-US" sz="1500" b="1" spc="-40">
                <a:solidFill>
                  <a:schemeClr val="tx1"/>
                </a:solidFill>
              </a:rPr>
              <a:t>실제 업무 검증을 바탕으로 </a:t>
            </a:r>
            <a:r>
              <a:rPr lang="ko-KR" altLang="en-US" sz="1500" b="1">
                <a:solidFill>
                  <a:schemeClr val="tx1"/>
                </a:solidFill>
              </a:rPr>
              <a:t>서비스의 완성도를 높이고</a:t>
            </a:r>
            <a:r>
              <a:rPr lang="en-US" altLang="ko-KR" sz="1500" b="1">
                <a:solidFill>
                  <a:schemeClr val="tx1"/>
                </a:solidFill>
              </a:rPr>
              <a:t>, </a:t>
            </a:r>
            <a:r>
              <a:rPr lang="ko-KR" altLang="en-US" sz="1500" b="1">
                <a:solidFill>
                  <a:schemeClr val="tx1"/>
                </a:solidFill>
              </a:rPr>
              <a:t>효과가 확인된 업무부터 적용 범위를 확대</a:t>
            </a:r>
            <a:endParaRPr lang="ko-KR" altLang="en-US" sz="1500" b="1" spc="-40">
              <a:solidFill>
                <a:schemeClr val="tx1"/>
              </a:solidFill>
              <a:latin typeface="+mn-ea"/>
            </a:endParaRPr>
          </a:p>
        </p:txBody>
      </p:sp>
      <p:grpSp>
        <p:nvGrpSpPr>
          <p:cNvPr id="60" name="그룹 59">
            <a:extLst>
              <a:ext uri="{FF2B5EF4-FFF2-40B4-BE49-F238E27FC236}">
                <a16:creationId xmlns:a16="http://schemas.microsoft.com/office/drawing/2014/main" id="{F739FA52-0BC8-41ED-96A4-C21CDA0939AE}"/>
              </a:ext>
            </a:extLst>
          </p:cNvPr>
          <p:cNvGrpSpPr/>
          <p:nvPr/>
        </p:nvGrpSpPr>
        <p:grpSpPr>
          <a:xfrm>
            <a:off x="388532" y="6169914"/>
            <a:ext cx="511817" cy="431452"/>
            <a:chOff x="-895525" y="3274733"/>
            <a:chExt cx="619300" cy="474597"/>
          </a:xfrm>
        </p:grpSpPr>
        <p:sp>
          <p:nvSpPr>
            <p:cNvPr id="61" name="타원 60">
              <a:extLst>
                <a:ext uri="{FF2B5EF4-FFF2-40B4-BE49-F238E27FC236}">
                  <a16:creationId xmlns:a16="http://schemas.microsoft.com/office/drawing/2014/main" id="{FE250C78-B1EC-4C84-B61C-88D384CA99F2}"/>
                </a:ext>
              </a:extLst>
            </p:cNvPr>
            <p:cNvSpPr/>
            <p:nvPr/>
          </p:nvSpPr>
          <p:spPr>
            <a:xfrm>
              <a:off x="-781050" y="3274733"/>
              <a:ext cx="504825" cy="474597"/>
            </a:xfrm>
            <a:prstGeom prst="ellipse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63" name="화살표: 오른쪽 62">
              <a:extLst>
                <a:ext uri="{FF2B5EF4-FFF2-40B4-BE49-F238E27FC236}">
                  <a16:creationId xmlns:a16="http://schemas.microsoft.com/office/drawing/2014/main" id="{665DD529-1989-4A76-A5A4-B68BE9A4FCF2}"/>
                </a:ext>
              </a:extLst>
            </p:cNvPr>
            <p:cNvSpPr/>
            <p:nvPr/>
          </p:nvSpPr>
          <p:spPr>
            <a:xfrm>
              <a:off x="-895525" y="3297066"/>
              <a:ext cx="616600" cy="429929"/>
            </a:xfrm>
            <a:prstGeom prst="rightArrow">
              <a:avLst/>
            </a:prstGeom>
            <a:pattFill prst="pct25">
              <a:fgClr>
                <a:schemeClr val="accent1">
                  <a:lumMod val="40000"/>
                  <a:lumOff val="60000"/>
                </a:schemeClr>
              </a:fgClr>
              <a:bgClr>
                <a:schemeClr val="bg1"/>
              </a:bgClr>
            </a:patt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66" name="TextBox 65">
            <a:extLst>
              <a:ext uri="{FF2B5EF4-FFF2-40B4-BE49-F238E27FC236}">
                <a16:creationId xmlns:a16="http://schemas.microsoft.com/office/drawing/2014/main" id="{568F03F6-3EDD-4041-A6AB-41C6A715AB8A}"/>
              </a:ext>
            </a:extLst>
          </p:cNvPr>
          <p:cNvSpPr txBox="1"/>
          <p:nvPr/>
        </p:nvSpPr>
        <p:spPr>
          <a:xfrm>
            <a:off x="5663141" y="1295471"/>
            <a:ext cx="4221088" cy="5309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87313" indent="-87313">
              <a:spcBef>
                <a:spcPts val="300"/>
              </a:spcBef>
              <a:buFont typeface="Wingdings" panose="05000000000000000000" pitchFamily="2" charset="2"/>
              <a:buChar char="§"/>
            </a:pPr>
            <a:r>
              <a:rPr lang="en-US" altLang="ko-KR" sz="1300">
                <a:latin typeface="+mn-ea"/>
              </a:rPr>
              <a:t> </a:t>
            </a:r>
            <a:r>
              <a:rPr lang="ko-KR" altLang="en-US" sz="1300">
                <a:latin typeface="+mn-ea"/>
              </a:rPr>
              <a:t>업무 내용을 자연어로 입력</a:t>
            </a:r>
            <a:endParaRPr lang="en-US" altLang="ko-KR" sz="1300">
              <a:latin typeface="+mn-ea"/>
            </a:endParaRPr>
          </a:p>
          <a:p>
            <a:pPr marL="87313" indent="-87313">
              <a:spcBef>
                <a:spcPts val="300"/>
              </a:spcBef>
              <a:buFont typeface="Wingdings" panose="05000000000000000000" pitchFamily="2" charset="2"/>
              <a:buChar char="§"/>
            </a:pPr>
            <a:r>
              <a:rPr lang="en-US" altLang="ko-KR" sz="1300">
                <a:latin typeface="+mn-ea"/>
              </a:rPr>
              <a:t> </a:t>
            </a:r>
            <a:r>
              <a:rPr lang="ko-KR" altLang="en-US" sz="1300">
                <a:latin typeface="+mn-ea"/>
              </a:rPr>
              <a:t>사업장과 업무 유형 선택 </a:t>
            </a:r>
            <a:r>
              <a:rPr lang="en-US" altLang="ko-KR" sz="1300">
                <a:latin typeface="+mn-ea"/>
              </a:rPr>
              <a:t>(</a:t>
            </a:r>
            <a:r>
              <a:rPr lang="ko-KR" altLang="en-US" sz="1300">
                <a:latin typeface="+mn-ea"/>
              </a:rPr>
              <a:t>모르는 경우</a:t>
            </a:r>
            <a:r>
              <a:rPr lang="en-US" altLang="ko-KR" sz="1300">
                <a:latin typeface="+mn-ea"/>
              </a:rPr>
              <a:t>, </a:t>
            </a:r>
            <a:r>
              <a:rPr lang="ko-KR" altLang="en-US" sz="1300">
                <a:latin typeface="+mn-ea"/>
              </a:rPr>
              <a:t>미선택 가능</a:t>
            </a:r>
            <a:r>
              <a:rPr lang="en-US" altLang="ko-KR" sz="1300">
                <a:latin typeface="+mn-ea"/>
              </a:rPr>
              <a:t>)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2D8A27D0-27B7-4B5C-947D-CAF965FBCC12}"/>
              </a:ext>
            </a:extLst>
          </p:cNvPr>
          <p:cNvSpPr txBox="1"/>
          <p:nvPr/>
        </p:nvSpPr>
        <p:spPr>
          <a:xfrm>
            <a:off x="5663141" y="2101014"/>
            <a:ext cx="4101344" cy="5309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87313" indent="-87313">
              <a:spcBef>
                <a:spcPts val="300"/>
              </a:spcBef>
              <a:buFont typeface="Wingdings" panose="05000000000000000000" pitchFamily="2" charset="2"/>
              <a:buChar char="§"/>
            </a:pPr>
            <a:r>
              <a:rPr lang="en-US" altLang="ko-KR" sz="1300">
                <a:latin typeface="+mn-ea"/>
              </a:rPr>
              <a:t> </a:t>
            </a:r>
            <a:r>
              <a:rPr lang="ko-KR" altLang="en-US" sz="1300">
                <a:latin typeface="+mn-ea"/>
              </a:rPr>
              <a:t>관련 규정 해석 →</a:t>
            </a:r>
            <a:r>
              <a:rPr lang="en-US" altLang="ko-KR" sz="1300">
                <a:latin typeface="+mn-ea"/>
              </a:rPr>
              <a:t> </a:t>
            </a:r>
            <a:r>
              <a:rPr lang="ko-KR" altLang="en-US" sz="1300">
                <a:latin typeface="+mn-ea"/>
              </a:rPr>
              <a:t>업무 프로세스 안내</a:t>
            </a:r>
            <a:endParaRPr lang="en-US" altLang="ko-KR" sz="1300">
              <a:latin typeface="+mn-ea"/>
            </a:endParaRPr>
          </a:p>
          <a:p>
            <a:pPr marL="87313" indent="-87313">
              <a:spcBef>
                <a:spcPts val="300"/>
              </a:spcBef>
              <a:buFont typeface="Wingdings" panose="05000000000000000000" pitchFamily="2" charset="2"/>
              <a:buChar char="§"/>
            </a:pPr>
            <a:r>
              <a:rPr lang="en-US" altLang="ko-KR" sz="1300">
                <a:latin typeface="+mn-ea"/>
              </a:rPr>
              <a:t> </a:t>
            </a:r>
            <a:r>
              <a:rPr lang="ko-KR" altLang="en-US" sz="1300">
                <a:latin typeface="+mn-ea"/>
              </a:rPr>
              <a:t>주관</a:t>
            </a:r>
            <a:r>
              <a:rPr lang="en-US" altLang="ko-KR" sz="1300">
                <a:latin typeface="+mn-ea"/>
              </a:rPr>
              <a:t>(</a:t>
            </a:r>
            <a:r>
              <a:rPr lang="ko-KR" altLang="en-US" sz="1300">
                <a:latin typeface="+mn-ea"/>
              </a:rPr>
              <a:t>협업</a:t>
            </a:r>
            <a:r>
              <a:rPr lang="en-US" altLang="ko-KR" sz="1300">
                <a:latin typeface="+mn-ea"/>
              </a:rPr>
              <a:t>) </a:t>
            </a:r>
            <a:r>
              <a:rPr lang="ko-KR" altLang="en-US" sz="1300">
                <a:latin typeface="+mn-ea"/>
              </a:rPr>
              <a:t>부서 세부내용 확인 → 요청부서 선택</a:t>
            </a:r>
            <a:endParaRPr lang="en-US" altLang="ko-KR" sz="1300">
              <a:latin typeface="+mn-ea"/>
            </a:endParaRP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35AE129A-E645-4A4F-B592-315F74315AC7}"/>
              </a:ext>
            </a:extLst>
          </p:cNvPr>
          <p:cNvSpPr txBox="1"/>
          <p:nvPr/>
        </p:nvSpPr>
        <p:spPr>
          <a:xfrm>
            <a:off x="5663141" y="2842346"/>
            <a:ext cx="4101344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87313" indent="-87313">
              <a:spcBef>
                <a:spcPts val="300"/>
              </a:spcBef>
              <a:buFont typeface="Wingdings" panose="05000000000000000000" pitchFamily="2" charset="2"/>
              <a:buChar char="§"/>
            </a:pPr>
            <a:r>
              <a:rPr lang="en-US" altLang="ko-KR" sz="1300">
                <a:latin typeface="+mn-ea"/>
              </a:rPr>
              <a:t> </a:t>
            </a:r>
            <a:r>
              <a:rPr lang="ko-KR" altLang="en-US" sz="1300">
                <a:latin typeface="+mn-ea"/>
              </a:rPr>
              <a:t>요청 내용을 바탕으로 협업 메일 초안 작성</a:t>
            </a:r>
            <a:endParaRPr lang="en-US" altLang="ko-KR" sz="1300">
              <a:latin typeface="+mn-ea"/>
            </a:endParaRPr>
          </a:p>
          <a:p>
            <a:pPr marL="87313" indent="-87313">
              <a:spcBef>
                <a:spcPts val="300"/>
              </a:spcBef>
              <a:buFont typeface="Wingdings" panose="05000000000000000000" pitchFamily="2" charset="2"/>
              <a:buChar char="§"/>
            </a:pPr>
            <a:r>
              <a:rPr lang="en-US" altLang="ko-KR" sz="1300">
                <a:latin typeface="+mn-ea"/>
              </a:rPr>
              <a:t> </a:t>
            </a:r>
            <a:r>
              <a:rPr lang="ko-KR" altLang="en-US" sz="1300">
                <a:latin typeface="+mn-ea"/>
              </a:rPr>
              <a:t>사용자가 내용 수정</a:t>
            </a:r>
            <a:r>
              <a:rPr lang="en-US" altLang="ko-KR" sz="1300">
                <a:latin typeface="+mn-ea"/>
              </a:rPr>
              <a:t>(</a:t>
            </a:r>
            <a:r>
              <a:rPr lang="ko-KR" altLang="en-US" sz="1300">
                <a:latin typeface="+mn-ea"/>
              </a:rPr>
              <a:t>보완</a:t>
            </a:r>
            <a:r>
              <a:rPr lang="en-US" altLang="ko-KR" sz="1300">
                <a:latin typeface="+mn-ea"/>
              </a:rPr>
              <a:t>) </a:t>
            </a:r>
            <a:r>
              <a:rPr lang="ko-KR" altLang="en-US" sz="1300">
                <a:latin typeface="+mn-ea"/>
              </a:rPr>
              <a:t>후</a:t>
            </a:r>
            <a:r>
              <a:rPr lang="en-US" altLang="ko-KR" sz="1300">
                <a:latin typeface="+mn-ea"/>
              </a:rPr>
              <a:t>, </a:t>
            </a:r>
            <a:r>
              <a:rPr lang="ko-KR" altLang="en-US" sz="1300">
                <a:latin typeface="+mn-ea"/>
              </a:rPr>
              <a:t>메일 발송</a:t>
            </a:r>
            <a:endParaRPr lang="en-US" altLang="ko-KR" sz="1300">
              <a:latin typeface="+mn-ea"/>
            </a:endParaRPr>
          </a:p>
          <a:p>
            <a:pPr marL="87313" indent="-87313">
              <a:spcBef>
                <a:spcPts val="300"/>
              </a:spcBef>
              <a:buFont typeface="Wingdings" panose="05000000000000000000" pitchFamily="2" charset="2"/>
              <a:buChar char="§"/>
            </a:pPr>
            <a:r>
              <a:rPr lang="en-US" altLang="ko-KR" sz="1300">
                <a:latin typeface="+mn-ea"/>
              </a:rPr>
              <a:t> </a:t>
            </a:r>
            <a:r>
              <a:rPr lang="ko-KR" altLang="en-US" sz="1300">
                <a:latin typeface="+mn-ea"/>
              </a:rPr>
              <a:t>담당 부서의 회신 완료까지 진행 현황 확인</a:t>
            </a:r>
            <a:endParaRPr lang="en-US" altLang="ko-KR" sz="1300">
              <a:latin typeface="+mn-ea"/>
            </a:endParaRPr>
          </a:p>
        </p:txBody>
      </p:sp>
      <p:pic>
        <p:nvPicPr>
          <p:cNvPr id="34" name="그래픽 33" descr="갈매기형 화살표 단색으로 채워진">
            <a:extLst>
              <a:ext uri="{FF2B5EF4-FFF2-40B4-BE49-F238E27FC236}">
                <a16:creationId xmlns:a16="http://schemas.microsoft.com/office/drawing/2014/main" id="{870A33B9-6900-4F8F-8369-23847F98415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 rot="5400000">
            <a:off x="4536391" y="1654528"/>
            <a:ext cx="362623" cy="624548"/>
          </a:xfrm>
          <a:prstGeom prst="rect">
            <a:avLst/>
          </a:prstGeom>
        </p:spPr>
      </p:pic>
      <p:pic>
        <p:nvPicPr>
          <p:cNvPr id="69" name="그래픽 68" descr="갈매기형 화살표 단색으로 채워진">
            <a:extLst>
              <a:ext uri="{FF2B5EF4-FFF2-40B4-BE49-F238E27FC236}">
                <a16:creationId xmlns:a16="http://schemas.microsoft.com/office/drawing/2014/main" id="{8D85D93F-C24C-4F8A-B7A4-1B9AFEDA096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 rot="5400000">
            <a:off x="4536391" y="2481845"/>
            <a:ext cx="362623" cy="624548"/>
          </a:xfrm>
          <a:prstGeom prst="rect">
            <a:avLst/>
          </a:prstGeom>
        </p:spPr>
      </p:pic>
      <p:cxnSp>
        <p:nvCxnSpPr>
          <p:cNvPr id="36" name="직선 연결선 35">
            <a:extLst>
              <a:ext uri="{FF2B5EF4-FFF2-40B4-BE49-F238E27FC236}">
                <a16:creationId xmlns:a16="http://schemas.microsoft.com/office/drawing/2014/main" id="{2A27BA35-F808-4CD6-941D-604A42AE0488}"/>
              </a:ext>
            </a:extLst>
          </p:cNvPr>
          <p:cNvCxnSpPr>
            <a:cxnSpLocks/>
          </p:cNvCxnSpPr>
          <p:nvPr/>
        </p:nvCxnSpPr>
        <p:spPr>
          <a:xfrm>
            <a:off x="352511" y="4561113"/>
            <a:ext cx="9299601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45" name="그룹 44">
            <a:extLst>
              <a:ext uri="{FF2B5EF4-FFF2-40B4-BE49-F238E27FC236}">
                <a16:creationId xmlns:a16="http://schemas.microsoft.com/office/drawing/2014/main" id="{BD16EDC6-7CE1-4175-9471-C5D89E61B5CB}"/>
              </a:ext>
            </a:extLst>
          </p:cNvPr>
          <p:cNvGrpSpPr/>
          <p:nvPr/>
        </p:nvGrpSpPr>
        <p:grpSpPr>
          <a:xfrm>
            <a:off x="362747" y="4206252"/>
            <a:ext cx="2783225" cy="307777"/>
            <a:chOff x="536919" y="4223182"/>
            <a:chExt cx="2783225" cy="307777"/>
          </a:xfrm>
        </p:grpSpPr>
        <p:sp>
          <p:nvSpPr>
            <p:cNvPr id="39" name="TextBox 38">
              <a:extLst>
                <a:ext uri="{FF2B5EF4-FFF2-40B4-BE49-F238E27FC236}">
                  <a16:creationId xmlns:a16="http://schemas.microsoft.com/office/drawing/2014/main" id="{E4D2E093-91DA-45AF-A8B9-B128F972257E}"/>
                </a:ext>
              </a:extLst>
            </p:cNvPr>
            <p:cNvSpPr txBox="1"/>
            <p:nvPr/>
          </p:nvSpPr>
          <p:spPr>
            <a:xfrm>
              <a:off x="536919" y="4223182"/>
              <a:ext cx="905875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1400" b="1"/>
                <a:t>단기 </a:t>
              </a:r>
              <a:r>
                <a:rPr lang="ko-KR" altLang="en-US" sz="1400" b="1">
                  <a:solidFill>
                    <a:schemeClr val="bg1">
                      <a:lumMod val="75000"/>
                    </a:schemeClr>
                  </a:solidFill>
                </a:rPr>
                <a:t>ㅣ</a:t>
              </a:r>
            </a:p>
          </p:txBody>
        </p:sp>
        <p:sp>
          <p:nvSpPr>
            <p:cNvPr id="70" name="TextBox 69">
              <a:extLst>
                <a:ext uri="{FF2B5EF4-FFF2-40B4-BE49-F238E27FC236}">
                  <a16:creationId xmlns:a16="http://schemas.microsoft.com/office/drawing/2014/main" id="{EB108567-8770-4855-A685-5EF08269B08A}"/>
                </a:ext>
              </a:extLst>
            </p:cNvPr>
            <p:cNvSpPr txBox="1"/>
            <p:nvPr/>
          </p:nvSpPr>
          <p:spPr>
            <a:xfrm>
              <a:off x="1168292" y="4223182"/>
              <a:ext cx="2151852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1400" b="1"/>
                <a:t>기반 보완</a:t>
              </a:r>
            </a:p>
          </p:txBody>
        </p:sp>
      </p:grpSp>
      <p:grpSp>
        <p:nvGrpSpPr>
          <p:cNvPr id="73" name="그룹 72">
            <a:extLst>
              <a:ext uri="{FF2B5EF4-FFF2-40B4-BE49-F238E27FC236}">
                <a16:creationId xmlns:a16="http://schemas.microsoft.com/office/drawing/2014/main" id="{C63B8C5B-3788-47CD-B9CA-F34E39003916}"/>
              </a:ext>
            </a:extLst>
          </p:cNvPr>
          <p:cNvGrpSpPr/>
          <p:nvPr/>
        </p:nvGrpSpPr>
        <p:grpSpPr>
          <a:xfrm>
            <a:off x="3312776" y="4206252"/>
            <a:ext cx="2783225" cy="307777"/>
            <a:chOff x="536919" y="4223182"/>
            <a:chExt cx="2783225" cy="307777"/>
          </a:xfrm>
        </p:grpSpPr>
        <p:sp>
          <p:nvSpPr>
            <p:cNvPr id="74" name="TextBox 73">
              <a:extLst>
                <a:ext uri="{FF2B5EF4-FFF2-40B4-BE49-F238E27FC236}">
                  <a16:creationId xmlns:a16="http://schemas.microsoft.com/office/drawing/2014/main" id="{8BE8EAA6-2743-4783-8EE2-08BE5D460A97}"/>
                </a:ext>
              </a:extLst>
            </p:cNvPr>
            <p:cNvSpPr txBox="1"/>
            <p:nvPr/>
          </p:nvSpPr>
          <p:spPr>
            <a:xfrm>
              <a:off x="536919" y="4223182"/>
              <a:ext cx="905875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1400" b="1"/>
                <a:t>중기 </a:t>
              </a:r>
              <a:r>
                <a:rPr lang="ko-KR" altLang="en-US" sz="1400" b="1">
                  <a:solidFill>
                    <a:schemeClr val="bg1">
                      <a:lumMod val="75000"/>
                    </a:schemeClr>
                  </a:solidFill>
                </a:rPr>
                <a:t>ㅣ</a:t>
              </a:r>
            </a:p>
          </p:txBody>
        </p:sp>
        <p:sp>
          <p:nvSpPr>
            <p:cNvPr id="75" name="TextBox 74">
              <a:extLst>
                <a:ext uri="{FF2B5EF4-FFF2-40B4-BE49-F238E27FC236}">
                  <a16:creationId xmlns:a16="http://schemas.microsoft.com/office/drawing/2014/main" id="{80F45BD0-6251-45BC-866F-75BE32884DED}"/>
                </a:ext>
              </a:extLst>
            </p:cNvPr>
            <p:cNvSpPr txBox="1"/>
            <p:nvPr/>
          </p:nvSpPr>
          <p:spPr>
            <a:xfrm>
              <a:off x="1168292" y="4223182"/>
              <a:ext cx="2151852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1400" b="1"/>
                <a:t>현업 검증</a:t>
              </a:r>
            </a:p>
          </p:txBody>
        </p:sp>
      </p:grpSp>
      <p:grpSp>
        <p:nvGrpSpPr>
          <p:cNvPr id="76" name="그룹 75">
            <a:extLst>
              <a:ext uri="{FF2B5EF4-FFF2-40B4-BE49-F238E27FC236}">
                <a16:creationId xmlns:a16="http://schemas.microsoft.com/office/drawing/2014/main" id="{95471A17-20BA-4D50-AF45-AF865A36983A}"/>
              </a:ext>
            </a:extLst>
          </p:cNvPr>
          <p:cNvGrpSpPr/>
          <p:nvPr/>
        </p:nvGrpSpPr>
        <p:grpSpPr>
          <a:xfrm>
            <a:off x="6868887" y="4206252"/>
            <a:ext cx="2783225" cy="307777"/>
            <a:chOff x="536919" y="4223182"/>
            <a:chExt cx="2783225" cy="307777"/>
          </a:xfrm>
        </p:grpSpPr>
        <p:sp>
          <p:nvSpPr>
            <p:cNvPr id="77" name="TextBox 76">
              <a:extLst>
                <a:ext uri="{FF2B5EF4-FFF2-40B4-BE49-F238E27FC236}">
                  <a16:creationId xmlns:a16="http://schemas.microsoft.com/office/drawing/2014/main" id="{2C8B14B0-E30E-4CF7-A7A7-E5B75802E26A}"/>
                </a:ext>
              </a:extLst>
            </p:cNvPr>
            <p:cNvSpPr txBox="1"/>
            <p:nvPr/>
          </p:nvSpPr>
          <p:spPr>
            <a:xfrm>
              <a:off x="536919" y="4223182"/>
              <a:ext cx="905875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1400" b="1"/>
                <a:t>향후 </a:t>
              </a:r>
              <a:r>
                <a:rPr lang="ko-KR" altLang="en-US" sz="1400" b="1">
                  <a:solidFill>
                    <a:schemeClr val="bg1">
                      <a:lumMod val="75000"/>
                    </a:schemeClr>
                  </a:solidFill>
                </a:rPr>
                <a:t>ㅣ</a:t>
              </a:r>
            </a:p>
          </p:txBody>
        </p:sp>
        <p:sp>
          <p:nvSpPr>
            <p:cNvPr id="78" name="TextBox 77">
              <a:extLst>
                <a:ext uri="{FF2B5EF4-FFF2-40B4-BE49-F238E27FC236}">
                  <a16:creationId xmlns:a16="http://schemas.microsoft.com/office/drawing/2014/main" id="{7A750E79-6577-482D-9CF9-C671BF8159FB}"/>
                </a:ext>
              </a:extLst>
            </p:cNvPr>
            <p:cNvSpPr txBox="1"/>
            <p:nvPr/>
          </p:nvSpPr>
          <p:spPr>
            <a:xfrm>
              <a:off x="1168292" y="4223182"/>
              <a:ext cx="2151852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1400" b="1"/>
                <a:t>단계적 확대</a:t>
              </a:r>
            </a:p>
          </p:txBody>
        </p:sp>
      </p:grpSp>
      <p:sp>
        <p:nvSpPr>
          <p:cNvPr id="86" name="TextBox 85">
            <a:extLst>
              <a:ext uri="{FF2B5EF4-FFF2-40B4-BE49-F238E27FC236}">
                <a16:creationId xmlns:a16="http://schemas.microsoft.com/office/drawing/2014/main" id="{C95049D1-FC54-4668-A3DA-3E5819ABBF8A}"/>
              </a:ext>
            </a:extLst>
          </p:cNvPr>
          <p:cNvSpPr txBox="1"/>
          <p:nvPr/>
        </p:nvSpPr>
        <p:spPr>
          <a:xfrm>
            <a:off x="360341" y="4710123"/>
            <a:ext cx="2959800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300" spc="-40">
                <a:latin typeface="+mn-ea"/>
              </a:rPr>
              <a:t>대표 </a:t>
            </a:r>
            <a:r>
              <a:rPr lang="en-US" altLang="ko-KR" sz="1300" spc="-40">
                <a:latin typeface="+mn-ea"/>
              </a:rPr>
              <a:t>3~5</a:t>
            </a:r>
            <a:r>
              <a:rPr lang="ko-KR" altLang="en-US" sz="1300" spc="-40">
                <a:latin typeface="+mn-ea"/>
              </a:rPr>
              <a:t>개 </a:t>
            </a:r>
            <a:r>
              <a:rPr lang="ko-KR" altLang="en-US" sz="1300" spc="-40"/>
              <a:t>부서의 업무 데이터 정비</a:t>
            </a:r>
            <a:endParaRPr lang="ko-KR" altLang="en-US" sz="1300" spc="-40">
              <a:solidFill>
                <a:schemeClr val="bg1">
                  <a:lumMod val="75000"/>
                </a:schemeClr>
              </a:solidFill>
            </a:endParaRP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7E794966-039E-4F50-8E07-D120EC9CC40D}"/>
              </a:ext>
            </a:extLst>
          </p:cNvPr>
          <p:cNvSpPr txBox="1"/>
          <p:nvPr/>
        </p:nvSpPr>
        <p:spPr>
          <a:xfrm>
            <a:off x="360341" y="5142038"/>
            <a:ext cx="2959800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300" spc="-40"/>
              <a:t>명확한 업무부터 핵심 기능 검증</a:t>
            </a:r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A4E941C6-F195-4AD3-A77C-CF50ED01D45B}"/>
              </a:ext>
            </a:extLst>
          </p:cNvPr>
          <p:cNvSpPr txBox="1"/>
          <p:nvPr/>
        </p:nvSpPr>
        <p:spPr>
          <a:xfrm>
            <a:off x="360340" y="5588351"/>
            <a:ext cx="3177515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300" spc="-40"/>
              <a:t>검색 결과의 정확성과 화면 사용성 개선</a:t>
            </a:r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773E6AF5-A624-43C8-947D-5EE5E92C333B}"/>
              </a:ext>
            </a:extLst>
          </p:cNvPr>
          <p:cNvSpPr txBox="1"/>
          <p:nvPr/>
        </p:nvSpPr>
        <p:spPr>
          <a:xfrm>
            <a:off x="3332140" y="4710123"/>
            <a:ext cx="3631368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300" spc="-60"/>
              <a:t>과제제안자와 실제 담당자 대상 소규모 시범 운영</a:t>
            </a:r>
            <a:endParaRPr lang="ko-KR" altLang="en-US" sz="1300" spc="-60">
              <a:solidFill>
                <a:schemeClr val="bg1">
                  <a:lumMod val="75000"/>
                </a:schemeClr>
              </a:solidFill>
            </a:endParaRP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B3722681-AF6A-4617-8FFF-3A4DA9F3990E}"/>
              </a:ext>
            </a:extLst>
          </p:cNvPr>
          <p:cNvSpPr txBox="1"/>
          <p:nvPr/>
        </p:nvSpPr>
        <p:spPr>
          <a:xfrm>
            <a:off x="3332141" y="5142038"/>
            <a:ext cx="3449660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300" spc="-40"/>
              <a:t>시범 대상 업무의 문서 및 용어 기준 정리</a:t>
            </a: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3B9F7B80-E34E-4956-8D94-CD2B38F66EBB}"/>
              </a:ext>
            </a:extLst>
          </p:cNvPr>
          <p:cNvSpPr txBox="1"/>
          <p:nvPr/>
        </p:nvSpPr>
        <p:spPr>
          <a:xfrm>
            <a:off x="3332140" y="5588351"/>
            <a:ext cx="3177515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300" spc="-40"/>
              <a:t>사용자 의견 반영해 안내 방식 보완</a:t>
            </a:r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81FDD0D6-52C0-488E-A014-75F411499CFF}"/>
              </a:ext>
            </a:extLst>
          </p:cNvPr>
          <p:cNvSpPr txBox="1"/>
          <p:nvPr/>
        </p:nvSpPr>
        <p:spPr>
          <a:xfrm>
            <a:off x="6868887" y="4710123"/>
            <a:ext cx="2670365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300" spc="-40"/>
              <a:t>검증된 업무 중심 적용 범위 확대</a:t>
            </a:r>
            <a:endParaRPr lang="ko-KR" altLang="en-US" sz="1300" spc="-40">
              <a:solidFill>
                <a:schemeClr val="bg1">
                  <a:lumMod val="75000"/>
                </a:schemeClr>
              </a:solidFill>
            </a:endParaRPr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B16B1D5F-06A3-4A12-9C30-F1563EA41284}"/>
              </a:ext>
            </a:extLst>
          </p:cNvPr>
          <p:cNvSpPr txBox="1"/>
          <p:nvPr/>
        </p:nvSpPr>
        <p:spPr>
          <a:xfrm>
            <a:off x="6868888" y="5142038"/>
            <a:ext cx="2959800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300" spc="-40"/>
              <a:t>데이터 관리 및 최신화 체계 검토</a:t>
            </a:r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74780FFA-EC75-4D49-B7B4-9D6ABB2B0B10}"/>
              </a:ext>
            </a:extLst>
          </p:cNvPr>
          <p:cNvSpPr txBox="1"/>
          <p:nvPr/>
        </p:nvSpPr>
        <p:spPr>
          <a:xfrm>
            <a:off x="6868887" y="5588351"/>
            <a:ext cx="3177515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300" spc="-40"/>
              <a:t>사규 앱</a:t>
            </a:r>
            <a:r>
              <a:rPr lang="en-US" altLang="ko-KR" sz="1300" spc="-40"/>
              <a:t>(</a:t>
            </a:r>
            <a:r>
              <a:rPr lang="ko-KR" altLang="en-US" sz="1300" spc="-40"/>
              <a:t>사내 시스템</a:t>
            </a:r>
            <a:r>
              <a:rPr lang="en-US" altLang="ko-KR" sz="1300" spc="-40"/>
              <a:t>)</a:t>
            </a:r>
            <a:r>
              <a:rPr lang="ko-KR" altLang="en-US" sz="1300" spc="-40"/>
              <a:t>과 연계 가능성 검토</a:t>
            </a: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049760FB-8D8D-449E-8EE8-5BBAD346599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38291" y="1244475"/>
            <a:ext cx="3497241" cy="23069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46340026"/>
      </p:ext>
    </p:extLst>
  </p:cSld>
  <p:clrMapOvr>
    <a:masterClrMapping/>
  </p:clrMapOvr>
</p:sld>
</file>

<file path=ppt/theme/theme1.xml><?xml version="1.0" encoding="utf-8"?>
<a:theme xmlns:a="http://schemas.openxmlformats.org/drawingml/2006/main" name="Default Theme">
  <a:themeElements>
    <a:clrScheme name="Office 테마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테마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테마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Default Theme" id="{1C406C30-685F-4132-9A26-55964B5B5B01}" vid="{E518DA7B-1320-4EFF-98A5-E9BC59A80662}"/>
    </a:ext>
  </a:extLst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288</TotalTime>
  <Words>657</Words>
  <Application>Microsoft Office PowerPoint</Application>
  <DocSecurity>0</DocSecurity>
  <PresentationFormat>A4 용지(210x297mm)</PresentationFormat>
  <Paragraphs>77</Paragraphs>
  <Slides>3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6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3</vt:i4>
      </vt:variant>
    </vt:vector>
  </HeadingPairs>
  <TitlesOfParts>
    <vt:vector size="10" baseType="lpstr">
      <vt:lpstr>HY견고딕</vt:lpstr>
      <vt:lpstr>맑은 고딕</vt:lpstr>
      <vt:lpstr>Arial</vt:lpstr>
      <vt:lpstr>Calibri</vt:lpstr>
      <vt:lpstr>Calibri Light</vt:lpstr>
      <vt:lpstr>Wingdings</vt:lpstr>
      <vt:lpstr>Default Theme</vt:lpstr>
      <vt:lpstr>PowerPoint 프레젠테이션</vt:lpstr>
      <vt:lpstr>PowerPoint 프레젠테이션</vt:lpstr>
      <vt:lpstr>PowerPoint 프레젠테이션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Administrator</cp:lastModifiedBy>
  <cp:revision>75</cp:revision>
  <dcterms:created xsi:type="dcterms:W3CDTF">2026-09-04T08:20:33Z</dcterms:created>
  <dcterms:modified xsi:type="dcterms:W3CDTF">2026-09-06T03:14:34Z</dcterms:modified>
</cp:coreProperties>
</file>