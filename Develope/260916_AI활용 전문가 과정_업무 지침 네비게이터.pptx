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68" r:id="rId2"/>
    <p:sldId id="256" r:id="rId3"/>
    <p:sldId id="263" r:id="rId4"/>
    <p:sldId id="269" r:id="rId5"/>
    <p:sldId id="271" r:id="rId6"/>
    <p:sldId id="270" r:id="rId7"/>
    <p:sldId id="265" r:id="rId8"/>
    <p:sldId id="267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FF"/>
    <a:srgbClr val="F2F2F2"/>
    <a:srgbClr val="C56A20"/>
    <a:srgbClr val="238B72"/>
    <a:srgbClr val="0F6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66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10" Type="http://schemas.openxmlformats.org/officeDocument/2006/relationships/image" Target="../media/image25.svg"/><Relationship Id="rId4" Type="http://schemas.openxmlformats.org/officeDocument/2006/relationships/image" Target="../media/image19.sv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hyperlink" Target="web-service-demo.mp4" TargetMode="External"/><Relationship Id="rId4" Type="http://schemas.openxmlformats.org/officeDocument/2006/relationships/image" Target="../media/image3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21D668-1B6A-40A4-8057-6E6E00D0C9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8588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8D6B287E-74A9-4B57-BCE2-94C65EC102A5}"/>
              </a:ext>
            </a:extLst>
          </p:cNvPr>
          <p:cNvSpPr>
            <a:spLocks noChangeArrowheads="1"/>
          </p:cNvSpPr>
          <p:nvPr/>
        </p:nvSpPr>
        <p:spPr bwMode="gray">
          <a:xfrm>
            <a:off x="2613803" y="3159826"/>
            <a:ext cx="4840655" cy="1699817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</p:spPr>
        <p:txBody>
          <a:bodyPr wrap="square" lIns="0" tIns="45240" rIns="0" bIns="45240">
            <a:spAutoFit/>
          </a:bodyPr>
          <a:lstStyle/>
          <a:p>
            <a:pPr marL="355688" marR="0" lvl="0" indent="-355688" algn="l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Ⅰ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검토배경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  <a:p>
            <a:pPr marL="355688" marR="0" lvl="0" indent="-355688" algn="l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Ⅱ.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 추진방향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anose="020B0503020000020004" pitchFamily="50" charset="-127"/>
              <a:cs typeface="+mn-cs"/>
            </a:endParaRPr>
          </a:p>
          <a:p>
            <a:pPr marL="355688" marR="0" lvl="0" indent="-355688" algn="l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Ⅲ. </a:t>
            </a:r>
            <a:r>
              <a:rPr lang="ko-KR" altLang="en-US" b="1">
                <a:solidFill>
                  <a:prstClr val="black"/>
                </a:solidFill>
                <a:latin typeface="맑은 고딕" pitchFamily="50" charset="-127"/>
              </a:rPr>
              <a:t>인권경영 업무 추진계획</a:t>
            </a:r>
            <a:endParaRPr lang="en-US" altLang="ko-KR" b="1">
              <a:solidFill>
                <a:prstClr val="black"/>
              </a:solidFill>
              <a:latin typeface="맑은 고딕" pitchFamily="50" charset="-127"/>
            </a:endParaRPr>
          </a:p>
          <a:p>
            <a:pPr marL="355688" marR="0" lvl="0" indent="-355688" algn="l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b="1">
                <a:solidFill>
                  <a:prstClr val="black"/>
                </a:solidFill>
                <a:latin typeface="맑은 고딕" pitchFamily="50" charset="-127"/>
                <a:ea typeface="맑은 고딕" panose="020B0503020000020004" pitchFamily="50" charset="-127"/>
              </a:rPr>
              <a:t>Ⅳ</a:t>
            </a:r>
            <a:r>
              <a:rPr lang="en-US" altLang="ko-KR" b="1">
                <a:solidFill>
                  <a:prstClr val="black"/>
                </a:solidFill>
                <a:latin typeface="맑은 고딕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b="1">
                <a:solidFill>
                  <a:prstClr val="black"/>
                </a:solidFill>
                <a:latin typeface="맑은 고딕" pitchFamily="50" charset="-127"/>
                <a:ea typeface="맑은 고딕" panose="020B0503020000020004" pitchFamily="50" charset="-127"/>
              </a:rPr>
              <a:t>종 합</a:t>
            </a:r>
            <a:endParaRPr lang="ko-KR" altLang="en-US" b="1" dirty="0">
              <a:solidFill>
                <a:prstClr val="black"/>
              </a:solidFill>
              <a:latin typeface="맑은 고딕" pitchFamily="50" charset="-127"/>
            </a:endParaRPr>
          </a:p>
        </p:txBody>
      </p:sp>
      <p:sp>
        <p:nvSpPr>
          <p:cNvPr id="10" name="Line 15">
            <a:extLst>
              <a:ext uri="{FF2B5EF4-FFF2-40B4-BE49-F238E27FC236}">
                <a16:creationId xmlns:a16="http://schemas.microsoft.com/office/drawing/2014/main" id="{4264FDC7-919B-4B1B-B64E-86B0474561CD}"/>
              </a:ext>
            </a:extLst>
          </p:cNvPr>
          <p:cNvSpPr>
            <a:spLocks noChangeShapeType="1"/>
          </p:cNvSpPr>
          <p:nvPr/>
        </p:nvSpPr>
        <p:spPr bwMode="gray">
          <a:xfrm>
            <a:off x="2502254" y="3056909"/>
            <a:ext cx="4812204" cy="0"/>
          </a:xfrm>
          <a:prstGeom prst="line">
            <a:avLst/>
          </a:prstGeom>
          <a:noFill/>
          <a:ln w="38100" cmpd="dbl">
            <a:solidFill>
              <a:srgbClr val="B2B2B2"/>
            </a:solidFill>
            <a:round/>
            <a:headEnd/>
            <a:tailEnd/>
          </a:ln>
        </p:spPr>
        <p:txBody>
          <a:bodyPr lIns="0" tIns="45240" rIns="0" bIns="4524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769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Line 19">
            <a:extLst>
              <a:ext uri="{FF2B5EF4-FFF2-40B4-BE49-F238E27FC236}">
                <a16:creationId xmlns:a16="http://schemas.microsoft.com/office/drawing/2014/main" id="{6848A690-5B1C-4FB4-B97D-A028FD7CDF9E}"/>
              </a:ext>
            </a:extLst>
          </p:cNvPr>
          <p:cNvSpPr>
            <a:spLocks noChangeShapeType="1"/>
          </p:cNvSpPr>
          <p:nvPr/>
        </p:nvSpPr>
        <p:spPr bwMode="gray">
          <a:xfrm>
            <a:off x="2502254" y="4967930"/>
            <a:ext cx="4812204" cy="0"/>
          </a:xfrm>
          <a:prstGeom prst="line">
            <a:avLst/>
          </a:prstGeom>
          <a:noFill/>
          <a:ln w="38100" cmpd="dbl">
            <a:solidFill>
              <a:srgbClr val="B2B2B2"/>
            </a:solidFill>
            <a:round/>
            <a:headEnd/>
            <a:tailEnd/>
          </a:ln>
        </p:spPr>
        <p:txBody>
          <a:bodyPr lIns="0" tIns="45240" rIns="0" bIns="4524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769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1628992"/>
            <a:ext cx="9908133" cy="768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algn="ctr"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40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인권경영 운영</a:t>
            </a:r>
            <a:r>
              <a:rPr lang="en-US" altLang="ko-KR" sz="40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40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안</a:t>
            </a:r>
            <a:r>
              <a:rPr lang="en-US" altLang="ko-KR" sz="40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en-US" altLang="ko-KR" sz="40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6324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8588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0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83733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34393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1826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77795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60139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66670" y="1369423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74456" y="1751767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02255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07356"/>
            <a:ext cx="3114419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34394" y="2902255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7412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화살표: 오각형 65">
            <a:extLst>
              <a:ext uri="{FF2B5EF4-FFF2-40B4-BE49-F238E27FC236}">
                <a16:creationId xmlns:a16="http://schemas.microsoft.com/office/drawing/2014/main" id="{795D8661-7EF7-466E-8604-8999B7F5D1D9}"/>
              </a:ext>
            </a:extLst>
          </p:cNvPr>
          <p:cNvSpPr/>
          <p:nvPr/>
        </p:nvSpPr>
        <p:spPr>
          <a:xfrm>
            <a:off x="6868208" y="1284805"/>
            <a:ext cx="2402470" cy="532286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화살표: 오각형 62">
            <a:extLst>
              <a:ext uri="{FF2B5EF4-FFF2-40B4-BE49-F238E27FC236}">
                <a16:creationId xmlns:a16="http://schemas.microsoft.com/office/drawing/2014/main" id="{D95BD950-2E54-4BA9-84B1-6EDD02F58D33}"/>
              </a:ext>
            </a:extLst>
          </p:cNvPr>
          <p:cNvSpPr/>
          <p:nvPr/>
        </p:nvSpPr>
        <p:spPr>
          <a:xfrm>
            <a:off x="4743912" y="1286479"/>
            <a:ext cx="2402470" cy="532286"/>
          </a:xfrm>
          <a:prstGeom prst="homePlat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2. 0000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12543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61" name="화살표: 오각형 60">
            <a:extLst>
              <a:ext uri="{FF2B5EF4-FFF2-40B4-BE49-F238E27FC236}">
                <a16:creationId xmlns:a16="http://schemas.microsoft.com/office/drawing/2014/main" id="{6A3F156D-487C-447A-9CFB-F967BDF25AD0}"/>
              </a:ext>
            </a:extLst>
          </p:cNvPr>
          <p:cNvSpPr/>
          <p:nvPr/>
        </p:nvSpPr>
        <p:spPr>
          <a:xfrm>
            <a:off x="2632081" y="1286479"/>
            <a:ext cx="2402470" cy="532286"/>
          </a:xfrm>
          <a:prstGeom prst="homePlat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화살표: 오각형 13">
            <a:extLst>
              <a:ext uri="{FF2B5EF4-FFF2-40B4-BE49-F238E27FC236}">
                <a16:creationId xmlns:a16="http://schemas.microsoft.com/office/drawing/2014/main" id="{7878CD41-4983-42B3-B5AB-6773A45A2E6E}"/>
              </a:ext>
            </a:extLst>
          </p:cNvPr>
          <p:cNvSpPr/>
          <p:nvPr/>
        </p:nvSpPr>
        <p:spPr>
          <a:xfrm>
            <a:off x="530298" y="1286479"/>
            <a:ext cx="2402470" cy="532286"/>
          </a:xfrm>
          <a:prstGeom prst="homePlat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96E0DF-4368-4548-8623-418ABF175C24}"/>
              </a:ext>
            </a:extLst>
          </p:cNvPr>
          <p:cNvSpPr txBox="1"/>
          <p:nvPr/>
        </p:nvSpPr>
        <p:spPr>
          <a:xfrm>
            <a:off x="1265505" y="1391040"/>
            <a:ext cx="13665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문제 정의</a:t>
            </a:r>
          </a:p>
        </p:txBody>
      </p:sp>
      <p:pic>
        <p:nvPicPr>
          <p:cNvPr id="17" name="그래픽 16" descr="돋보기 단색으로 채워진">
            <a:extLst>
              <a:ext uri="{FF2B5EF4-FFF2-40B4-BE49-F238E27FC236}">
                <a16:creationId xmlns:a16="http://schemas.microsoft.com/office/drawing/2014/main" id="{4F214718-0AD9-4F4F-85CD-A4D47913A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8086" y="1324022"/>
            <a:ext cx="457200" cy="457200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BDA78A4A-243C-4F1A-B041-F48CE4990FC8}"/>
              </a:ext>
            </a:extLst>
          </p:cNvPr>
          <p:cNvSpPr txBox="1"/>
          <p:nvPr/>
        </p:nvSpPr>
        <p:spPr>
          <a:xfrm>
            <a:off x="3467765" y="1391040"/>
            <a:ext cx="13665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시스템 구현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53ADC6-6851-42E1-9D2F-5BA596FC4CFF}"/>
              </a:ext>
            </a:extLst>
          </p:cNvPr>
          <p:cNvSpPr txBox="1"/>
          <p:nvPr/>
        </p:nvSpPr>
        <p:spPr>
          <a:xfrm>
            <a:off x="5506663" y="1391040"/>
            <a:ext cx="15316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solidFill>
                  <a:schemeClr val="bg1"/>
                </a:solidFill>
              </a:rPr>
              <a:t>샘플링 테스트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85FF9FE-D0AC-430C-BD6D-6040A296D765}"/>
              </a:ext>
            </a:extLst>
          </p:cNvPr>
          <p:cNvSpPr txBox="1"/>
          <p:nvPr/>
        </p:nvSpPr>
        <p:spPr>
          <a:xfrm>
            <a:off x="7633842" y="1391040"/>
            <a:ext cx="15316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solidFill>
                  <a:schemeClr val="bg1"/>
                </a:solidFill>
              </a:rPr>
              <a:t>시스템 검증</a:t>
            </a:r>
          </a:p>
        </p:txBody>
      </p:sp>
      <p:pic>
        <p:nvPicPr>
          <p:cNvPr id="25" name="그래픽 24" descr="전구 및 기어  단색으로 채워진">
            <a:extLst>
              <a:ext uri="{FF2B5EF4-FFF2-40B4-BE49-F238E27FC236}">
                <a16:creationId xmlns:a16="http://schemas.microsoft.com/office/drawing/2014/main" id="{75EC4D1F-75B0-45C0-B867-8BBD494A73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55047" y="1280306"/>
            <a:ext cx="544632" cy="544632"/>
          </a:xfrm>
          <a:prstGeom prst="rect">
            <a:avLst/>
          </a:prstGeom>
        </p:spPr>
      </p:pic>
      <p:pic>
        <p:nvPicPr>
          <p:cNvPr id="30" name="그래픽 29" descr="화살표 원 단색으로 채워진">
            <a:extLst>
              <a:ext uri="{FF2B5EF4-FFF2-40B4-BE49-F238E27FC236}">
                <a16:creationId xmlns:a16="http://schemas.microsoft.com/office/drawing/2014/main" id="{2ED9319A-6460-41B8-9D59-E140BC380E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54521" y="1259545"/>
            <a:ext cx="586154" cy="586154"/>
          </a:xfrm>
          <a:prstGeom prst="rect">
            <a:avLst/>
          </a:prstGeom>
        </p:spPr>
      </p:pic>
      <p:pic>
        <p:nvPicPr>
          <p:cNvPr id="35" name="그래픽 34" descr="시험관 단색으로 채워진">
            <a:extLst>
              <a:ext uri="{FF2B5EF4-FFF2-40B4-BE49-F238E27FC236}">
                <a16:creationId xmlns:a16="http://schemas.microsoft.com/office/drawing/2014/main" id="{0BC30984-4DD1-426B-9C31-3129972A44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99450" y="1339335"/>
            <a:ext cx="426575" cy="42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033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2. 0000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1199520"/>
            <a:ext cx="9409457" cy="180165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127756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12543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133136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176156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182184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225852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223730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 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FD0096D-0D26-4262-A2EC-2EA7856B7169}"/>
              </a:ext>
            </a:extLst>
          </p:cNvPr>
          <p:cNvSpPr/>
          <p:nvPr/>
        </p:nvSpPr>
        <p:spPr>
          <a:xfrm>
            <a:off x="578061" y="3135869"/>
            <a:ext cx="2697702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B7812F2-8EC9-43DA-BEF6-1A0799CFA06A}"/>
              </a:ext>
            </a:extLst>
          </p:cNvPr>
          <p:cNvGrpSpPr/>
          <p:nvPr/>
        </p:nvGrpSpPr>
        <p:grpSpPr>
          <a:xfrm>
            <a:off x="310399" y="3245858"/>
            <a:ext cx="194324" cy="180020"/>
            <a:chOff x="416496" y="3577457"/>
            <a:chExt cx="194324" cy="180020"/>
          </a:xfrm>
        </p:grpSpPr>
        <p:sp>
          <p:nvSpPr>
            <p:cNvPr id="50" name="모서리가 둥근 직사각형 320">
              <a:extLst>
                <a:ext uri="{FF2B5EF4-FFF2-40B4-BE49-F238E27FC236}">
                  <a16:creationId xmlns:a16="http://schemas.microsoft.com/office/drawing/2014/main" id="{62DBF601-376A-43C7-8948-B92F0634950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2" name="그림 51" descr="7.png">
              <a:extLst>
                <a:ext uri="{FF2B5EF4-FFF2-40B4-BE49-F238E27FC236}">
                  <a16:creationId xmlns:a16="http://schemas.microsoft.com/office/drawing/2014/main" id="{F9E8B9A9-99DF-4EDA-BE09-270F73C00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30A597E0-9AEF-4325-B809-E5C4DA3F201C}"/>
              </a:ext>
            </a:extLst>
          </p:cNvPr>
          <p:cNvCxnSpPr>
            <a:cxnSpLocks/>
          </p:cNvCxnSpPr>
          <p:nvPr/>
        </p:nvCxnSpPr>
        <p:spPr>
          <a:xfrm>
            <a:off x="2222364" y="1721368"/>
            <a:ext cx="72046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CA5CA0A6-293A-429C-8F15-BB6FD73C69C7}"/>
              </a:ext>
            </a:extLst>
          </p:cNvPr>
          <p:cNvCxnSpPr>
            <a:cxnSpLocks/>
          </p:cNvCxnSpPr>
          <p:nvPr/>
        </p:nvCxnSpPr>
        <p:spPr>
          <a:xfrm>
            <a:off x="2222364" y="2235503"/>
            <a:ext cx="72046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998543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업무 특성과 협업 빈도를 고려해 대표 부서 선정 </a:t>
            </a:r>
            <a:r>
              <a:rPr lang="en-US" altLang="ko-KR" sz="1300">
                <a:latin typeface="+mn-ea"/>
              </a:rPr>
              <a:t>(10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20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 부서로 확장</a:t>
            </a:r>
            <a:r>
              <a:rPr lang="en-US" altLang="ko-KR" sz="1300">
                <a:latin typeface="+mn-ea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</a:t>
            </a: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웹서비스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검색 결과 검증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606464"/>
            <a:ext cx="8085296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활용 교육과 코칭을 바탕으로</a:t>
            </a:r>
            <a:r>
              <a:rPr lang="en-US" altLang="ko-KR" sz="1400" b="1">
                <a:latin typeface="+mn-ea"/>
              </a:rPr>
              <a:t>, </a:t>
            </a:r>
            <a:r>
              <a:rPr lang="ko-KR" altLang="en-US" sz="1400" b="1">
                <a:latin typeface="+mn-ea"/>
              </a:rPr>
              <a:t>문제를 해결하며 구현한 웹서비스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303610"/>
            <a:ext cx="49866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PRD.md </a:t>
            </a:r>
            <a:r>
              <a:rPr lang="ko-KR" altLang="en-US" sz="1300" spc="-40">
                <a:latin typeface="+mn-ea"/>
              </a:rPr>
              <a:t>초안 작성 후 데이터 보완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 기능 정의 업데이트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그래프 등 교육내용을 반영해 요구사항과 구현 방향 지속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RAG, </a:t>
            </a:r>
            <a:r>
              <a:rPr lang="ko-KR" altLang="en-US" sz="1300" spc="-40">
                <a:latin typeface="+mn-ea"/>
              </a:rPr>
              <a:t>메타데이터 등 </a:t>
            </a:r>
            <a:r>
              <a:rPr lang="ko-KR" altLang="en-US" sz="1300" spc="-40"/>
              <a:t>개념을 실제 구현과정과 비교하며 이해</a:t>
            </a:r>
            <a:endParaRPr lang="ko-KR" altLang="en-US" sz="1300" spc="-40">
              <a:latin typeface="+mn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ko-KR" altLang="en-US" sz="1300">
                <a:latin typeface="+mn-ea"/>
              </a:rPr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사용자가 실제로 질문할 만한 대표 질의 선정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질의에 적합한 절차와 관련 지침이 제공되는지 확인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결과 확인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 과정을 반복하며 서비스 정확도 개선 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PRD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작성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lang="ko-KR" altLang="en-US" sz="1300">
                <a:latin typeface="+mn-ea"/>
              </a:rPr>
              <a:t>기능 구현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변경 이력 관리와 오류 해결을 반복하며 실제 웹서비스 개발 과정을 경험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854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1" y="5126894"/>
            <a:ext cx="48611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</a:t>
            </a:r>
            <a:r>
              <a:rPr lang="ko-KR" altLang="en-US" sz="1300" spc="-40">
                <a:latin typeface="+mn-ea"/>
              </a:rPr>
              <a:t>에서 가상환경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환경변수</a:t>
            </a:r>
            <a:r>
              <a:rPr lang="en-US" altLang="ko-KR" sz="1300" spc="-40">
                <a:latin typeface="+mn-ea"/>
              </a:rPr>
              <a:t>(.env) </a:t>
            </a:r>
            <a:r>
              <a:rPr lang="ko-KR" altLang="en-US" sz="1300" spc="-40">
                <a:latin typeface="+mn-ea"/>
              </a:rPr>
              <a:t>반영해 개발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라이브러리와 </a:t>
            </a:r>
            <a:r>
              <a:rPr lang="en-US" altLang="ko-KR" sz="1300" spc="-40">
                <a:latin typeface="+mn-ea"/>
              </a:rPr>
              <a:t>AI </a:t>
            </a:r>
            <a:r>
              <a:rPr lang="ko-KR" altLang="en-US" sz="1300" spc="-40">
                <a:latin typeface="+mn-ea"/>
              </a:rPr>
              <a:t>도구를 활용해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메일링 등 기능 확장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지침을 검색 로직과 연결하여 절차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부서 추천 기능 구현</a:t>
            </a:r>
            <a:endParaRPr lang="en-US" altLang="ko-KR" sz="1300" spc="-4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133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133309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5991525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597920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41194"/>
            <a:ext cx="472820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Git</a:t>
            </a:r>
            <a:r>
              <a:rPr lang="ko-KR" altLang="en-US" sz="1300" spc="-40">
                <a:latin typeface="+mn-ea"/>
              </a:rPr>
              <a:t>과 </a:t>
            </a:r>
            <a:r>
              <a:rPr lang="en-US" altLang="ko-KR" sz="1300" spc="-40">
                <a:latin typeface="+mn-ea"/>
              </a:rPr>
              <a:t>GitHub</a:t>
            </a:r>
            <a:r>
              <a:rPr lang="ko-KR" altLang="en-US" sz="1300" spc="-40">
                <a:latin typeface="+mn-ea"/>
              </a:rPr>
              <a:t>를 활용해 변경사항과 개발 이력 관리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구현 오류와 </a:t>
            </a:r>
            <a:r>
              <a:rPr lang="en-US" altLang="ko-KR" sz="1300" spc="-40">
                <a:latin typeface="+mn-ea"/>
              </a:rPr>
              <a:t>Git </a:t>
            </a:r>
            <a:r>
              <a:rPr lang="ko-KR" altLang="en-US" sz="1300" spc="-40">
                <a:latin typeface="+mn-ea"/>
              </a:rPr>
              <a:t>사용의 어려움을 해결하며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웹개발 방식과 개념 학습</a:t>
            </a:r>
            <a:endParaRPr lang="en-US" altLang="ko-KR" sz="1300" spc="-4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55271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75540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업무 특성과 협업 빈도를 고려해 대표 부서 선정 </a:t>
            </a:r>
            <a:r>
              <a:rPr lang="en-US" altLang="ko-KR" sz="1300">
                <a:latin typeface="+mn-ea"/>
              </a:rPr>
              <a:t>(10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20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 부서로 확장</a:t>
            </a:r>
            <a:r>
              <a:rPr lang="en-US" altLang="ko-KR" sz="1300">
                <a:latin typeface="+mn-ea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</a:t>
            </a: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웹서비스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검색 결과 검증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606464"/>
            <a:ext cx="8085296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활용 교육과 코칭을 바탕으로</a:t>
            </a:r>
            <a:r>
              <a:rPr lang="en-US" altLang="ko-KR" sz="1400" b="1">
                <a:latin typeface="+mn-ea"/>
              </a:rPr>
              <a:t>, </a:t>
            </a:r>
            <a:r>
              <a:rPr lang="ko-KR" altLang="en-US" sz="1400" b="1">
                <a:latin typeface="+mn-ea"/>
              </a:rPr>
              <a:t>문제를 해결하며 구현한 웹서비스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303610"/>
            <a:ext cx="49866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PRD.md </a:t>
            </a:r>
            <a:r>
              <a:rPr lang="ko-KR" altLang="en-US" sz="1300" spc="-40">
                <a:latin typeface="+mn-ea"/>
              </a:rPr>
              <a:t>초안 작성 후 데이터 보완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 기능 정의 업데이트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그래프 등 교육내용을 반영해 요구사항과 구현 방향 지속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RAG, </a:t>
            </a:r>
            <a:r>
              <a:rPr lang="ko-KR" altLang="en-US" sz="1300" spc="-40">
                <a:latin typeface="+mn-ea"/>
              </a:rPr>
              <a:t>메타데이터 등 </a:t>
            </a:r>
            <a:r>
              <a:rPr lang="ko-KR" altLang="en-US" sz="1300" spc="-40"/>
              <a:t>개념을 실제 구현과정과 비교하며 이해</a:t>
            </a:r>
            <a:endParaRPr lang="ko-KR" altLang="en-US" sz="1300" spc="-4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ko-KR" altLang="en-US" sz="1300">
                <a:latin typeface="+mn-ea"/>
              </a:rPr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사용자가 실제로 질문할 만한 대표 질의 선정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질의에 적합한 절차와 관련 지침이 제공되는지 확인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결과 확인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 과정을 반복하며 서비스 정확도 개선 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PRD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작성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lang="ko-KR" altLang="en-US" sz="1300">
                <a:latin typeface="+mn-ea"/>
              </a:rPr>
              <a:t>기능 구현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변경 이력 관리와 오류 해결을 반복하며 실제 웹서비스 개발 과정을 경험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854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1" y="5126894"/>
            <a:ext cx="48611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</a:t>
            </a:r>
            <a:r>
              <a:rPr lang="ko-KR" altLang="en-US" sz="1300" spc="-40">
                <a:latin typeface="+mn-ea"/>
              </a:rPr>
              <a:t>에서 가상환경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환경변수</a:t>
            </a:r>
            <a:r>
              <a:rPr lang="en-US" altLang="ko-KR" sz="1300" spc="-40">
                <a:latin typeface="+mn-ea"/>
              </a:rPr>
              <a:t>(.env) </a:t>
            </a:r>
            <a:r>
              <a:rPr lang="ko-KR" altLang="en-US" sz="1300" spc="-40">
                <a:latin typeface="+mn-ea"/>
              </a:rPr>
              <a:t>반영해 개발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라이브러리와 </a:t>
            </a:r>
            <a:r>
              <a:rPr lang="en-US" altLang="ko-KR" sz="1300" spc="-40">
                <a:latin typeface="+mn-ea"/>
              </a:rPr>
              <a:t>AI </a:t>
            </a:r>
            <a:r>
              <a:rPr lang="ko-KR" altLang="en-US" sz="1300" spc="-40">
                <a:latin typeface="+mn-ea"/>
              </a:rPr>
              <a:t>도구를 활용해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메일링 등 기능 확장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지침을 검색 로직과 연결하여 절차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부서 추천 기능 구현</a:t>
            </a:r>
            <a:endParaRPr lang="en-US" altLang="ko-KR" sz="1300" spc="-4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133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133309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5991525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597920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41194"/>
            <a:ext cx="472820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Git</a:t>
            </a:r>
            <a:r>
              <a:rPr lang="ko-KR" altLang="en-US" sz="1300" spc="-40">
                <a:latin typeface="+mn-ea"/>
              </a:rPr>
              <a:t>과 </a:t>
            </a:r>
            <a:r>
              <a:rPr lang="en-US" altLang="ko-KR" sz="1300" spc="-40">
                <a:latin typeface="+mn-ea"/>
              </a:rPr>
              <a:t>GitHub</a:t>
            </a:r>
            <a:r>
              <a:rPr lang="ko-KR" altLang="en-US" sz="1300" spc="-40">
                <a:latin typeface="+mn-ea"/>
              </a:rPr>
              <a:t>를 활용해 변경사항과 개발 이력 관리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구현 오류와 </a:t>
            </a:r>
            <a:r>
              <a:rPr lang="en-US" altLang="ko-KR" sz="1300" spc="-40">
                <a:latin typeface="+mn-ea"/>
              </a:rPr>
              <a:t>Git </a:t>
            </a:r>
            <a:r>
              <a:rPr lang="ko-KR" altLang="en-US" sz="1300" spc="-40">
                <a:latin typeface="+mn-ea"/>
              </a:rPr>
              <a:t>사용의 어려움을 해결하며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웹개발 방식과 개념 학습</a:t>
            </a:r>
            <a:endParaRPr lang="en-US" altLang="ko-KR" sz="1300" spc="-4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55271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6479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7478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3955701" y="1337595"/>
            <a:ext cx="1657198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1.</a:t>
            </a:r>
            <a:r>
              <a:rPr lang="ko-KR" altLang="en-US" sz="1500" b="1">
                <a:latin typeface="+mn-ea"/>
              </a:rPr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3955701" y="2143138"/>
            <a:ext cx="1657198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2.</a:t>
            </a:r>
            <a:r>
              <a:rPr lang="ko-KR" altLang="en-US" sz="1500" b="1">
                <a:latin typeface="+mn-ea"/>
              </a:rPr>
              <a:t>절차〮부서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3955702" y="3003733"/>
            <a:ext cx="1657197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663141" y="1275375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663141" y="2080918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663141" y="2822250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내용을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602989" y="1634432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602989" y="2461749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1012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과제제안자와 실제 담당자 대상 소규모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pic>
        <p:nvPicPr>
          <p:cNvPr id="11" name="그림 10">
            <a:hlinkClick r:id="rId5" action="ppaction://hlinkfile"/>
            <a:extLst>
              <a:ext uri="{FF2B5EF4-FFF2-40B4-BE49-F238E27FC236}">
                <a16:creationId xmlns:a16="http://schemas.microsoft.com/office/drawing/2014/main" id="{1D50F15C-C904-4B41-B2EB-C4E409B406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531" y="1258200"/>
            <a:ext cx="3469595" cy="223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1024</Words>
  <Application>Microsoft Office PowerPoint</Application>
  <DocSecurity>0</DocSecurity>
  <PresentationFormat>A4 용지(210x297mm)</PresentationFormat>
  <Paragraphs>132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Wingdings</vt:lpstr>
      <vt:lpstr>HY견고딕</vt:lpstr>
      <vt:lpstr>맑은 고딕</vt:lpstr>
      <vt:lpstr>Calibri Light</vt:lpstr>
      <vt:lpstr>Arial</vt:lpstr>
      <vt:lpstr>Calibri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112</cp:revision>
  <dcterms:created xsi:type="dcterms:W3CDTF">2026-09-04T08:20:33Z</dcterms:created>
  <dcterms:modified xsi:type="dcterms:W3CDTF">2026-09-08T11:24:21Z</dcterms:modified>
</cp:coreProperties>
</file>